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0"/>
    <c:plotArea>
      <c:layout/>
      <c:barChart>
        <c:barDir val="col"/>
        <c:grouping val="clustered"/>
        <c:varyColors val="1"/>
        <c:ser>
          <c:idx val="0"/>
          <c:order val="0"/>
          <c:tx>
            <c:strRef>
              <c:f>Sheet1!$B$1</c:f>
              <c:strCache>
                <c:ptCount val="1"/>
                <c:pt idx="0">
                  <c:v>North India</c:v>
                </c:pt>
              </c:strCache>
            </c:strRef>
          </c:tx>
          <c:spPr>
            <a:solidFill>
              <a:srgbClr val="00629B"/>
            </a:solidFill>
          </c:spPr>
          <c:invertIfNegative val="1"/>
          <c:dLbls>
            <c:numFmt formatCode="0.00" sourceLinked="0"/>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h</c:v>
                </c:pt>
                <c:pt idx="1">
                  <c:v>3 h</c:v>
                </c:pt>
                <c:pt idx="2">
                  <c:v>6 h</c:v>
                </c:pt>
                <c:pt idx="3">
                  <c:v>12 h</c:v>
                </c:pt>
                <c:pt idx="4">
                  <c:v>24 h</c:v>
                </c:pt>
              </c:strCache>
            </c:strRef>
          </c:cat>
          <c:val>
            <c:numRef>
              <c:f>Sheet1!$B$2:$B$6</c:f>
              <c:numCache>
                <c:formatCode>General</c:formatCode>
                <c:ptCount val="5"/>
                <c:pt idx="0">
                  <c:v>3.6999999999999998E-2</c:v>
                </c:pt>
                <c:pt idx="1">
                  <c:v>0.12</c:v>
                </c:pt>
                <c:pt idx="2">
                  <c:v>0.151</c:v>
                </c:pt>
                <c:pt idx="3">
                  <c:v>0.16900000000000001</c:v>
                </c:pt>
                <c:pt idx="4">
                  <c:v>0.108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57C7-EA4A-8ADA-B170668DB682}"/>
            </c:ext>
          </c:extLst>
        </c:ser>
        <c:ser>
          <c:idx val="1"/>
          <c:order val="1"/>
          <c:tx>
            <c:strRef>
              <c:f>Sheet1!$C$1</c:f>
              <c:strCache>
                <c:ptCount val="1"/>
                <c:pt idx="0">
                  <c:v>Singapore</c:v>
                </c:pt>
              </c:strCache>
            </c:strRef>
          </c:tx>
          <c:spPr>
            <a:solidFill>
              <a:srgbClr val="F59E0B"/>
            </a:solidFill>
          </c:spPr>
          <c:invertIfNegative val="1"/>
          <c:dLbls>
            <c:numFmt formatCode="0.00" sourceLinked="0"/>
            <c:spPr>
              <a:noFill/>
              <a:ln>
                <a:noFill/>
              </a:ln>
              <a:effectLst/>
            </c:spPr>
            <c:txPr>
              <a:bodyPr/>
              <a:lstStyle/>
              <a:p>
                <a:pPr>
                  <a:defRPr sz="9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 h</c:v>
                </c:pt>
                <c:pt idx="1">
                  <c:v>3 h</c:v>
                </c:pt>
                <c:pt idx="2">
                  <c:v>6 h</c:v>
                </c:pt>
                <c:pt idx="3">
                  <c:v>12 h</c:v>
                </c:pt>
                <c:pt idx="4">
                  <c:v>24 h</c:v>
                </c:pt>
              </c:strCache>
            </c:strRef>
          </c:cat>
          <c:val>
            <c:numRef>
              <c:f>Sheet1!$C$2:$C$6</c:f>
              <c:numCache>
                <c:formatCode>General</c:formatCode>
                <c:ptCount val="5"/>
                <c:pt idx="0">
                  <c:v>2.1000000000000001E-2</c:v>
                </c:pt>
                <c:pt idx="1">
                  <c:v>0.10100000000000001</c:v>
                </c:pt>
                <c:pt idx="2">
                  <c:v>0.13</c:v>
                </c:pt>
                <c:pt idx="3">
                  <c:v>0.14299999999999999</c:v>
                </c:pt>
                <c:pt idx="4">
                  <c:v>0.122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57C7-EA4A-8ADA-B170668DB682}"/>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title>
          <c:tx>
            <c:rich>
              <a:bodyPr/>
              <a:lstStyle/>
              <a:p>
                <a:r>
                  <a:rPr lang="en-IN" sz="1000" b="0"/>
                  <a:t>Forecast horizon</a:t>
                </a:r>
              </a:p>
            </c:rich>
          </c:tx>
          <c:overlay val="0"/>
        </c:title>
        <c:numFmt formatCode="General" sourceLinked="0"/>
        <c:majorTickMark val="out"/>
        <c:minorTickMark val="none"/>
        <c:tickLblPos val="nextTo"/>
        <c:txPr>
          <a:bodyPr/>
          <a:lstStyle/>
          <a:p>
            <a:pPr>
              <a:defRPr sz="1050"/>
            </a:pPr>
            <a:endParaRPr lang="en-US"/>
          </a:p>
        </c:txPr>
        <c:crossAx val="-2113994440"/>
        <c:crosses val="autoZero"/>
        <c:auto val="1"/>
        <c:lblAlgn val="ctr"/>
        <c:lblOffset val="100"/>
        <c:noMultiLvlLbl val="0"/>
      </c:catAx>
      <c:valAx>
        <c:axId val="-2113994440"/>
        <c:scaling>
          <c:orientation val="minMax"/>
        </c:scaling>
        <c:delete val="0"/>
        <c:axPos val="l"/>
        <c:majorGridlines>
          <c:spPr>
            <a:ln>
              <a:solidFill>
                <a:srgbClr val="E5E7EB"/>
              </a:solidFill>
            </a:ln>
          </c:spPr>
        </c:majorGridlines>
        <c:title>
          <c:tx>
            <c:rich>
              <a:bodyPr/>
              <a:lstStyle/>
              <a:p>
                <a:r>
                  <a:rPr lang="en-IN" sz="1000" b="0"/>
                  <a:t>RMSE skill vs persistence</a:t>
                </a:r>
              </a:p>
            </c:rich>
          </c:tx>
          <c:overlay val="0"/>
        </c:title>
        <c:numFmt formatCode="General" sourceLinked="1"/>
        <c:majorTickMark val="out"/>
        <c:minorTickMark val="none"/>
        <c:tickLblPos val="nextTo"/>
        <c:txPr>
          <a:bodyPr/>
          <a:lstStyle/>
          <a:p>
            <a:pPr>
              <a:defRPr sz="1000"/>
            </a:pPr>
            <a:endParaRPr lang="en-US"/>
          </a:p>
        </c:txPr>
        <c:crossAx val="-2068027336"/>
        <c:crosses val="autoZero"/>
        <c:crossBetween val="between"/>
      </c:valAx>
    </c:plotArea>
    <c:legend>
      <c:legendPos val="t"/>
      <c:overlay val="0"/>
      <c:txPr>
        <a:bodyPr/>
        <a:lstStyle/>
        <a:p>
          <a:pPr>
            <a:defRPr sz="1100"/>
          </a:pPr>
          <a:endParaRPr lang="en-US"/>
        </a:p>
      </c:txPr>
    </c:legend>
    <c:plotVisOnly val="1"/>
    <c:dispBlanksAs val="gap"/>
    <c:showDLblsOverMax val="1"/>
  </c:chart>
  <c:txPr>
    <a:bodyPr/>
    <a:lstStyle/>
    <a:p>
      <a:pPr>
        <a:defRPr sz="105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7877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AeroPulse turns air quality from a number into a story: where the smoke comes from, where the wind takes it, and who it reaches. It runs on Google Cloud for three APAC regions.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One-paragraph summary in IEEE form. The panel on the right lists what is built, with counts taken from the repository configuration.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regions, three smoke regimes, one pattern. In North India, post-harvest stubble fires in Punjab and Haryana; in New South Wales, bushfires on the urban fringe; in Singapore, haze from regional vegetation and peat fires. In each case the fire is far from the people who breathe the smoke, and the wind decides who that is. Fine particulate matter is a leading environmental health risk (WHO, reference 1).</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AQI reading describes air that has already reached a monitor. Satellites see the fire hours earlier, and weather models know where the wind is going. Nobody joins those three on one grid with one clock. AeroPulse targets the window between the fire being visible and the smoke arriving.</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frame the problem as five operator questions, each answered per cell and per cycle, under four design constraints that keep the system honest.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stages. Observe brings data in through connectors. Understand places it on the grid and detects events with rules. Predict runs the gated per-region models and the plume ensemble. Reason ranks sources and builds the incident graph. Act puts it in front of operators and citizens. The three principles underneath are what make the output trustworthy.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cycle per region, read in snake order. Top lane: the region pack configures a cycle job, connector plugins fetch data, normalize converts vendor JSON into shared contracts, and the ingest step validates, de-duplicates and places each record on an H3 resolution-8 cell. Middle lane, right to left: observations land in the analytics store, the same feature code used in training builds features, the model resolver serves a gated model or a rule marked degraded, then source likelihood and the plume engine. Bottom lane: the incident graph is written as a snapshot, which is all the API reads. The training lane at the bottom can only reach serving through a reviewed edit of model_serving.yaml.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row in this table is read from the region packs. OpenAQ, FIRMS, Open-Meteo and Earth Engine run in all three regions; NEA only in Singapore; CPCB in North India as a replay fixture. Open-Meteo air quality is CAMS model output, so it is labelled model-derived and a ground station outranks it for the same cell and hour. A source without its key shows not configured with zero records, as on the Data sources page.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region pack is a YAML folder: bounding box, timezone, hazards, sources, ground-truth sources and the official AQI standard. The code never names a place. To add a region an operator runs aeropulse-region init, fills the YAML, runs validate, and deploys a cycle job for it. Singapore and NSW band tables are marked unconfirmed until copied from the official source with two-person review, so the UI shows a dash instead of borrowing another country's scale.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not one APAC model? Each region has its own AQI scale and thresholds, its own hazards and seasons, and very different ground truth: NSW has no trained model yet. A pooled score can hide a region that fails, so the gate is evaluated per region. Models are histogram gradient boosting with quantile loss for P10, P50 and P90 of the change from current PM2.5. Splits are time-ordered with a one-day purge, plus a held-out season. The gate report is pinned by SHA-256 and the serving file is edited only by a reviewed promotion.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plume engine releases a 200-particle Lagrangian ensemble at each active fire cluster and advects it with the forecast winds. The P50 footprint is where half the ensemble agrees; P90 is the wide envelope. Footprints intersect the gazetteer to create 'reaches' edges with an ETA. Backward runs from an anomaly show where the air came from. The output is labelled predicted smoke transport, experimental. Source likelihood is a heuristic ranking with its evidence, never a percentage, until a gold set exists.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Gemini appears in exactly two places. For a citizen photo it writes a schema-constrained observation: no numbers, always labelled requires corroboration. Deterministic checks then test the report against FIRMS, wind, plume footprints, PM2.5, the aerosol index and active events. Only the seed_plume decision lets a report act, and even then it seeds a plume run; it never creates or changes a pollution event. Ask AeroPulse may only state figures returned by tools, and a grounding validator rejects anything else.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is serverless and defined in Terraform. Cloud Scheduler starts one Cloud Run job per region every 15 minutes. Each job pulls the external feeds, writes raw payloads and snapshots to Cloud Storage and history to BigQuery. The public web service is static nginx; the API is public but every /api/v1 route needs a JWT. Citizen photos land in a private bucket; the object-finalize notification goes to Pub/Sub, which pushes with an OIDC token to the private citizen analyzer. Gemini is reached through Vertex AI with a service account, so there is no API key. Secrets live in Secret Manager.</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Images are built in Google Cloud, not on a laptop. Cloud Build runs as a dedicated sa-build account: the app image includes the gcp extra; the web image is a Vite build into nginx. For the public site the web build mints a read-only, viewer-role demo token from the JWT secret in Secret Manager, so no token is written to git. Terraform then deploys Cloud Run services, jobs, Scheduler, Pub/Sub, BigQuery and buckets. Each runtime identity is scoped to its own resources.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numbers on this slide are read from the gate reports pinned in model_serving.yaml. Skill is one minus the model RMSE over the persistence RMSE: positive means the model beats 'tomorrow looks like now'. Both regions beat persistence at every horizon on the rolling-origin folds and on the held-out season. The North India hazard model is isotonic-calibrated and beats both baselines on PR-AUC. Caveats: station history came from provider archives, leave-region-out was unavailable, and NSW has no served model.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six screens are from Demo mode, which replays one recorded cycle of the real API and works with no backend. (a) North India command centre with PM2.5 cells, FIRMS clusters, wind, plume footprints and incidents. (b) The same screen for Singapore, driven only by a different region pack. (c) Forecast with the served model version and 'not degraded'. (d) The evidence graph; every edge states its provenance. (e) A citizen report: AI observation plus the corroboration table. (f) Served models and their status.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explicit about what is not done. NSW has no gated model; CPCB is replay only; forecast quantiles are not calibrated yet; source likelihood is heuristic; alerts go to a pluggable sink with no push or SMS; population exposure needs licensed data. The roadmap follows directly.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AeroPulse joins source, wind and people on one grid and one clock, labels every number with what produced it, serves a model only where it beat persistence, keeps the language model off the event path, and runs on Google Cloud for three regions. Now the live demo.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1C70C09E-BC3D-6C0C-1694-83856D47DF76}"/>
              </a:ext>
            </a:extLst>
          </p:cNvPr>
          <p:cNvSpPr txBox="1"/>
          <p:nvPr userDrawn="1">
            <p:extLst>
              <p:ext uri="{1162E1C5-73C7-4A58-AE30-91384D911F3F}">
                <p184:classification xmlns:p184="http://schemas.microsoft.com/office/powerpoint/2018/4/main" val="ftr"/>
              </p:ext>
            </p:extLst>
          </p:nvPr>
        </p:nvSpPr>
        <p:spPr>
          <a:xfrm>
            <a:off x="11315700" y="6672580"/>
            <a:ext cx="833438"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Cisco Confidential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0062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685800"/>
            <a:ext cx="10362895" cy="1371600"/>
          </a:xfrm>
          <a:prstGeom prst="rect">
            <a:avLst/>
          </a:prstGeom>
          <a:noFill/>
        </p:spPr>
        <p:txBody>
          <a:bodyPr wrap="square" lIns="36576" tIns="36576" rIns="36576" bIns="36576" anchor="ctr">
            <a:spAutoFit/>
          </a:bodyPr>
          <a:lstStyle/>
          <a:p>
            <a:pPr algn="ctr">
              <a:spcAft>
                <a:spcPts val="400"/>
              </a:spcAft>
            </a:pPr>
            <a:r>
              <a:rPr sz="3600" b="1" i="0">
                <a:solidFill>
                  <a:srgbClr val="002855"/>
                </a:solidFill>
                <a:latin typeface="Times New Roman"/>
              </a:rPr>
              <a:t>AeroPulse: Source-to-People Air-Quality Intelligence for the Asia-Pacific</a:t>
            </a:r>
          </a:p>
        </p:txBody>
      </p:sp>
      <p:sp>
        <p:nvSpPr>
          <p:cNvPr id="4" name="TextBox 3"/>
          <p:cNvSpPr txBox="1"/>
          <p:nvPr/>
        </p:nvSpPr>
        <p:spPr>
          <a:xfrm>
            <a:off x="914400" y="2057400"/>
            <a:ext cx="10362895" cy="457200"/>
          </a:xfrm>
          <a:prstGeom prst="rect">
            <a:avLst/>
          </a:prstGeom>
          <a:noFill/>
        </p:spPr>
        <p:txBody>
          <a:bodyPr wrap="square" lIns="36576" tIns="36576" rIns="36576" bIns="36576" anchor="t">
            <a:spAutoFit/>
          </a:bodyPr>
          <a:lstStyle/>
          <a:p>
            <a:pPr algn="ctr">
              <a:spcAft>
                <a:spcPts val="400"/>
              </a:spcAft>
            </a:pPr>
            <a:r>
              <a:rPr sz="1700" b="0" i="1" dirty="0">
                <a:solidFill>
                  <a:srgbClr val="1F2937"/>
                </a:solidFill>
                <a:latin typeface="Times New Roman"/>
              </a:rPr>
              <a:t>Fusing ground stations, satellite fire detections and weather forecasts to warn people before smoke arrives</a:t>
            </a:r>
          </a:p>
        </p:txBody>
      </p:sp>
      <p:sp>
        <p:nvSpPr>
          <p:cNvPr id="5" name="TextBox 4"/>
          <p:cNvSpPr txBox="1"/>
          <p:nvPr/>
        </p:nvSpPr>
        <p:spPr>
          <a:xfrm>
            <a:off x="914400" y="2697480"/>
            <a:ext cx="10362895" cy="731520"/>
          </a:xfrm>
          <a:prstGeom prst="rect">
            <a:avLst/>
          </a:prstGeom>
          <a:noFill/>
        </p:spPr>
        <p:txBody>
          <a:bodyPr wrap="square" lIns="36576" tIns="36576" rIns="36576" bIns="36576" anchor="t">
            <a:spAutoFit/>
          </a:bodyPr>
          <a:lstStyle/>
          <a:p>
            <a:pPr algn="ctr">
              <a:spcAft>
                <a:spcPts val="400"/>
              </a:spcAft>
            </a:pPr>
            <a:r>
              <a:rPr sz="1500" b="1" i="0">
                <a:solidFill>
                  <a:srgbClr val="1F2937"/>
                </a:solidFill>
                <a:latin typeface="Times New Roman"/>
              </a:rPr>
              <a:t>Team AeroPulse</a:t>
            </a:r>
          </a:p>
          <a:p>
            <a:pPr algn="ctr">
              <a:spcAft>
                <a:spcPts val="400"/>
              </a:spcAft>
            </a:pPr>
            <a:r>
              <a:rPr sz="1300" b="0" i="0">
                <a:solidFill>
                  <a:srgbClr val="6B7280"/>
                </a:solidFill>
                <a:latin typeface="Times New Roman"/>
              </a:rPr>
              <a:t>Hackathon submission  ·  Built and deployed on Google Cloud</a:t>
            </a:r>
          </a:p>
        </p:txBody>
      </p:sp>
      <p:pic>
        <p:nvPicPr>
          <p:cNvPr id="6" name="Picture 5" descr="photo-crop-burning.png"/>
          <p:cNvPicPr>
            <a:picLocks noChangeAspect="1"/>
          </p:cNvPicPr>
          <p:nvPr/>
        </p:nvPicPr>
        <p:blipFill>
          <a:blip r:embed="rId3"/>
          <a:srcRect t="7692" b="7692"/>
          <a:stretch>
            <a:fillRect/>
          </a:stretch>
        </p:blipFill>
        <p:spPr>
          <a:xfrm>
            <a:off x="591159" y="3657600"/>
            <a:ext cx="3566160" cy="2011680"/>
          </a:xfrm>
          <a:prstGeom prst="rect">
            <a:avLst/>
          </a:prstGeom>
        </p:spPr>
      </p:pic>
      <p:sp>
        <p:nvSpPr>
          <p:cNvPr id="7" name="Rectangle 6"/>
          <p:cNvSpPr/>
          <p:nvPr/>
        </p:nvSpPr>
        <p:spPr>
          <a:xfrm>
            <a:off x="591159" y="5340096"/>
            <a:ext cx="3566160" cy="329184"/>
          </a:xfrm>
          <a:prstGeom prst="rect">
            <a:avLst/>
          </a:prstGeom>
          <a:solidFill>
            <a:srgbClr val="002855"/>
          </a:solidFill>
          <a:ln>
            <a:noFill/>
          </a:ln>
          <a:effectLst/>
        </p:spPr>
        <p:txBody>
          <a:bodyPr wrap="square" lIns="54864" tIns="54864" rIns="54864" bIns="54864" rtlCol="0" anchor="ctr"/>
          <a:lstStyle/>
          <a:p>
            <a:pPr algn="ctr">
              <a:spcAft>
                <a:spcPts val="400"/>
              </a:spcAft>
            </a:pPr>
            <a:r>
              <a:rPr sz="1100" b="1" i="0">
                <a:solidFill>
                  <a:srgbClr val="FFFFFF"/>
                </a:solidFill>
                <a:latin typeface="Calibri"/>
              </a:rPr>
              <a:t>Crop-residue burning</a:t>
            </a:r>
          </a:p>
        </p:txBody>
      </p:sp>
      <p:pic>
        <p:nvPicPr>
          <p:cNvPr id="8" name="Picture 7" descr="photo-bushfire.png"/>
          <p:cNvPicPr>
            <a:picLocks noChangeAspect="1"/>
          </p:cNvPicPr>
          <p:nvPr/>
        </p:nvPicPr>
        <p:blipFill>
          <a:blip r:embed="rId4"/>
          <a:srcRect t="7692" b="7692"/>
          <a:stretch>
            <a:fillRect/>
          </a:stretch>
        </p:blipFill>
        <p:spPr>
          <a:xfrm>
            <a:off x="4312767" y="3657600"/>
            <a:ext cx="3566160" cy="2011680"/>
          </a:xfrm>
          <a:prstGeom prst="rect">
            <a:avLst/>
          </a:prstGeom>
        </p:spPr>
      </p:pic>
      <p:sp>
        <p:nvSpPr>
          <p:cNvPr id="9" name="Rectangle 8"/>
          <p:cNvSpPr/>
          <p:nvPr/>
        </p:nvSpPr>
        <p:spPr>
          <a:xfrm>
            <a:off x="4312767" y="5340096"/>
            <a:ext cx="3566160" cy="329184"/>
          </a:xfrm>
          <a:prstGeom prst="rect">
            <a:avLst/>
          </a:prstGeom>
          <a:solidFill>
            <a:srgbClr val="002855"/>
          </a:solidFill>
          <a:ln>
            <a:noFill/>
          </a:ln>
          <a:effectLst/>
        </p:spPr>
        <p:txBody>
          <a:bodyPr wrap="square" lIns="54864" tIns="54864" rIns="54864" bIns="54864" rtlCol="0" anchor="ctr"/>
          <a:lstStyle/>
          <a:p>
            <a:pPr algn="ctr">
              <a:spcAft>
                <a:spcPts val="400"/>
              </a:spcAft>
            </a:pPr>
            <a:r>
              <a:rPr sz="1100" b="1" i="0">
                <a:solidFill>
                  <a:srgbClr val="FFFFFF"/>
                </a:solidFill>
                <a:latin typeface="Calibri"/>
              </a:rPr>
              <a:t>Bushfire smoke</a:t>
            </a:r>
          </a:p>
        </p:txBody>
      </p:sp>
      <p:pic>
        <p:nvPicPr>
          <p:cNvPr id="10" name="Picture 9" descr="photo-haze-city.png"/>
          <p:cNvPicPr>
            <a:picLocks noChangeAspect="1"/>
          </p:cNvPicPr>
          <p:nvPr/>
        </p:nvPicPr>
        <p:blipFill>
          <a:blip r:embed="rId5"/>
          <a:srcRect t="7692" b="7692"/>
          <a:stretch>
            <a:fillRect/>
          </a:stretch>
        </p:blipFill>
        <p:spPr>
          <a:xfrm>
            <a:off x="8034375" y="3657600"/>
            <a:ext cx="3566160" cy="2011680"/>
          </a:xfrm>
          <a:prstGeom prst="rect">
            <a:avLst/>
          </a:prstGeom>
        </p:spPr>
      </p:pic>
      <p:sp>
        <p:nvSpPr>
          <p:cNvPr id="11" name="Rectangle 10"/>
          <p:cNvSpPr/>
          <p:nvPr/>
        </p:nvSpPr>
        <p:spPr>
          <a:xfrm>
            <a:off x="8034375" y="5340096"/>
            <a:ext cx="3566160" cy="329184"/>
          </a:xfrm>
          <a:prstGeom prst="rect">
            <a:avLst/>
          </a:prstGeom>
          <a:solidFill>
            <a:srgbClr val="002855"/>
          </a:solidFill>
          <a:ln>
            <a:noFill/>
          </a:ln>
          <a:effectLst/>
        </p:spPr>
        <p:txBody>
          <a:bodyPr wrap="square" lIns="54864" tIns="54864" rIns="54864" bIns="54864" rtlCol="0" anchor="ctr"/>
          <a:lstStyle/>
          <a:p>
            <a:pPr algn="ctr">
              <a:spcAft>
                <a:spcPts val="400"/>
              </a:spcAft>
            </a:pPr>
            <a:r>
              <a:rPr sz="1100" b="1" i="0">
                <a:solidFill>
                  <a:srgbClr val="FFFFFF"/>
                </a:solidFill>
                <a:latin typeface="Calibri"/>
              </a:rPr>
              <a:t>Transboundary haze</a:t>
            </a:r>
          </a:p>
        </p:txBody>
      </p:sp>
      <p:sp>
        <p:nvSpPr>
          <p:cNvPr id="12" name="TextBox 11"/>
          <p:cNvSpPr txBox="1"/>
          <p:nvPr/>
        </p:nvSpPr>
        <p:spPr>
          <a:xfrm>
            <a:off x="591159" y="5733288"/>
            <a:ext cx="11009376" cy="228600"/>
          </a:xfrm>
          <a:prstGeom prst="rect">
            <a:avLst/>
          </a:prstGeom>
          <a:noFill/>
        </p:spPr>
        <p:txBody>
          <a:bodyPr wrap="square" lIns="0" tIns="0" rIns="0" bIns="0" anchor="t">
            <a:spAutoFit/>
          </a:bodyPr>
          <a:lstStyle/>
          <a:p>
            <a:pPr algn="ctr">
              <a:spcAft>
                <a:spcPts val="400"/>
              </a:spcAft>
            </a:pPr>
            <a:r>
              <a:rPr sz="900" b="0" i="1">
                <a:solidFill>
                  <a:srgbClr val="6B7280"/>
                </a:solidFill>
                <a:latin typeface="Calibri"/>
              </a:rPr>
              <a:t>Illustrative images (AI-generated). Region packs: North India · Singapore · New South Wales.</a:t>
            </a:r>
          </a:p>
        </p:txBody>
      </p:sp>
      <p:cxnSp>
        <p:nvCxnSpPr>
          <p:cNvPr id="13" name="Connector 12"/>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15" name="TextBox 14"/>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 / 18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47472"/>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Abstract and Index Terms</a:t>
            </a:r>
          </a:p>
        </p:txBody>
      </p:sp>
      <p:sp>
        <p:nvSpPr>
          <p:cNvPr id="3" name="Rectangle 2"/>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4" name="Connector 3"/>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6" name="TextBox 5"/>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2 / 18</a:t>
            </a:r>
          </a:p>
        </p:txBody>
      </p:sp>
      <p:sp>
        <p:nvSpPr>
          <p:cNvPr id="7" name="TextBox 6"/>
          <p:cNvSpPr txBox="1"/>
          <p:nvPr/>
        </p:nvSpPr>
        <p:spPr>
          <a:xfrm>
            <a:off x="502920" y="1280160"/>
            <a:ext cx="7040880" cy="3840480"/>
          </a:xfrm>
          <a:prstGeom prst="rect">
            <a:avLst/>
          </a:prstGeom>
          <a:noFill/>
        </p:spPr>
        <p:txBody>
          <a:bodyPr wrap="square" lIns="36576" tIns="36576" rIns="36576" bIns="36576" anchor="t">
            <a:spAutoFit/>
          </a:bodyPr>
          <a:lstStyle/>
          <a:p>
            <a:pPr algn="just">
              <a:lnSpc>
                <a:spcPct val="108000"/>
              </a:lnSpc>
              <a:spcAft>
                <a:spcPts val="400"/>
              </a:spcAft>
            </a:pPr>
            <a:r>
              <a:rPr sz="1400" b="1" i="0">
                <a:solidFill>
                  <a:srgbClr val="1F2937"/>
                </a:solidFill>
                <a:latin typeface="Times New Roman"/>
              </a:rPr>
              <a:t>Abstract—</a:t>
            </a:r>
            <a:r>
              <a:rPr sz="1400" b="0" i="0">
                <a:solidFill>
                  <a:srgbClr val="1F2937"/>
                </a:solidFill>
                <a:latin typeface="Times New Roman"/>
              </a:rPr>
              <a:t>Smoke from crop-residue burning, bushfires and transboundary haze crosses administrative borders, yet the public is usually warned by an Air Quality Index that reports air which has already arrived. We present AeroPulse, an environmental-intelligence system that fuses ground stations, satellite fire detections, a satellite aerosol index and weather forecasts on a ~1 km H3 grid, links each pollution episode to its plausible source, projects where the smoke travels with a Lagrangian particle ensemble, and names the places in its path. Region knowledge (geography, sources, hazards and the official AQI standard) lives in declarative region packs, so a region is added by configuration. PM2.5 forecasts are trained per region and served only after they beat persistence on time-ordered holdouts; every served value carries its provenance, model version and degraded flag. A language model is confined to a grounded assistant and a schema-constrained citizen-photo observation that cannot create events. The system runs serverlessly on Google Cloud and is built with Cloud Build and deployed with Terraform.</a:t>
            </a:r>
          </a:p>
        </p:txBody>
      </p:sp>
      <p:sp>
        <p:nvSpPr>
          <p:cNvPr id="8" name="TextBox 7"/>
          <p:cNvSpPr txBox="1"/>
          <p:nvPr/>
        </p:nvSpPr>
        <p:spPr>
          <a:xfrm>
            <a:off x="502920" y="4434840"/>
            <a:ext cx="7040880" cy="822960"/>
          </a:xfrm>
          <a:prstGeom prst="rect">
            <a:avLst/>
          </a:prstGeom>
          <a:noFill/>
        </p:spPr>
        <p:txBody>
          <a:bodyPr wrap="square" lIns="36576" tIns="36576" rIns="36576" bIns="36576" anchor="t">
            <a:spAutoFit/>
          </a:bodyPr>
          <a:lstStyle/>
          <a:p>
            <a:pPr algn="just">
              <a:spcAft>
                <a:spcPts val="400"/>
              </a:spcAft>
            </a:pPr>
            <a:r>
              <a:rPr sz="1300" b="1" i="1">
                <a:solidFill>
                  <a:srgbClr val="1F2937"/>
                </a:solidFill>
                <a:latin typeface="Times New Roman"/>
              </a:rPr>
              <a:t>Index Terms—</a:t>
            </a:r>
            <a:r>
              <a:rPr sz="1300" b="0" i="1">
                <a:solidFill>
                  <a:srgbClr val="1F2937"/>
                </a:solidFill>
                <a:latin typeface="Times New Roman"/>
              </a:rPr>
              <a:t>air quality, PM2.5 forecasting, smoke transport, Lagrangian ensemble, data fusion, H3 grid, responsible AI, serverless, Google Cloud.</a:t>
            </a:r>
          </a:p>
        </p:txBody>
      </p:sp>
      <p:sp>
        <p:nvSpPr>
          <p:cNvPr id="9" name="Rounded Rectangle 8"/>
          <p:cNvSpPr/>
          <p:nvPr/>
        </p:nvSpPr>
        <p:spPr>
          <a:xfrm>
            <a:off x="8001001" y="1280160"/>
            <a:ext cx="3504894" cy="4109416"/>
          </a:xfrm>
          <a:prstGeom prst="roundRect">
            <a:avLst>
              <a:gd name="adj" fmla="val 1983"/>
            </a:avLst>
          </a:prstGeom>
          <a:solidFill>
            <a:srgbClr val="F2F5F8"/>
          </a:solidFill>
          <a:ln w="12700">
            <a:solidFill>
              <a:srgbClr val="E5E7EB"/>
            </a:solidFill>
          </a:ln>
          <a:effectLst/>
        </p:spPr>
        <p:txBody>
          <a:bodyPr wrap="square" lIns="54864" tIns="54864" rIns="54864" bIns="54864" rtlCol="0" anchor="ctr"/>
          <a:lstStyle/>
          <a:p>
            <a:pPr algn="ctr"/>
            <a:endParaRPr/>
          </a:p>
        </p:txBody>
      </p:sp>
      <p:sp>
        <p:nvSpPr>
          <p:cNvPr id="10" name="TextBox 9"/>
          <p:cNvSpPr txBox="1"/>
          <p:nvPr/>
        </p:nvSpPr>
        <p:spPr>
          <a:xfrm>
            <a:off x="8183879" y="1389888"/>
            <a:ext cx="3322015" cy="365760"/>
          </a:xfrm>
          <a:prstGeom prst="rect">
            <a:avLst/>
          </a:prstGeom>
          <a:noFill/>
        </p:spPr>
        <p:txBody>
          <a:bodyPr wrap="square" lIns="36576" tIns="36576" rIns="36576" bIns="36576" anchor="t">
            <a:spAutoFit/>
          </a:bodyPr>
          <a:lstStyle/>
          <a:p>
            <a:pPr algn="l">
              <a:spcAft>
                <a:spcPts val="400"/>
              </a:spcAft>
            </a:pPr>
            <a:r>
              <a:rPr sz="1400" b="1" i="0">
                <a:solidFill>
                  <a:srgbClr val="002855"/>
                </a:solidFill>
                <a:latin typeface="Times New Roman"/>
              </a:rPr>
              <a:t>Built in this submission</a:t>
            </a:r>
          </a:p>
        </p:txBody>
      </p:sp>
      <p:sp>
        <p:nvSpPr>
          <p:cNvPr id="11" name="TextBox 10"/>
          <p:cNvSpPr txBox="1"/>
          <p:nvPr/>
        </p:nvSpPr>
        <p:spPr>
          <a:xfrm>
            <a:off x="8183879" y="1828800"/>
            <a:ext cx="1234440" cy="548640"/>
          </a:xfrm>
          <a:prstGeom prst="rect">
            <a:avLst/>
          </a:prstGeom>
          <a:noFill/>
        </p:spPr>
        <p:txBody>
          <a:bodyPr wrap="square" lIns="36576" tIns="36576" rIns="36576" bIns="36576" anchor="ctr">
            <a:spAutoFit/>
          </a:bodyPr>
          <a:lstStyle/>
          <a:p>
            <a:pPr algn="l">
              <a:spcAft>
                <a:spcPts val="400"/>
              </a:spcAft>
            </a:pPr>
            <a:r>
              <a:rPr sz="2000" b="1" i="0">
                <a:solidFill>
                  <a:srgbClr val="00629B"/>
                </a:solidFill>
                <a:latin typeface="Times New Roman"/>
              </a:rPr>
              <a:t>3</a:t>
            </a:r>
          </a:p>
        </p:txBody>
      </p:sp>
      <p:sp>
        <p:nvSpPr>
          <p:cNvPr id="12" name="TextBox 11"/>
          <p:cNvSpPr txBox="1"/>
          <p:nvPr/>
        </p:nvSpPr>
        <p:spPr>
          <a:xfrm>
            <a:off x="9464040" y="1828800"/>
            <a:ext cx="2041855" cy="548640"/>
          </a:xfrm>
          <a:prstGeom prst="rect">
            <a:avLst/>
          </a:prstGeom>
          <a:noFill/>
        </p:spPr>
        <p:txBody>
          <a:bodyPr wrap="square" lIns="36576" tIns="36576" rIns="36576" bIns="36576" anchor="ctr">
            <a:spAutoFit/>
          </a:bodyPr>
          <a:lstStyle/>
          <a:p>
            <a:pPr algn="l">
              <a:spcAft>
                <a:spcPts val="0"/>
              </a:spcAft>
            </a:pPr>
            <a:r>
              <a:rPr sz="1200" b="1" i="0">
                <a:solidFill>
                  <a:srgbClr val="1F2937"/>
                </a:solidFill>
                <a:latin typeface="Calibri"/>
              </a:rPr>
              <a:t>region packs</a:t>
            </a:r>
          </a:p>
          <a:p>
            <a:pPr algn="l">
              <a:spcAft>
                <a:spcPts val="0"/>
              </a:spcAft>
            </a:pPr>
            <a:r>
              <a:rPr sz="1050" b="0" i="0">
                <a:solidFill>
                  <a:srgbClr val="6B7280"/>
                </a:solidFill>
                <a:latin typeface="Calibri"/>
              </a:rPr>
              <a:t>North India, Singapore, New South Wales</a:t>
            </a:r>
          </a:p>
        </p:txBody>
      </p:sp>
      <p:sp>
        <p:nvSpPr>
          <p:cNvPr id="13" name="TextBox 12"/>
          <p:cNvSpPr txBox="1"/>
          <p:nvPr/>
        </p:nvSpPr>
        <p:spPr>
          <a:xfrm>
            <a:off x="8183879" y="2487168"/>
            <a:ext cx="1234440" cy="548640"/>
          </a:xfrm>
          <a:prstGeom prst="rect">
            <a:avLst/>
          </a:prstGeom>
          <a:noFill/>
        </p:spPr>
        <p:txBody>
          <a:bodyPr wrap="square" lIns="36576" tIns="36576" rIns="36576" bIns="36576" anchor="ctr">
            <a:spAutoFit/>
          </a:bodyPr>
          <a:lstStyle/>
          <a:p>
            <a:pPr algn="l">
              <a:spcAft>
                <a:spcPts val="400"/>
              </a:spcAft>
            </a:pPr>
            <a:r>
              <a:rPr sz="2000" b="1" i="0">
                <a:solidFill>
                  <a:srgbClr val="00629B"/>
                </a:solidFill>
                <a:latin typeface="Times New Roman"/>
              </a:rPr>
              <a:t>6</a:t>
            </a:r>
          </a:p>
        </p:txBody>
      </p:sp>
      <p:sp>
        <p:nvSpPr>
          <p:cNvPr id="14" name="TextBox 13"/>
          <p:cNvSpPr txBox="1"/>
          <p:nvPr/>
        </p:nvSpPr>
        <p:spPr>
          <a:xfrm>
            <a:off x="9464040" y="2487168"/>
            <a:ext cx="2041855" cy="548640"/>
          </a:xfrm>
          <a:prstGeom prst="rect">
            <a:avLst/>
          </a:prstGeom>
          <a:noFill/>
        </p:spPr>
        <p:txBody>
          <a:bodyPr wrap="square" lIns="36576" tIns="36576" rIns="36576" bIns="36576" anchor="ctr">
            <a:spAutoFit/>
          </a:bodyPr>
          <a:lstStyle/>
          <a:p>
            <a:pPr algn="l">
              <a:spcAft>
                <a:spcPts val="0"/>
              </a:spcAft>
            </a:pPr>
            <a:r>
              <a:rPr sz="1200" b="1" i="0">
                <a:solidFill>
                  <a:srgbClr val="1F2937"/>
                </a:solidFill>
                <a:latin typeface="Calibri"/>
              </a:rPr>
              <a:t>connector types enabled</a:t>
            </a:r>
          </a:p>
          <a:p>
            <a:pPr algn="l">
              <a:spcAft>
                <a:spcPts val="0"/>
              </a:spcAft>
            </a:pPr>
            <a:r>
              <a:rPr sz="1050" b="0" i="0">
                <a:solidFill>
                  <a:srgbClr val="6B7280"/>
                </a:solidFill>
                <a:latin typeface="Calibri"/>
              </a:rPr>
              <a:t>stations, fires, weather, aerosol index</a:t>
            </a:r>
          </a:p>
        </p:txBody>
      </p:sp>
      <p:sp>
        <p:nvSpPr>
          <p:cNvPr id="15" name="TextBox 14"/>
          <p:cNvSpPr txBox="1"/>
          <p:nvPr/>
        </p:nvSpPr>
        <p:spPr>
          <a:xfrm>
            <a:off x="8183879" y="3145535"/>
            <a:ext cx="1234440" cy="548640"/>
          </a:xfrm>
          <a:prstGeom prst="rect">
            <a:avLst/>
          </a:prstGeom>
          <a:noFill/>
        </p:spPr>
        <p:txBody>
          <a:bodyPr wrap="square" lIns="36576" tIns="36576" rIns="36576" bIns="36576" anchor="ctr">
            <a:spAutoFit/>
          </a:bodyPr>
          <a:lstStyle/>
          <a:p>
            <a:pPr algn="l">
              <a:spcAft>
                <a:spcPts val="400"/>
              </a:spcAft>
            </a:pPr>
            <a:r>
              <a:rPr sz="2000" b="1" i="0">
                <a:solidFill>
                  <a:srgbClr val="00629B"/>
                </a:solidFill>
                <a:latin typeface="Times New Roman"/>
              </a:rPr>
              <a:t>~1 km</a:t>
            </a:r>
          </a:p>
        </p:txBody>
      </p:sp>
      <p:sp>
        <p:nvSpPr>
          <p:cNvPr id="16" name="TextBox 15"/>
          <p:cNvSpPr txBox="1"/>
          <p:nvPr/>
        </p:nvSpPr>
        <p:spPr>
          <a:xfrm>
            <a:off x="9464040" y="3145535"/>
            <a:ext cx="2041855" cy="548640"/>
          </a:xfrm>
          <a:prstGeom prst="rect">
            <a:avLst/>
          </a:prstGeom>
          <a:noFill/>
        </p:spPr>
        <p:txBody>
          <a:bodyPr wrap="square" lIns="36576" tIns="36576" rIns="36576" bIns="36576" anchor="ctr">
            <a:spAutoFit/>
          </a:bodyPr>
          <a:lstStyle/>
          <a:p>
            <a:pPr algn="l">
              <a:spcAft>
                <a:spcPts val="0"/>
              </a:spcAft>
            </a:pPr>
            <a:r>
              <a:rPr sz="1200" b="1" i="0">
                <a:solidFill>
                  <a:srgbClr val="1F2937"/>
                </a:solidFill>
                <a:latin typeface="Calibri"/>
              </a:rPr>
              <a:t>H3 resolution-8 cells</a:t>
            </a:r>
          </a:p>
          <a:p>
            <a:pPr algn="l">
              <a:spcAft>
                <a:spcPts val="0"/>
              </a:spcAft>
            </a:pPr>
            <a:r>
              <a:rPr sz="1050" b="0" i="0">
                <a:solidFill>
                  <a:srgbClr val="6B7280"/>
                </a:solidFill>
                <a:latin typeface="Calibri"/>
              </a:rPr>
              <a:t>one grid for every source</a:t>
            </a:r>
          </a:p>
        </p:txBody>
      </p:sp>
      <p:sp>
        <p:nvSpPr>
          <p:cNvPr id="17" name="TextBox 16"/>
          <p:cNvSpPr txBox="1"/>
          <p:nvPr/>
        </p:nvSpPr>
        <p:spPr>
          <a:xfrm>
            <a:off x="8183879" y="3803903"/>
            <a:ext cx="1234440" cy="548640"/>
          </a:xfrm>
          <a:prstGeom prst="rect">
            <a:avLst/>
          </a:prstGeom>
          <a:noFill/>
        </p:spPr>
        <p:txBody>
          <a:bodyPr wrap="square" lIns="36576" tIns="36576" rIns="36576" bIns="36576" anchor="ctr">
            <a:spAutoFit/>
          </a:bodyPr>
          <a:lstStyle/>
          <a:p>
            <a:pPr algn="l">
              <a:spcAft>
                <a:spcPts val="400"/>
              </a:spcAft>
            </a:pPr>
            <a:r>
              <a:rPr sz="2000" b="1" i="0">
                <a:solidFill>
                  <a:srgbClr val="00629B"/>
                </a:solidFill>
                <a:latin typeface="Times New Roman"/>
              </a:rPr>
              <a:t>Per region</a:t>
            </a:r>
          </a:p>
        </p:txBody>
      </p:sp>
      <p:sp>
        <p:nvSpPr>
          <p:cNvPr id="18" name="TextBox 17"/>
          <p:cNvSpPr txBox="1"/>
          <p:nvPr/>
        </p:nvSpPr>
        <p:spPr>
          <a:xfrm>
            <a:off x="9464040" y="3803903"/>
            <a:ext cx="2041855" cy="548640"/>
          </a:xfrm>
          <a:prstGeom prst="rect">
            <a:avLst/>
          </a:prstGeom>
          <a:noFill/>
        </p:spPr>
        <p:txBody>
          <a:bodyPr wrap="square" lIns="36576" tIns="36576" rIns="36576" bIns="36576" anchor="ctr">
            <a:spAutoFit/>
          </a:bodyPr>
          <a:lstStyle/>
          <a:p>
            <a:pPr algn="l">
              <a:spcAft>
                <a:spcPts val="0"/>
              </a:spcAft>
            </a:pPr>
            <a:r>
              <a:rPr sz="1200" b="1" i="0">
                <a:solidFill>
                  <a:srgbClr val="1F2937"/>
                </a:solidFill>
                <a:latin typeface="Calibri"/>
              </a:rPr>
              <a:t>gated ML forecasts</a:t>
            </a:r>
          </a:p>
          <a:p>
            <a:pPr algn="l">
              <a:spcAft>
                <a:spcPts val="0"/>
              </a:spcAft>
            </a:pPr>
            <a:r>
              <a:rPr sz="1050" b="0" i="0">
                <a:solidFill>
                  <a:srgbClr val="6B7280"/>
                </a:solidFill>
                <a:latin typeface="Calibri"/>
              </a:rPr>
              <a:t>served only after beating persistence</a:t>
            </a:r>
          </a:p>
        </p:txBody>
      </p:sp>
      <p:sp>
        <p:nvSpPr>
          <p:cNvPr id="19" name="TextBox 18"/>
          <p:cNvSpPr txBox="1"/>
          <p:nvPr/>
        </p:nvSpPr>
        <p:spPr>
          <a:xfrm>
            <a:off x="8183879" y="4462271"/>
            <a:ext cx="1234440" cy="548640"/>
          </a:xfrm>
          <a:prstGeom prst="rect">
            <a:avLst/>
          </a:prstGeom>
          <a:noFill/>
        </p:spPr>
        <p:txBody>
          <a:bodyPr wrap="square" lIns="36576" tIns="36576" rIns="36576" bIns="36576" anchor="ctr">
            <a:spAutoFit/>
          </a:bodyPr>
          <a:lstStyle/>
          <a:p>
            <a:pPr algn="l">
              <a:spcAft>
                <a:spcPts val="400"/>
              </a:spcAft>
            </a:pPr>
            <a:r>
              <a:rPr sz="2000" b="1" i="0">
                <a:solidFill>
                  <a:srgbClr val="00629B"/>
                </a:solidFill>
                <a:latin typeface="Times New Roman"/>
              </a:rPr>
              <a:t>200</a:t>
            </a:r>
          </a:p>
        </p:txBody>
      </p:sp>
      <p:sp>
        <p:nvSpPr>
          <p:cNvPr id="20" name="TextBox 19"/>
          <p:cNvSpPr txBox="1"/>
          <p:nvPr/>
        </p:nvSpPr>
        <p:spPr>
          <a:xfrm>
            <a:off x="9464040" y="4462271"/>
            <a:ext cx="2041855" cy="548640"/>
          </a:xfrm>
          <a:prstGeom prst="rect">
            <a:avLst/>
          </a:prstGeom>
          <a:noFill/>
        </p:spPr>
        <p:txBody>
          <a:bodyPr wrap="square" lIns="36576" tIns="36576" rIns="36576" bIns="36576" anchor="ctr">
            <a:spAutoFit/>
          </a:bodyPr>
          <a:lstStyle/>
          <a:p>
            <a:pPr algn="l">
              <a:spcAft>
                <a:spcPts val="0"/>
              </a:spcAft>
            </a:pPr>
            <a:r>
              <a:rPr sz="1200" b="1" i="0">
                <a:solidFill>
                  <a:srgbClr val="1F2937"/>
                </a:solidFill>
                <a:latin typeface="Calibri"/>
              </a:rPr>
              <a:t>particle plume ensemble</a:t>
            </a:r>
          </a:p>
          <a:p>
            <a:pPr algn="l">
              <a:spcAft>
                <a:spcPts val="0"/>
              </a:spcAft>
            </a:pPr>
            <a:r>
              <a:rPr sz="1050" b="0" i="0">
                <a:solidFill>
                  <a:srgbClr val="6B7280"/>
                </a:solidFill>
                <a:latin typeface="Calibri"/>
              </a:rPr>
              <a:t>P50 / P90 smoke footprints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 INTRODUCTION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Smoke Travels Farther Than Warnings Do</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3 / 18</a:t>
            </a:r>
          </a:p>
        </p:txBody>
      </p:sp>
      <p:pic>
        <p:nvPicPr>
          <p:cNvPr id="8" name="Picture 7" descr="photo-crop-burning.png"/>
          <p:cNvPicPr>
            <a:picLocks noChangeAspect="1"/>
          </p:cNvPicPr>
          <p:nvPr/>
        </p:nvPicPr>
        <p:blipFill>
          <a:blip r:embed="rId3"/>
          <a:srcRect t="3481" b="3481"/>
          <a:stretch>
            <a:fillRect/>
          </a:stretch>
        </p:blipFill>
        <p:spPr>
          <a:xfrm>
            <a:off x="502920" y="1234440"/>
            <a:ext cx="3611880" cy="2240280"/>
          </a:xfrm>
          <a:prstGeom prst="rect">
            <a:avLst/>
          </a:prstGeom>
          <a:ln w="9525">
            <a:solidFill>
              <a:srgbClr val="E5E7EB"/>
            </a:solidFill>
          </a:ln>
        </p:spPr>
      </p:pic>
      <p:sp>
        <p:nvSpPr>
          <p:cNvPr id="9" name="TextBox 8"/>
          <p:cNvSpPr txBox="1"/>
          <p:nvPr/>
        </p:nvSpPr>
        <p:spPr>
          <a:xfrm>
            <a:off x="502920" y="3547872"/>
            <a:ext cx="3611880" cy="320040"/>
          </a:xfrm>
          <a:prstGeom prst="rect">
            <a:avLst/>
          </a:prstGeom>
          <a:noFill/>
        </p:spPr>
        <p:txBody>
          <a:bodyPr wrap="square" lIns="36576" tIns="36576" rIns="36576" bIns="36576" anchor="t">
            <a:spAutoFit/>
          </a:bodyPr>
          <a:lstStyle/>
          <a:p>
            <a:pPr algn="l">
              <a:spcAft>
                <a:spcPts val="400"/>
              </a:spcAft>
            </a:pPr>
            <a:r>
              <a:rPr sz="1350" b="1" i="0">
                <a:solidFill>
                  <a:srgbClr val="002855"/>
                </a:solidFill>
                <a:latin typeface="Times New Roman"/>
              </a:rPr>
              <a:t>North India — crop-residue burning</a:t>
            </a:r>
          </a:p>
        </p:txBody>
      </p:sp>
      <p:sp>
        <p:nvSpPr>
          <p:cNvPr id="10" name="TextBox 9"/>
          <p:cNvSpPr txBox="1"/>
          <p:nvPr/>
        </p:nvSpPr>
        <p:spPr>
          <a:xfrm>
            <a:off x="502920" y="3858768"/>
            <a:ext cx="3611880" cy="822960"/>
          </a:xfrm>
          <a:prstGeom prst="rect">
            <a:avLst/>
          </a:prstGeom>
          <a:noFill/>
        </p:spPr>
        <p:txBody>
          <a:bodyPr wrap="square" lIns="36576" tIns="36576" rIns="36576" bIns="36576" anchor="t">
            <a:spAutoFit/>
          </a:bodyPr>
          <a:lstStyle/>
          <a:p>
            <a:pPr marL="167640" indent="-167640" algn="l">
              <a:spcAft>
                <a:spcPts val="200"/>
              </a:spcAft>
              <a:buClr>
                <a:srgbClr val="00629B"/>
              </a:buClr>
              <a:buFont typeface="Arial"/>
              <a:buChar char="•"/>
            </a:pPr>
            <a:r>
              <a:rPr sz="1200" b="0" i="0">
                <a:solidFill>
                  <a:srgbClr val="1F2937"/>
                </a:solidFill>
                <a:latin typeface="Calibri"/>
              </a:rPr>
              <a:t>Post-harvest stubble fires in Punjab and Haryana</a:t>
            </a:r>
          </a:p>
          <a:p>
            <a:pPr marL="167640" indent="-167640" algn="l">
              <a:spcAft>
                <a:spcPts val="200"/>
              </a:spcAft>
              <a:buClr>
                <a:srgbClr val="00629B"/>
              </a:buClr>
              <a:buFont typeface="Arial"/>
              <a:buChar char="•"/>
            </a:pPr>
            <a:r>
              <a:rPr sz="1200" b="0" i="0">
                <a:solidFill>
                  <a:srgbClr val="1F2937"/>
                </a:solidFill>
                <a:latin typeface="Calibri"/>
              </a:rPr>
              <a:t>Smoke drifts across state lines toward Delhi NCR</a:t>
            </a:r>
          </a:p>
        </p:txBody>
      </p:sp>
      <p:pic>
        <p:nvPicPr>
          <p:cNvPr id="11" name="Picture 10" descr="photo-bushfire.png"/>
          <p:cNvPicPr>
            <a:picLocks noChangeAspect="1"/>
          </p:cNvPicPr>
          <p:nvPr/>
        </p:nvPicPr>
        <p:blipFill>
          <a:blip r:embed="rId4"/>
          <a:srcRect t="3481" b="3481"/>
          <a:stretch>
            <a:fillRect/>
          </a:stretch>
        </p:blipFill>
        <p:spPr>
          <a:xfrm>
            <a:off x="4320540" y="1234440"/>
            <a:ext cx="3611880" cy="2240280"/>
          </a:xfrm>
          <a:prstGeom prst="rect">
            <a:avLst/>
          </a:prstGeom>
          <a:ln w="9525">
            <a:solidFill>
              <a:srgbClr val="E5E7EB"/>
            </a:solidFill>
          </a:ln>
        </p:spPr>
      </p:pic>
      <p:sp>
        <p:nvSpPr>
          <p:cNvPr id="12" name="TextBox 11"/>
          <p:cNvSpPr txBox="1"/>
          <p:nvPr/>
        </p:nvSpPr>
        <p:spPr>
          <a:xfrm>
            <a:off x="4320540" y="3547872"/>
            <a:ext cx="3611880" cy="320040"/>
          </a:xfrm>
          <a:prstGeom prst="rect">
            <a:avLst/>
          </a:prstGeom>
          <a:noFill/>
        </p:spPr>
        <p:txBody>
          <a:bodyPr wrap="square" lIns="36576" tIns="36576" rIns="36576" bIns="36576" anchor="t">
            <a:spAutoFit/>
          </a:bodyPr>
          <a:lstStyle/>
          <a:p>
            <a:pPr algn="l">
              <a:spcAft>
                <a:spcPts val="400"/>
              </a:spcAft>
            </a:pPr>
            <a:r>
              <a:rPr sz="1350" b="1" i="0">
                <a:solidFill>
                  <a:srgbClr val="002855"/>
                </a:solidFill>
                <a:latin typeface="Times New Roman"/>
              </a:rPr>
              <a:t>New South Wales — bushfire smoke</a:t>
            </a:r>
          </a:p>
        </p:txBody>
      </p:sp>
      <p:sp>
        <p:nvSpPr>
          <p:cNvPr id="13" name="TextBox 12"/>
          <p:cNvSpPr txBox="1"/>
          <p:nvPr/>
        </p:nvSpPr>
        <p:spPr>
          <a:xfrm>
            <a:off x="4320540" y="3858768"/>
            <a:ext cx="3611880" cy="822960"/>
          </a:xfrm>
          <a:prstGeom prst="rect">
            <a:avLst/>
          </a:prstGeom>
          <a:noFill/>
        </p:spPr>
        <p:txBody>
          <a:bodyPr wrap="square" lIns="36576" tIns="36576" rIns="36576" bIns="36576" anchor="t">
            <a:spAutoFit/>
          </a:bodyPr>
          <a:lstStyle/>
          <a:p>
            <a:pPr marL="167640" indent="-167640" algn="l">
              <a:spcAft>
                <a:spcPts val="200"/>
              </a:spcAft>
              <a:buClr>
                <a:srgbClr val="00629B"/>
              </a:buClr>
              <a:buFont typeface="Arial"/>
              <a:buChar char="•"/>
            </a:pPr>
            <a:r>
              <a:rPr sz="1200" b="0" i="0">
                <a:solidFill>
                  <a:srgbClr val="1F2937"/>
                </a:solidFill>
                <a:latin typeface="Calibri"/>
              </a:rPr>
              <a:t>Forest fires on the edge of Greater Sydney</a:t>
            </a:r>
          </a:p>
          <a:p>
            <a:pPr marL="167640" indent="-167640" algn="l">
              <a:spcAft>
                <a:spcPts val="200"/>
              </a:spcAft>
              <a:buClr>
                <a:srgbClr val="00629B"/>
              </a:buClr>
              <a:buFont typeface="Arial"/>
              <a:buChar char="•"/>
            </a:pPr>
            <a:r>
              <a:rPr sz="1200" b="0" i="0">
                <a:solidFill>
                  <a:srgbClr val="1F2937"/>
                </a:solidFill>
                <a:latin typeface="Calibri"/>
              </a:rPr>
              <a:t>Plumes reach suburbs far from the fire front</a:t>
            </a:r>
          </a:p>
        </p:txBody>
      </p:sp>
      <p:pic>
        <p:nvPicPr>
          <p:cNvPr id="14" name="Picture 13" descr="photo-haze-city.png"/>
          <p:cNvPicPr>
            <a:picLocks noChangeAspect="1"/>
          </p:cNvPicPr>
          <p:nvPr/>
        </p:nvPicPr>
        <p:blipFill>
          <a:blip r:embed="rId5"/>
          <a:srcRect t="3481" b="3481"/>
          <a:stretch>
            <a:fillRect/>
          </a:stretch>
        </p:blipFill>
        <p:spPr>
          <a:xfrm>
            <a:off x="8138160" y="1234440"/>
            <a:ext cx="3611880" cy="2240280"/>
          </a:xfrm>
          <a:prstGeom prst="rect">
            <a:avLst/>
          </a:prstGeom>
          <a:ln w="9525">
            <a:solidFill>
              <a:srgbClr val="E5E7EB"/>
            </a:solidFill>
          </a:ln>
        </p:spPr>
      </p:pic>
      <p:sp>
        <p:nvSpPr>
          <p:cNvPr id="15" name="TextBox 14"/>
          <p:cNvSpPr txBox="1"/>
          <p:nvPr/>
        </p:nvSpPr>
        <p:spPr>
          <a:xfrm>
            <a:off x="8138160" y="3547872"/>
            <a:ext cx="3611880" cy="320040"/>
          </a:xfrm>
          <a:prstGeom prst="rect">
            <a:avLst/>
          </a:prstGeom>
          <a:noFill/>
        </p:spPr>
        <p:txBody>
          <a:bodyPr wrap="square" lIns="36576" tIns="36576" rIns="36576" bIns="36576" anchor="t">
            <a:spAutoFit/>
          </a:bodyPr>
          <a:lstStyle/>
          <a:p>
            <a:pPr algn="l">
              <a:spcAft>
                <a:spcPts val="400"/>
              </a:spcAft>
            </a:pPr>
            <a:r>
              <a:rPr sz="1350" b="1" i="0">
                <a:solidFill>
                  <a:srgbClr val="002855"/>
                </a:solidFill>
                <a:latin typeface="Times New Roman"/>
              </a:rPr>
              <a:t>Singapore — transboundary haze</a:t>
            </a:r>
          </a:p>
        </p:txBody>
      </p:sp>
      <p:sp>
        <p:nvSpPr>
          <p:cNvPr id="16" name="TextBox 15"/>
          <p:cNvSpPr txBox="1"/>
          <p:nvPr/>
        </p:nvSpPr>
        <p:spPr>
          <a:xfrm>
            <a:off x="8138160" y="3858768"/>
            <a:ext cx="3611880" cy="822960"/>
          </a:xfrm>
          <a:prstGeom prst="rect">
            <a:avLst/>
          </a:prstGeom>
          <a:noFill/>
        </p:spPr>
        <p:txBody>
          <a:bodyPr wrap="square" lIns="36576" tIns="36576" rIns="36576" bIns="36576" anchor="t">
            <a:spAutoFit/>
          </a:bodyPr>
          <a:lstStyle/>
          <a:p>
            <a:pPr marL="167640" indent="-167640" algn="l">
              <a:spcAft>
                <a:spcPts val="200"/>
              </a:spcAft>
              <a:buClr>
                <a:srgbClr val="00629B"/>
              </a:buClr>
              <a:buFont typeface="Arial"/>
              <a:buChar char="•"/>
            </a:pPr>
            <a:r>
              <a:rPr sz="1200" b="0" i="0">
                <a:solidFill>
                  <a:srgbClr val="1F2937"/>
                </a:solidFill>
                <a:latin typeface="Calibri"/>
              </a:rPr>
              <a:t>Vegetation and peat fires elsewhere in the region</a:t>
            </a:r>
          </a:p>
          <a:p>
            <a:pPr marL="167640" indent="-167640" algn="l">
              <a:spcAft>
                <a:spcPts val="200"/>
              </a:spcAft>
              <a:buClr>
                <a:srgbClr val="00629B"/>
              </a:buClr>
              <a:buFont typeface="Arial"/>
              <a:buChar char="•"/>
            </a:pPr>
            <a:r>
              <a:rPr sz="1200" b="0" i="0">
                <a:solidFill>
                  <a:srgbClr val="1F2937"/>
                </a:solidFill>
                <a:latin typeface="Calibri"/>
              </a:rPr>
              <a:t>Haze crosses national borders</a:t>
            </a:r>
          </a:p>
        </p:txBody>
      </p:sp>
      <p:sp>
        <p:nvSpPr>
          <p:cNvPr id="17" name="TextBox 16"/>
          <p:cNvSpPr txBox="1"/>
          <p:nvPr/>
        </p:nvSpPr>
        <p:spPr>
          <a:xfrm>
            <a:off x="502920" y="4645152"/>
            <a:ext cx="1118585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1.  </a:t>
            </a:r>
            <a:r>
              <a:rPr sz="1050" b="0" i="0">
                <a:solidFill>
                  <a:srgbClr val="1F2937"/>
                </a:solidFill>
                <a:latin typeface="Calibri"/>
              </a:rPr>
              <a:t>Three smoke regimes covered by AeroPulse region packs (illustrative, AI-generated images).</a:t>
            </a:r>
          </a:p>
        </p:txBody>
      </p:sp>
      <p:sp>
        <p:nvSpPr>
          <p:cNvPr id="18" name="Rounded Rectangle 17"/>
          <p:cNvSpPr/>
          <p:nvPr/>
        </p:nvSpPr>
        <p:spPr>
          <a:xfrm>
            <a:off x="502920" y="5029200"/>
            <a:ext cx="11185855" cy="841248"/>
          </a:xfrm>
          <a:prstGeom prst="roundRect">
            <a:avLst>
              <a:gd name="adj" fmla="val 8695"/>
            </a:avLst>
          </a:prstGeom>
          <a:solidFill>
            <a:srgbClr val="E0EEF6"/>
          </a:solidFill>
          <a:ln>
            <a:noFill/>
          </a:ln>
          <a:effectLst/>
        </p:spPr>
        <p:txBody>
          <a:bodyPr wrap="square" lIns="137160" tIns="137160" rIns="137160" bIns="137160" rtlCol="0" anchor="ctr"/>
          <a:lstStyle/>
          <a:p>
            <a:pPr algn="l">
              <a:spcAft>
                <a:spcPts val="400"/>
              </a:spcAft>
            </a:pPr>
            <a:r>
              <a:rPr sz="1500" b="1" i="0">
                <a:solidFill>
                  <a:srgbClr val="002855"/>
                </a:solidFill>
                <a:latin typeface="Calibri"/>
              </a:rPr>
              <a:t>Common pattern: the source is far from the people it affects, and the wind decides who breathes it.</a:t>
            </a:r>
          </a:p>
          <a:p>
            <a:pPr algn="l">
              <a:spcAft>
                <a:spcPts val="400"/>
              </a:spcAft>
            </a:pPr>
            <a:r>
              <a:rPr sz="1200" b="0" i="0">
                <a:solidFill>
                  <a:srgbClr val="1F2937"/>
                </a:solidFill>
                <a:latin typeface="Calibri"/>
              </a:rPr>
              <a:t>Fine particulate matter (PM2.5) is a leading environmental health risk [1]; warning time matters most for children, older adults and outdoor workers.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I-B. MOTIVATION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Why an AQI Number Is Not Enough</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4 / 18</a:t>
            </a:r>
          </a:p>
        </p:txBody>
      </p:sp>
      <p:sp>
        <p:nvSpPr>
          <p:cNvPr id="8" name="Rounded Rectangle 7"/>
          <p:cNvSpPr/>
          <p:nvPr/>
        </p:nvSpPr>
        <p:spPr>
          <a:xfrm>
            <a:off x="685800" y="1417320"/>
            <a:ext cx="2834640" cy="1051560"/>
          </a:xfrm>
          <a:prstGeom prst="roundRect">
            <a:avLst>
              <a:gd name="adj" fmla="val 10434"/>
            </a:avLst>
          </a:prstGeom>
          <a:solidFill>
            <a:srgbClr val="FEF3C7"/>
          </a:solidFill>
          <a:ln w="19050">
            <a:solidFill>
              <a:srgbClr val="B45309"/>
            </a:solidFill>
          </a:ln>
          <a:effectLst/>
        </p:spPr>
        <p:txBody>
          <a:bodyPr wrap="square" lIns="54864" tIns="54864" rIns="54864" bIns="54864" rtlCol="0" anchor="ctr"/>
          <a:lstStyle/>
          <a:p>
            <a:pPr algn="ctr">
              <a:spcAft>
                <a:spcPts val="200"/>
              </a:spcAft>
            </a:pPr>
            <a:r>
              <a:rPr sz="2000" b="1" i="0">
                <a:solidFill>
                  <a:srgbClr val="B45309"/>
                </a:solidFill>
                <a:latin typeface="Times New Roman"/>
              </a:rPr>
              <a:t>SOURCE</a:t>
            </a:r>
          </a:p>
          <a:p>
            <a:pPr algn="ctr">
              <a:spcAft>
                <a:spcPts val="400"/>
              </a:spcAft>
            </a:pPr>
            <a:r>
              <a:rPr sz="1200" b="0" i="0">
                <a:solidFill>
                  <a:srgbClr val="1F2937"/>
                </a:solidFill>
                <a:latin typeface="Calibri"/>
              </a:rPr>
              <a:t>Fire, burning field, haze origin</a:t>
            </a:r>
          </a:p>
        </p:txBody>
      </p:sp>
      <p:sp>
        <p:nvSpPr>
          <p:cNvPr id="9" name="Rounded Rectangle 8"/>
          <p:cNvSpPr/>
          <p:nvPr/>
        </p:nvSpPr>
        <p:spPr>
          <a:xfrm>
            <a:off x="4709159" y="1417320"/>
            <a:ext cx="2834640" cy="1051560"/>
          </a:xfrm>
          <a:prstGeom prst="roundRect">
            <a:avLst>
              <a:gd name="adj" fmla="val 10434"/>
            </a:avLst>
          </a:prstGeom>
          <a:solidFill>
            <a:srgbClr val="CFFAFE"/>
          </a:solidFill>
          <a:ln w="19050">
            <a:solidFill>
              <a:srgbClr val="0E7490"/>
            </a:solidFill>
          </a:ln>
          <a:effectLst/>
        </p:spPr>
        <p:txBody>
          <a:bodyPr wrap="square" lIns="54864" tIns="54864" rIns="54864" bIns="54864" rtlCol="0" anchor="ctr"/>
          <a:lstStyle/>
          <a:p>
            <a:pPr algn="ctr">
              <a:spcAft>
                <a:spcPts val="200"/>
              </a:spcAft>
            </a:pPr>
            <a:r>
              <a:rPr sz="2000" b="1" i="0">
                <a:solidFill>
                  <a:srgbClr val="0E7490"/>
                </a:solidFill>
                <a:latin typeface="Times New Roman"/>
              </a:rPr>
              <a:t>WIND</a:t>
            </a:r>
          </a:p>
          <a:p>
            <a:pPr algn="ctr">
              <a:spcAft>
                <a:spcPts val="400"/>
              </a:spcAft>
            </a:pPr>
            <a:r>
              <a:rPr sz="1200" b="0" i="0">
                <a:solidFill>
                  <a:srgbClr val="1F2937"/>
                </a:solidFill>
                <a:latin typeface="Calibri"/>
              </a:rPr>
              <a:t>Transport over hours to days</a:t>
            </a:r>
          </a:p>
        </p:txBody>
      </p:sp>
      <p:sp>
        <p:nvSpPr>
          <p:cNvPr id="10" name="Rounded Rectangle 9"/>
          <p:cNvSpPr/>
          <p:nvPr/>
        </p:nvSpPr>
        <p:spPr>
          <a:xfrm>
            <a:off x="8732520" y="1417320"/>
            <a:ext cx="2834640" cy="1051560"/>
          </a:xfrm>
          <a:prstGeom prst="roundRect">
            <a:avLst>
              <a:gd name="adj" fmla="val 10434"/>
            </a:avLst>
          </a:prstGeom>
          <a:solidFill>
            <a:srgbClr val="FFE4E6"/>
          </a:solidFill>
          <a:ln w="19050">
            <a:solidFill>
              <a:srgbClr val="BE123C"/>
            </a:solidFill>
          </a:ln>
          <a:effectLst/>
        </p:spPr>
        <p:txBody>
          <a:bodyPr wrap="square" lIns="54864" tIns="54864" rIns="54864" bIns="54864" rtlCol="0" anchor="ctr"/>
          <a:lstStyle/>
          <a:p>
            <a:pPr algn="ctr">
              <a:spcAft>
                <a:spcPts val="200"/>
              </a:spcAft>
            </a:pPr>
            <a:r>
              <a:rPr sz="2000" b="1" i="0">
                <a:solidFill>
                  <a:srgbClr val="BE123C"/>
                </a:solidFill>
                <a:latin typeface="Times New Roman"/>
              </a:rPr>
              <a:t>PEOPLE</a:t>
            </a:r>
          </a:p>
          <a:p>
            <a:pPr algn="ctr">
              <a:spcAft>
                <a:spcPts val="400"/>
              </a:spcAft>
            </a:pPr>
            <a:r>
              <a:rPr sz="1200" b="0" i="0">
                <a:solidFill>
                  <a:srgbClr val="1F2937"/>
                </a:solidFill>
                <a:latin typeface="Calibri"/>
              </a:rPr>
              <a:t>Towns, schools, hospitals</a:t>
            </a:r>
          </a:p>
        </p:txBody>
      </p:sp>
      <p:cxnSp>
        <p:nvCxnSpPr>
          <p:cNvPr id="11" name="Connector 10"/>
          <p:cNvCxnSpPr/>
          <p:nvPr/>
        </p:nvCxnSpPr>
        <p:spPr>
          <a:xfrm>
            <a:off x="3566160" y="1943100"/>
            <a:ext cx="1097280" cy="0"/>
          </a:xfrm>
          <a:prstGeom prst="line">
            <a:avLst/>
          </a:prstGeom>
          <a:ln w="31750">
            <a:solidFill>
              <a:srgbClr val="002855"/>
            </a:solidFill>
            <a:tailEnd type="triangle" w="med" len="med"/>
          </a:ln>
        </p:spPr>
      </p:cxnSp>
      <p:cxnSp>
        <p:nvCxnSpPr>
          <p:cNvPr id="12" name="Connector 11"/>
          <p:cNvCxnSpPr/>
          <p:nvPr/>
        </p:nvCxnSpPr>
        <p:spPr>
          <a:xfrm>
            <a:off x="7589520" y="1943100"/>
            <a:ext cx="1097280" cy="0"/>
          </a:xfrm>
          <a:prstGeom prst="line">
            <a:avLst/>
          </a:prstGeom>
          <a:ln w="31750">
            <a:solidFill>
              <a:srgbClr val="002855"/>
            </a:solidFill>
            <a:tailEnd type="triangle" w="med" len="med"/>
          </a:ln>
        </p:spPr>
      </p:cxnSp>
      <p:sp>
        <p:nvSpPr>
          <p:cNvPr id="13" name="TextBox 12"/>
          <p:cNvSpPr txBox="1"/>
          <p:nvPr/>
        </p:nvSpPr>
        <p:spPr>
          <a:xfrm>
            <a:off x="594360" y="2542032"/>
            <a:ext cx="3017520" cy="457200"/>
          </a:xfrm>
          <a:prstGeom prst="rect">
            <a:avLst/>
          </a:prstGeom>
          <a:noFill/>
        </p:spPr>
        <p:txBody>
          <a:bodyPr wrap="square" lIns="0" tIns="0" rIns="0" bIns="0" anchor="t">
            <a:spAutoFit/>
          </a:bodyPr>
          <a:lstStyle/>
          <a:p>
            <a:pPr algn="ctr">
              <a:spcAft>
                <a:spcPts val="400"/>
              </a:spcAft>
            </a:pPr>
            <a:r>
              <a:rPr sz="1100" b="0" i="0">
                <a:solidFill>
                  <a:srgbClr val="B45309"/>
                </a:solidFill>
                <a:latin typeface="Calibri"/>
              </a:rPr>
              <a:t>Satellites detect the fire here [3]</a:t>
            </a:r>
          </a:p>
        </p:txBody>
      </p:sp>
      <p:sp>
        <p:nvSpPr>
          <p:cNvPr id="14" name="TextBox 13"/>
          <p:cNvSpPr txBox="1"/>
          <p:nvPr/>
        </p:nvSpPr>
        <p:spPr>
          <a:xfrm>
            <a:off x="4617720" y="2542032"/>
            <a:ext cx="3017520" cy="457200"/>
          </a:xfrm>
          <a:prstGeom prst="rect">
            <a:avLst/>
          </a:prstGeom>
          <a:noFill/>
        </p:spPr>
        <p:txBody>
          <a:bodyPr wrap="square" lIns="0" tIns="0" rIns="0" bIns="0" anchor="t">
            <a:spAutoFit/>
          </a:bodyPr>
          <a:lstStyle/>
          <a:p>
            <a:pPr algn="ctr">
              <a:spcAft>
                <a:spcPts val="400"/>
              </a:spcAft>
            </a:pPr>
            <a:r>
              <a:rPr sz="1100" b="0" i="0">
                <a:solidFill>
                  <a:srgbClr val="0E7490"/>
                </a:solidFill>
                <a:latin typeface="Calibri"/>
              </a:rPr>
              <a:t>Weather models forecast the path here [4]</a:t>
            </a:r>
          </a:p>
        </p:txBody>
      </p:sp>
      <p:sp>
        <p:nvSpPr>
          <p:cNvPr id="15" name="TextBox 14"/>
          <p:cNvSpPr txBox="1"/>
          <p:nvPr/>
        </p:nvSpPr>
        <p:spPr>
          <a:xfrm>
            <a:off x="8641080" y="2542032"/>
            <a:ext cx="3017520" cy="457200"/>
          </a:xfrm>
          <a:prstGeom prst="rect">
            <a:avLst/>
          </a:prstGeom>
          <a:noFill/>
        </p:spPr>
        <p:txBody>
          <a:bodyPr wrap="square" lIns="0" tIns="0" rIns="0" bIns="0" anchor="t">
            <a:spAutoFit/>
          </a:bodyPr>
          <a:lstStyle/>
          <a:p>
            <a:pPr algn="ctr">
              <a:spcAft>
                <a:spcPts val="400"/>
              </a:spcAft>
            </a:pPr>
            <a:r>
              <a:rPr sz="1100" b="0" i="0">
                <a:solidFill>
                  <a:srgbClr val="BE123C"/>
                </a:solidFill>
                <a:latin typeface="Calibri"/>
              </a:rPr>
              <a:t>A conventional AQI is measured here — after exposure begins</a:t>
            </a:r>
          </a:p>
        </p:txBody>
      </p:sp>
      <p:cxnSp>
        <p:nvCxnSpPr>
          <p:cNvPr id="16" name="Connector 15"/>
          <p:cNvCxnSpPr/>
          <p:nvPr/>
        </p:nvCxnSpPr>
        <p:spPr>
          <a:xfrm>
            <a:off x="2103120" y="3090672"/>
            <a:ext cx="8046720" cy="0"/>
          </a:xfrm>
          <a:prstGeom prst="line">
            <a:avLst/>
          </a:prstGeom>
          <a:ln w="25400">
            <a:solidFill>
              <a:srgbClr val="00629B"/>
            </a:solidFill>
            <a:headEnd type="triangle"/>
            <a:tailEnd type="triangle" w="med" len="med"/>
          </a:ln>
        </p:spPr>
      </p:cxnSp>
      <p:sp>
        <p:nvSpPr>
          <p:cNvPr id="17" name="Rounded Rectangle 16"/>
          <p:cNvSpPr/>
          <p:nvPr/>
        </p:nvSpPr>
        <p:spPr>
          <a:xfrm>
            <a:off x="4480559" y="2907792"/>
            <a:ext cx="3291840" cy="365760"/>
          </a:xfrm>
          <a:prstGeom prst="roundRect">
            <a:avLst>
              <a:gd name="adj" fmla="val 30000"/>
            </a:avLst>
          </a:prstGeom>
          <a:solidFill>
            <a:srgbClr val="FFFFFF"/>
          </a:solidFill>
          <a:ln w="12700">
            <a:solidFill>
              <a:srgbClr val="00629B"/>
            </a:solidFill>
          </a:ln>
          <a:effectLst/>
        </p:spPr>
        <p:txBody>
          <a:bodyPr wrap="square" lIns="54864" tIns="54864" rIns="54864" bIns="54864" rtlCol="0" anchor="ctr"/>
          <a:lstStyle/>
          <a:p>
            <a:pPr algn="ctr">
              <a:spcAft>
                <a:spcPts val="400"/>
              </a:spcAft>
            </a:pPr>
            <a:r>
              <a:rPr sz="1200" b="1" i="0">
                <a:solidFill>
                  <a:srgbClr val="00629B"/>
                </a:solidFill>
                <a:latin typeface="Calibri"/>
              </a:rPr>
              <a:t>Warning window AeroPulse targets</a:t>
            </a:r>
          </a:p>
        </p:txBody>
      </p:sp>
      <p:sp>
        <p:nvSpPr>
          <p:cNvPr id="18" name="TextBox 17"/>
          <p:cNvSpPr txBox="1"/>
          <p:nvPr/>
        </p:nvSpPr>
        <p:spPr>
          <a:xfrm>
            <a:off x="502920" y="3383280"/>
            <a:ext cx="1118585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2.  </a:t>
            </a:r>
            <a:r>
              <a:rPr sz="1050" b="0" i="0">
                <a:solidFill>
                  <a:srgbClr val="1F2937"/>
                </a:solidFill>
                <a:latin typeface="Calibri"/>
              </a:rPr>
              <a:t>The source-to-people chain. An AQI reading sits at the end of the chain.</a:t>
            </a:r>
          </a:p>
        </p:txBody>
      </p:sp>
      <p:sp>
        <p:nvSpPr>
          <p:cNvPr id="19" name="TextBox 18"/>
          <p:cNvSpPr txBox="1"/>
          <p:nvPr/>
        </p:nvSpPr>
        <p:spPr>
          <a:xfrm>
            <a:off x="502920" y="3703320"/>
            <a:ext cx="1118585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I</a:t>
            </a:r>
          </a:p>
          <a:p>
            <a:pPr algn="ctr">
              <a:spcAft>
                <a:spcPts val="0"/>
              </a:spcAft>
            </a:pPr>
            <a:r>
              <a:rPr sz="900" b="0" i="0">
                <a:solidFill>
                  <a:srgbClr val="1F2937"/>
                </a:solidFill>
                <a:latin typeface="Calibri"/>
              </a:rPr>
              <a:t>AQI REPORTING VERSUS AEROPULSE</a:t>
            </a:r>
          </a:p>
        </p:txBody>
      </p:sp>
      <p:graphicFrame>
        <p:nvGraphicFramePr>
          <p:cNvPr id="20" name="Table 19"/>
          <p:cNvGraphicFramePr>
            <a:graphicFrameLocks noGrp="1"/>
          </p:cNvGraphicFramePr>
          <p:nvPr/>
        </p:nvGraphicFramePr>
        <p:xfrm>
          <a:off x="1051560" y="4160520"/>
          <a:ext cx="10088574" cy="1737360"/>
        </p:xfrm>
        <a:graphic>
          <a:graphicData uri="http://schemas.openxmlformats.org/drawingml/2006/table">
            <a:tbl>
              <a:tblPr firstRow="1" bandRow="1">
                <a:tableStyleId>{5940675A-B579-460E-94D1-54222C63F5DA}</a:tableStyleId>
              </a:tblPr>
              <a:tblGrid>
                <a:gridCol w="4483811">
                  <a:extLst>
                    <a:ext uri="{9D8B030D-6E8A-4147-A177-3AD203B41FA5}">
                      <a16:colId xmlns:a16="http://schemas.microsoft.com/office/drawing/2014/main" val="20000"/>
                    </a:ext>
                  </a:extLst>
                </a:gridCol>
                <a:gridCol w="5604763">
                  <a:extLst>
                    <a:ext uri="{9D8B030D-6E8A-4147-A177-3AD203B41FA5}">
                      <a16:colId xmlns:a16="http://schemas.microsoft.com/office/drawing/2014/main" val="20001"/>
                    </a:ext>
                  </a:extLst>
                </a:gridCol>
              </a:tblGrid>
              <a:tr h="347472">
                <a:tc>
                  <a:txBody>
                    <a:bodyPr/>
                    <a:lstStyle/>
                    <a:p>
                      <a:pPr algn="l">
                        <a:spcAft>
                          <a:spcPts val="0"/>
                        </a:spcAft>
                      </a:pPr>
                      <a:r>
                        <a:rPr sz="1200" b="1" i="0">
                          <a:solidFill>
                            <a:srgbClr val="FFFFFF"/>
                          </a:solidFill>
                          <a:latin typeface="Calibri"/>
                        </a:rPr>
                        <a:t>Conventional AQI view</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200" b="1" i="0">
                          <a:solidFill>
                            <a:srgbClr val="FFFFFF"/>
                          </a:solidFill>
                          <a:latin typeface="Calibri"/>
                        </a:rPr>
                        <a:t>AeroPulse view</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347472">
                <a:tc>
                  <a:txBody>
                    <a:bodyPr/>
                    <a:lstStyle/>
                    <a:p>
                      <a:pPr algn="l">
                        <a:spcAft>
                          <a:spcPts val="0"/>
                        </a:spcAft>
                      </a:pPr>
                      <a:r>
                        <a:rPr sz="1200" b="0" i="0">
                          <a:solidFill>
                            <a:srgbClr val="1F2937"/>
                          </a:solidFill>
                          <a:latin typeface="Calibri"/>
                        </a:rPr>
                        <a:t>One number for a station or city, after the hour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200" b="0" i="0">
                          <a:solidFill>
                            <a:srgbClr val="1F2937"/>
                          </a:solidFill>
                          <a:latin typeface="Calibri"/>
                        </a:rPr>
                        <a:t>PM2.5 per ~1 km cell plus the next 1–24 h (48 h for haze and bushfire)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347472">
                <a:tc>
                  <a:txBody>
                    <a:bodyPr/>
                    <a:lstStyle/>
                    <a:p>
                      <a:pPr algn="l">
                        <a:spcAft>
                          <a:spcPts val="0"/>
                        </a:spcAft>
                      </a:pPr>
                      <a:r>
                        <a:rPr sz="1200" b="0" i="0">
                          <a:solidFill>
                            <a:srgbClr val="1F2937"/>
                          </a:solidFill>
                          <a:latin typeface="Calibri"/>
                        </a:rPr>
                        <a:t>No link to the cause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200" b="0" i="0">
                          <a:solidFill>
                            <a:srgbClr val="1F2937"/>
                          </a:solidFill>
                          <a:latin typeface="Calibri"/>
                        </a:rPr>
                        <a:t>Evidence graph linking fires, wind, plume and anomaly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347472">
                <a:tc>
                  <a:txBody>
                    <a:bodyPr/>
                    <a:lstStyle/>
                    <a:p>
                      <a:pPr algn="l">
                        <a:spcAft>
                          <a:spcPts val="0"/>
                        </a:spcAft>
                      </a:pPr>
                      <a:r>
                        <a:rPr sz="1200" b="0" i="0">
                          <a:solidFill>
                            <a:srgbClr val="1F2937"/>
                          </a:solidFill>
                          <a:latin typeface="Calibri"/>
                        </a:rPr>
                        <a:t>Silent about where smoke goes next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200" b="0" i="0">
                          <a:solidFill>
                            <a:srgbClr val="1F2937"/>
                          </a:solidFill>
                          <a:latin typeface="Calibri"/>
                        </a:rPr>
                        <a:t>P50 / P90 plume footprints and the places they reach, with ETA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r h="347472">
                <a:tc>
                  <a:txBody>
                    <a:bodyPr/>
                    <a:lstStyle/>
                    <a:p>
                      <a:pPr algn="l">
                        <a:spcAft>
                          <a:spcPts val="0"/>
                        </a:spcAft>
                      </a:pPr>
                      <a:r>
                        <a:rPr sz="1200" b="0" i="0">
                          <a:solidFill>
                            <a:srgbClr val="1F2937"/>
                          </a:solidFill>
                          <a:latin typeface="Calibri"/>
                        </a:rPr>
                        <a:t>Model fields can look like measurements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200" b="0" i="0">
                          <a:solidFill>
                            <a:srgbClr val="1F2937"/>
                          </a:solidFill>
                          <a:latin typeface="Calibri"/>
                        </a:rPr>
                        <a:t>Every value labelled measured, model-derived, predicted, simulated …</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II. PROBLEM DEFINITION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Problem Statement and Objectives</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5 / 18</a:t>
            </a:r>
          </a:p>
        </p:txBody>
      </p:sp>
      <p:sp>
        <p:nvSpPr>
          <p:cNvPr id="8" name="Rounded Rectangle 7"/>
          <p:cNvSpPr/>
          <p:nvPr/>
        </p:nvSpPr>
        <p:spPr>
          <a:xfrm>
            <a:off x="502920" y="1280160"/>
            <a:ext cx="4206240" cy="3246120"/>
          </a:xfrm>
          <a:prstGeom prst="roundRect">
            <a:avLst>
              <a:gd name="adj" fmla="val 3380"/>
            </a:avLst>
          </a:prstGeom>
          <a:solidFill>
            <a:srgbClr val="F2F5F8"/>
          </a:solidFill>
          <a:ln w="12700">
            <a:solidFill>
              <a:srgbClr val="E5E7EB"/>
            </a:solidFill>
          </a:ln>
          <a:effectLst/>
        </p:spPr>
        <p:txBody>
          <a:bodyPr wrap="square" lIns="164592" tIns="164592" rIns="164592" bIns="164592" rtlCol="0" anchor="t"/>
          <a:lstStyle/>
          <a:p>
            <a:pPr algn="l">
              <a:spcAft>
                <a:spcPts val="400"/>
              </a:spcAft>
            </a:pPr>
            <a:r>
              <a:rPr sz="1500" b="1" i="0">
                <a:solidFill>
                  <a:srgbClr val="002855"/>
                </a:solidFill>
                <a:latin typeface="Times New Roman"/>
              </a:rPr>
              <a:t>Problem statement</a:t>
            </a:r>
          </a:p>
          <a:p>
            <a:pPr algn="l">
              <a:spcAft>
                <a:spcPts val="400"/>
              </a:spcAft>
            </a:pPr>
            <a:r>
              <a:rPr sz="1300" b="0" i="0">
                <a:solidFill>
                  <a:srgbClr val="1F2937"/>
                </a:solidFill>
                <a:latin typeface="Calibri"/>
              </a:rPr>
              <a:t>Given heterogeneous and partially available observations — ground stations, satellite fire detections, a satellite aerosol index and numerical weather forecasts — produce, for every ~1 km cell and every 15-minute cycle, an explainable picture of current PM2.5, where elevated air is coming from, where it will travel, and which places it will reach, labelled with its provenance and model version.</a:t>
            </a:r>
          </a:p>
        </p:txBody>
      </p:sp>
      <p:sp>
        <p:nvSpPr>
          <p:cNvPr id="9" name="Rounded Rectangle 8"/>
          <p:cNvSpPr/>
          <p:nvPr/>
        </p:nvSpPr>
        <p:spPr>
          <a:xfrm>
            <a:off x="4983480" y="1280160"/>
            <a:ext cx="685800" cy="566928"/>
          </a:xfrm>
          <a:prstGeom prst="roundRect">
            <a:avLst>
              <a:gd name="adj" fmla="val 19354"/>
            </a:avLst>
          </a:prstGeom>
          <a:solidFill>
            <a:srgbClr val="00629B"/>
          </a:solidFill>
          <a:ln>
            <a:noFill/>
          </a:ln>
          <a:effectLst/>
        </p:spPr>
        <p:txBody>
          <a:bodyPr wrap="square" lIns="54864" tIns="54864" rIns="54864" bIns="54864" rtlCol="0" anchor="ctr"/>
          <a:lstStyle/>
          <a:p>
            <a:pPr algn="ctr">
              <a:spcAft>
                <a:spcPts val="400"/>
              </a:spcAft>
            </a:pPr>
            <a:r>
              <a:rPr sz="1500" b="1" i="0">
                <a:solidFill>
                  <a:srgbClr val="FFFFFF"/>
                </a:solidFill>
                <a:latin typeface="Calibri"/>
              </a:rPr>
              <a:t>O1</a:t>
            </a:r>
          </a:p>
        </p:txBody>
      </p:sp>
      <p:sp>
        <p:nvSpPr>
          <p:cNvPr id="10" name="Rounded Rectangle 9"/>
          <p:cNvSpPr/>
          <p:nvPr/>
        </p:nvSpPr>
        <p:spPr>
          <a:xfrm>
            <a:off x="5733288" y="1280160"/>
            <a:ext cx="5955487" cy="566928"/>
          </a:xfrm>
          <a:prstGeom prst="roundRect">
            <a:avLst>
              <a:gd name="adj" fmla="val 19354"/>
            </a:avLst>
          </a:prstGeom>
          <a:solidFill>
            <a:srgbClr val="FFFFFF"/>
          </a:solidFill>
          <a:ln w="12700">
            <a:solidFill>
              <a:srgbClr val="E5E7EB"/>
            </a:solidFill>
          </a:ln>
          <a:effectLst/>
        </p:spPr>
        <p:txBody>
          <a:bodyPr wrap="square" lIns="109728" tIns="109728" rIns="109728" bIns="109728" rtlCol="0" anchor="ctr"/>
          <a:lstStyle/>
          <a:p>
            <a:pPr algn="l">
              <a:spcAft>
                <a:spcPts val="400"/>
              </a:spcAft>
            </a:pPr>
            <a:r>
              <a:rPr sz="1250" b="1" i="0">
                <a:solidFill>
                  <a:srgbClr val="1F2937"/>
                </a:solidFill>
                <a:latin typeface="Calibri"/>
              </a:rPr>
              <a:t>Now</a:t>
            </a:r>
            <a:r>
              <a:rPr sz="1250" b="0" i="0">
                <a:solidFill>
                  <a:srgbClr val="1F2937"/>
                </a:solidFill>
                <a:latin typeface="Calibri"/>
              </a:rPr>
              <a:t>  PM2.5 on each cell — ground stations first, model fields only where needed</a:t>
            </a:r>
          </a:p>
        </p:txBody>
      </p:sp>
      <p:sp>
        <p:nvSpPr>
          <p:cNvPr id="11" name="Rounded Rectangle 10"/>
          <p:cNvSpPr/>
          <p:nvPr/>
        </p:nvSpPr>
        <p:spPr>
          <a:xfrm>
            <a:off x="4983480" y="1947672"/>
            <a:ext cx="685800" cy="566928"/>
          </a:xfrm>
          <a:prstGeom prst="roundRect">
            <a:avLst>
              <a:gd name="adj" fmla="val 19354"/>
            </a:avLst>
          </a:prstGeom>
          <a:solidFill>
            <a:srgbClr val="00629B"/>
          </a:solidFill>
          <a:ln>
            <a:noFill/>
          </a:ln>
          <a:effectLst/>
        </p:spPr>
        <p:txBody>
          <a:bodyPr wrap="square" lIns="54864" tIns="54864" rIns="54864" bIns="54864" rtlCol="0" anchor="ctr"/>
          <a:lstStyle/>
          <a:p>
            <a:pPr algn="ctr">
              <a:spcAft>
                <a:spcPts val="400"/>
              </a:spcAft>
            </a:pPr>
            <a:r>
              <a:rPr sz="1500" b="1" i="0">
                <a:solidFill>
                  <a:srgbClr val="FFFFFF"/>
                </a:solidFill>
                <a:latin typeface="Calibri"/>
              </a:rPr>
              <a:t>O2</a:t>
            </a:r>
          </a:p>
        </p:txBody>
      </p:sp>
      <p:sp>
        <p:nvSpPr>
          <p:cNvPr id="12" name="Rounded Rectangle 11"/>
          <p:cNvSpPr/>
          <p:nvPr/>
        </p:nvSpPr>
        <p:spPr>
          <a:xfrm>
            <a:off x="5733288" y="1947672"/>
            <a:ext cx="5955487" cy="566928"/>
          </a:xfrm>
          <a:prstGeom prst="roundRect">
            <a:avLst>
              <a:gd name="adj" fmla="val 19354"/>
            </a:avLst>
          </a:prstGeom>
          <a:solidFill>
            <a:srgbClr val="FFFFFF"/>
          </a:solidFill>
          <a:ln w="12700">
            <a:solidFill>
              <a:srgbClr val="E5E7EB"/>
            </a:solidFill>
          </a:ln>
          <a:effectLst/>
        </p:spPr>
        <p:txBody>
          <a:bodyPr wrap="square" lIns="109728" tIns="109728" rIns="109728" bIns="109728" rtlCol="0" anchor="ctr"/>
          <a:lstStyle/>
          <a:p>
            <a:pPr algn="l">
              <a:spcAft>
                <a:spcPts val="400"/>
              </a:spcAft>
            </a:pPr>
            <a:r>
              <a:rPr sz="1250" b="1" i="0">
                <a:solidFill>
                  <a:srgbClr val="1F2937"/>
                </a:solidFill>
                <a:latin typeface="Calibri"/>
              </a:rPr>
              <a:t>Unusual?</a:t>
            </a:r>
            <a:r>
              <a:rPr sz="1250" b="0" i="0">
                <a:solidFill>
                  <a:srgbClr val="1F2937"/>
                </a:solidFill>
                <a:latin typeface="Calibri"/>
              </a:rPr>
              <a:t>  Is this hour anomalous for this place against its own history?</a:t>
            </a:r>
          </a:p>
        </p:txBody>
      </p:sp>
      <p:sp>
        <p:nvSpPr>
          <p:cNvPr id="13" name="Rounded Rectangle 12"/>
          <p:cNvSpPr/>
          <p:nvPr/>
        </p:nvSpPr>
        <p:spPr>
          <a:xfrm>
            <a:off x="4983480" y="2615184"/>
            <a:ext cx="685800" cy="566928"/>
          </a:xfrm>
          <a:prstGeom prst="roundRect">
            <a:avLst>
              <a:gd name="adj" fmla="val 19354"/>
            </a:avLst>
          </a:prstGeom>
          <a:solidFill>
            <a:srgbClr val="00629B"/>
          </a:solidFill>
          <a:ln>
            <a:noFill/>
          </a:ln>
          <a:effectLst/>
        </p:spPr>
        <p:txBody>
          <a:bodyPr wrap="square" lIns="54864" tIns="54864" rIns="54864" bIns="54864" rtlCol="0" anchor="ctr"/>
          <a:lstStyle/>
          <a:p>
            <a:pPr algn="ctr">
              <a:spcAft>
                <a:spcPts val="400"/>
              </a:spcAft>
            </a:pPr>
            <a:r>
              <a:rPr sz="1500" b="1" i="0">
                <a:solidFill>
                  <a:srgbClr val="FFFFFF"/>
                </a:solidFill>
                <a:latin typeface="Calibri"/>
              </a:rPr>
              <a:t>O3</a:t>
            </a:r>
          </a:p>
        </p:txBody>
      </p:sp>
      <p:sp>
        <p:nvSpPr>
          <p:cNvPr id="14" name="Rounded Rectangle 13"/>
          <p:cNvSpPr/>
          <p:nvPr/>
        </p:nvSpPr>
        <p:spPr>
          <a:xfrm>
            <a:off x="5733288" y="2615184"/>
            <a:ext cx="5955487" cy="566928"/>
          </a:xfrm>
          <a:prstGeom prst="roundRect">
            <a:avLst>
              <a:gd name="adj" fmla="val 19354"/>
            </a:avLst>
          </a:prstGeom>
          <a:solidFill>
            <a:srgbClr val="FFFFFF"/>
          </a:solidFill>
          <a:ln w="12700">
            <a:solidFill>
              <a:srgbClr val="E5E7EB"/>
            </a:solidFill>
          </a:ln>
          <a:effectLst/>
        </p:spPr>
        <p:txBody>
          <a:bodyPr wrap="square" lIns="109728" tIns="109728" rIns="109728" bIns="109728" rtlCol="0" anchor="ctr"/>
          <a:lstStyle/>
          <a:p>
            <a:pPr algn="l">
              <a:spcAft>
                <a:spcPts val="400"/>
              </a:spcAft>
            </a:pPr>
            <a:r>
              <a:rPr sz="1250" b="1" i="0">
                <a:solidFill>
                  <a:srgbClr val="1F2937"/>
                </a:solidFill>
                <a:latin typeface="Calibri"/>
              </a:rPr>
              <a:t>Where from?</a:t>
            </a:r>
            <a:r>
              <a:rPr sz="1250" b="0" i="0">
                <a:solidFill>
                  <a:srgbClr val="1F2937"/>
                </a:solidFill>
                <a:latin typeface="Calibri"/>
              </a:rPr>
              <a:t>  Which source is plausible — a ranked list with evidence, never a percentage</a:t>
            </a:r>
          </a:p>
        </p:txBody>
      </p:sp>
      <p:sp>
        <p:nvSpPr>
          <p:cNvPr id="15" name="Rounded Rectangle 14"/>
          <p:cNvSpPr/>
          <p:nvPr/>
        </p:nvSpPr>
        <p:spPr>
          <a:xfrm>
            <a:off x="4983480" y="3282696"/>
            <a:ext cx="685800" cy="566928"/>
          </a:xfrm>
          <a:prstGeom prst="roundRect">
            <a:avLst>
              <a:gd name="adj" fmla="val 19354"/>
            </a:avLst>
          </a:prstGeom>
          <a:solidFill>
            <a:srgbClr val="00629B"/>
          </a:solidFill>
          <a:ln>
            <a:noFill/>
          </a:ln>
          <a:effectLst/>
        </p:spPr>
        <p:txBody>
          <a:bodyPr wrap="square" lIns="54864" tIns="54864" rIns="54864" bIns="54864" rtlCol="0" anchor="ctr"/>
          <a:lstStyle/>
          <a:p>
            <a:pPr algn="ctr">
              <a:spcAft>
                <a:spcPts val="400"/>
              </a:spcAft>
            </a:pPr>
            <a:r>
              <a:rPr sz="1500" b="1" i="0">
                <a:solidFill>
                  <a:srgbClr val="FFFFFF"/>
                </a:solidFill>
                <a:latin typeface="Calibri"/>
              </a:rPr>
              <a:t>O4</a:t>
            </a:r>
          </a:p>
        </p:txBody>
      </p:sp>
      <p:sp>
        <p:nvSpPr>
          <p:cNvPr id="16" name="Rounded Rectangle 15"/>
          <p:cNvSpPr/>
          <p:nvPr/>
        </p:nvSpPr>
        <p:spPr>
          <a:xfrm>
            <a:off x="5733288" y="3282696"/>
            <a:ext cx="5955487" cy="566928"/>
          </a:xfrm>
          <a:prstGeom prst="roundRect">
            <a:avLst>
              <a:gd name="adj" fmla="val 19354"/>
            </a:avLst>
          </a:prstGeom>
          <a:solidFill>
            <a:srgbClr val="FFFFFF"/>
          </a:solidFill>
          <a:ln w="12700">
            <a:solidFill>
              <a:srgbClr val="E5E7EB"/>
            </a:solidFill>
          </a:ln>
          <a:effectLst/>
        </p:spPr>
        <p:txBody>
          <a:bodyPr wrap="square" lIns="109728" tIns="109728" rIns="109728" bIns="109728" rtlCol="0" anchor="ctr"/>
          <a:lstStyle/>
          <a:p>
            <a:pPr algn="l">
              <a:spcAft>
                <a:spcPts val="400"/>
              </a:spcAft>
            </a:pPr>
            <a:r>
              <a:rPr sz="1250" b="1" i="0">
                <a:solidFill>
                  <a:srgbClr val="1F2937"/>
                </a:solidFill>
                <a:latin typeface="Calibri"/>
              </a:rPr>
              <a:t>Where next?</a:t>
            </a:r>
            <a:r>
              <a:rPr sz="1250" b="0" i="0">
                <a:solidFill>
                  <a:srgbClr val="1F2937"/>
                </a:solidFill>
                <a:latin typeface="Calibri"/>
              </a:rPr>
              <a:t>  Where the smoke travels in the next hours, with P50 / P90 uncertainty</a:t>
            </a:r>
          </a:p>
        </p:txBody>
      </p:sp>
      <p:sp>
        <p:nvSpPr>
          <p:cNvPr id="17" name="Rounded Rectangle 16"/>
          <p:cNvSpPr/>
          <p:nvPr/>
        </p:nvSpPr>
        <p:spPr>
          <a:xfrm>
            <a:off x="4983480" y="3950208"/>
            <a:ext cx="685800" cy="566928"/>
          </a:xfrm>
          <a:prstGeom prst="roundRect">
            <a:avLst>
              <a:gd name="adj" fmla="val 19354"/>
            </a:avLst>
          </a:prstGeom>
          <a:solidFill>
            <a:srgbClr val="00629B"/>
          </a:solidFill>
          <a:ln>
            <a:noFill/>
          </a:ln>
          <a:effectLst/>
        </p:spPr>
        <p:txBody>
          <a:bodyPr wrap="square" lIns="54864" tIns="54864" rIns="54864" bIns="54864" rtlCol="0" anchor="ctr"/>
          <a:lstStyle/>
          <a:p>
            <a:pPr algn="ctr">
              <a:spcAft>
                <a:spcPts val="400"/>
              </a:spcAft>
            </a:pPr>
            <a:r>
              <a:rPr sz="1500" b="1" i="0">
                <a:solidFill>
                  <a:srgbClr val="FFFFFF"/>
                </a:solidFill>
                <a:latin typeface="Calibri"/>
              </a:rPr>
              <a:t>O5</a:t>
            </a:r>
          </a:p>
        </p:txBody>
      </p:sp>
      <p:sp>
        <p:nvSpPr>
          <p:cNvPr id="18" name="Rounded Rectangle 17"/>
          <p:cNvSpPr/>
          <p:nvPr/>
        </p:nvSpPr>
        <p:spPr>
          <a:xfrm>
            <a:off x="5733288" y="3950208"/>
            <a:ext cx="5955487" cy="566928"/>
          </a:xfrm>
          <a:prstGeom prst="roundRect">
            <a:avLst>
              <a:gd name="adj" fmla="val 19354"/>
            </a:avLst>
          </a:prstGeom>
          <a:solidFill>
            <a:srgbClr val="FFFFFF"/>
          </a:solidFill>
          <a:ln w="12700">
            <a:solidFill>
              <a:srgbClr val="E5E7EB"/>
            </a:solidFill>
          </a:ln>
          <a:effectLst/>
        </p:spPr>
        <p:txBody>
          <a:bodyPr wrap="square" lIns="109728" tIns="109728" rIns="109728" bIns="109728" rtlCol="0" anchor="ctr"/>
          <a:lstStyle/>
          <a:p>
            <a:pPr algn="l">
              <a:spcAft>
                <a:spcPts val="400"/>
              </a:spcAft>
            </a:pPr>
            <a:r>
              <a:rPr sz="1250" b="1" i="0">
                <a:solidFill>
                  <a:srgbClr val="1F2937"/>
                </a:solidFill>
                <a:latin typeface="Calibri"/>
              </a:rPr>
              <a:t>Who?</a:t>
            </a:r>
            <a:r>
              <a:rPr sz="1250" b="0" i="0">
                <a:solidFill>
                  <a:srgbClr val="1F2937"/>
                </a:solidFill>
                <a:latin typeface="Calibri"/>
              </a:rPr>
              <a:t>  Which towns are in the path, and when the smoke is expected to arrive</a:t>
            </a:r>
          </a:p>
        </p:txBody>
      </p:sp>
      <p:sp>
        <p:nvSpPr>
          <p:cNvPr id="19" name="TextBox 18"/>
          <p:cNvSpPr txBox="1"/>
          <p:nvPr/>
        </p:nvSpPr>
        <p:spPr>
          <a:xfrm>
            <a:off x="502920" y="4754880"/>
            <a:ext cx="11185855" cy="320040"/>
          </a:xfrm>
          <a:prstGeom prst="rect">
            <a:avLst/>
          </a:prstGeom>
          <a:noFill/>
        </p:spPr>
        <p:txBody>
          <a:bodyPr wrap="square" lIns="36576" tIns="36576" rIns="36576" bIns="36576" anchor="t">
            <a:spAutoFit/>
          </a:bodyPr>
          <a:lstStyle/>
          <a:p>
            <a:pPr algn="l">
              <a:spcAft>
                <a:spcPts val="400"/>
              </a:spcAft>
            </a:pPr>
            <a:r>
              <a:rPr sz="1400" b="1" i="0">
                <a:solidFill>
                  <a:srgbClr val="002855"/>
                </a:solidFill>
                <a:latin typeface="Times New Roman"/>
              </a:rPr>
              <a:t>Design constraints</a:t>
            </a:r>
          </a:p>
        </p:txBody>
      </p:sp>
      <p:sp>
        <p:nvSpPr>
          <p:cNvPr id="20" name="Rounded Rectangle 19"/>
          <p:cNvSpPr/>
          <p:nvPr/>
        </p:nvSpPr>
        <p:spPr>
          <a:xfrm>
            <a:off x="502920" y="5120640"/>
            <a:ext cx="2693593" cy="731520"/>
          </a:xfrm>
          <a:prstGeom prst="roundRect">
            <a:avLst>
              <a:gd name="adj" fmla="val 15000"/>
            </a:avLst>
          </a:prstGeom>
          <a:solidFill>
            <a:srgbClr val="FEF3C7"/>
          </a:solidFill>
          <a:ln w="12700">
            <a:solidFill>
              <a:srgbClr val="B45309"/>
            </a:solidFill>
          </a:ln>
          <a:effectLst/>
        </p:spPr>
        <p:txBody>
          <a:bodyPr wrap="square" lIns="54864" tIns="54864" rIns="54864" bIns="54864" rtlCol="0" anchor="ctr"/>
          <a:lstStyle/>
          <a:p>
            <a:pPr algn="ctr">
              <a:spcAft>
                <a:spcPts val="400"/>
              </a:spcAft>
            </a:pPr>
            <a:r>
              <a:rPr sz="1150" b="0" i="0">
                <a:solidFill>
                  <a:srgbClr val="1F2937"/>
                </a:solidFill>
                <a:latin typeface="Calibri"/>
              </a:rPr>
              <a:t>No invented numbers — every figure comes from data or a tool</a:t>
            </a:r>
          </a:p>
        </p:txBody>
      </p:sp>
      <p:sp>
        <p:nvSpPr>
          <p:cNvPr id="21" name="Rounded Rectangle 20"/>
          <p:cNvSpPr/>
          <p:nvPr/>
        </p:nvSpPr>
        <p:spPr>
          <a:xfrm>
            <a:off x="3333673" y="5120640"/>
            <a:ext cx="2693593" cy="731520"/>
          </a:xfrm>
          <a:prstGeom prst="roundRect">
            <a:avLst>
              <a:gd name="adj" fmla="val 15000"/>
            </a:avLst>
          </a:prstGeom>
          <a:solidFill>
            <a:srgbClr val="FEF3C7"/>
          </a:solidFill>
          <a:ln w="12700">
            <a:solidFill>
              <a:srgbClr val="B45309"/>
            </a:solidFill>
          </a:ln>
          <a:effectLst/>
        </p:spPr>
        <p:txBody>
          <a:bodyPr wrap="square" lIns="54864" tIns="54864" rIns="54864" bIns="54864" rtlCol="0" anchor="ctr"/>
          <a:lstStyle/>
          <a:p>
            <a:pPr algn="ctr">
              <a:spcAft>
                <a:spcPts val="400"/>
              </a:spcAft>
            </a:pPr>
            <a:r>
              <a:rPr sz="1150" b="0" i="0">
                <a:solidFill>
                  <a:srgbClr val="1F2937"/>
                </a:solidFill>
                <a:latin typeface="Calibri"/>
              </a:rPr>
              <a:t>Official AQI scale of each region, from its region pack</a:t>
            </a:r>
          </a:p>
        </p:txBody>
      </p:sp>
      <p:sp>
        <p:nvSpPr>
          <p:cNvPr id="22" name="Rounded Rectangle 21"/>
          <p:cNvSpPr/>
          <p:nvPr/>
        </p:nvSpPr>
        <p:spPr>
          <a:xfrm>
            <a:off x="6164427" y="5120640"/>
            <a:ext cx="2693593" cy="731520"/>
          </a:xfrm>
          <a:prstGeom prst="roundRect">
            <a:avLst>
              <a:gd name="adj" fmla="val 15000"/>
            </a:avLst>
          </a:prstGeom>
          <a:solidFill>
            <a:srgbClr val="FEF3C7"/>
          </a:solidFill>
          <a:ln w="12700">
            <a:solidFill>
              <a:srgbClr val="B45309"/>
            </a:solidFill>
          </a:ln>
          <a:effectLst/>
        </p:spPr>
        <p:txBody>
          <a:bodyPr wrap="square" lIns="54864" tIns="54864" rIns="54864" bIns="54864" rtlCol="0" anchor="ctr"/>
          <a:lstStyle/>
          <a:p>
            <a:pPr algn="ctr">
              <a:spcAft>
                <a:spcPts val="400"/>
              </a:spcAft>
            </a:pPr>
            <a:r>
              <a:rPr sz="1150" b="0" i="0">
                <a:solidFill>
                  <a:srgbClr val="1F2937"/>
                </a:solidFill>
                <a:latin typeface="Calibri"/>
              </a:rPr>
              <a:t>No language model on detection, forecast, plume or events</a:t>
            </a:r>
          </a:p>
        </p:txBody>
      </p:sp>
      <p:sp>
        <p:nvSpPr>
          <p:cNvPr id="23" name="Rounded Rectangle 22"/>
          <p:cNvSpPr/>
          <p:nvPr/>
        </p:nvSpPr>
        <p:spPr>
          <a:xfrm>
            <a:off x="8995181" y="5120640"/>
            <a:ext cx="2693593" cy="731520"/>
          </a:xfrm>
          <a:prstGeom prst="roundRect">
            <a:avLst>
              <a:gd name="adj" fmla="val 15000"/>
            </a:avLst>
          </a:prstGeom>
          <a:solidFill>
            <a:srgbClr val="FEF3C7"/>
          </a:solidFill>
          <a:ln w="12700">
            <a:solidFill>
              <a:srgbClr val="B45309"/>
            </a:solidFill>
          </a:ln>
          <a:effectLst/>
        </p:spPr>
        <p:txBody>
          <a:bodyPr wrap="square" lIns="54864" tIns="54864" rIns="54864" bIns="54864" rtlCol="0" anchor="ctr"/>
          <a:lstStyle/>
          <a:p>
            <a:pPr algn="ctr">
              <a:spcAft>
                <a:spcPts val="400"/>
              </a:spcAft>
            </a:pPr>
            <a:r>
              <a:rPr sz="1150" b="0" i="0">
                <a:solidFill>
                  <a:srgbClr val="1F2937"/>
                </a:solidFill>
                <a:latin typeface="Calibri"/>
              </a:rPr>
              <a:t>A missing feed reports “not configured”, never fake data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III. PROPOSED SOLUTION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Proposed Solution: Observe → Understand → Predict → Reason → Act</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6 / 18</a:t>
            </a:r>
          </a:p>
        </p:txBody>
      </p:sp>
      <p:sp>
        <p:nvSpPr>
          <p:cNvPr id="8" name="Pentagon 7"/>
          <p:cNvSpPr/>
          <p:nvPr/>
        </p:nvSpPr>
        <p:spPr>
          <a:xfrm>
            <a:off x="502920" y="1325880"/>
            <a:ext cx="2149388" cy="685800"/>
          </a:xfrm>
          <a:prstGeom prst="homePlate">
            <a:avLst>
              <a:gd name="adj" fmla="val 28000"/>
            </a:avLst>
          </a:prstGeom>
          <a:solidFill>
            <a:srgbClr val="0E7490"/>
          </a:solidFill>
          <a:ln>
            <a:noFill/>
          </a:ln>
          <a:effectLst/>
        </p:spPr>
        <p:txBody>
          <a:bodyPr wrap="square" lIns="54864" tIns="54864" rIns="54864" bIns="54864" rtlCol="0" anchor="ctr"/>
          <a:lstStyle/>
          <a:p>
            <a:pPr algn="ctr">
              <a:spcAft>
                <a:spcPts val="400"/>
              </a:spcAft>
            </a:pPr>
            <a:r>
              <a:rPr sz="1600" b="1" i="0">
                <a:solidFill>
                  <a:srgbClr val="FFFFFF"/>
                </a:solidFill>
                <a:latin typeface="Calibri"/>
              </a:rPr>
              <a:t>Observe</a:t>
            </a:r>
          </a:p>
        </p:txBody>
      </p:sp>
      <p:sp>
        <p:nvSpPr>
          <p:cNvPr id="9" name="Rounded Rectangle 8"/>
          <p:cNvSpPr/>
          <p:nvPr/>
        </p:nvSpPr>
        <p:spPr>
          <a:xfrm>
            <a:off x="502920" y="2121408"/>
            <a:ext cx="2057948" cy="2148840"/>
          </a:xfrm>
          <a:prstGeom prst="roundRect">
            <a:avLst>
              <a:gd name="adj" fmla="val 3554"/>
            </a:avLst>
          </a:prstGeom>
          <a:solidFill>
            <a:srgbClr val="CFFAFE"/>
          </a:solidFill>
          <a:ln>
            <a:noFill/>
          </a:ln>
          <a:effectLst/>
        </p:spPr>
        <p:txBody>
          <a:bodyPr wrap="square" lIns="54864" tIns="54864" rIns="54864" bIns="54864" rtlCol="0" anchor="ctr"/>
          <a:lstStyle/>
          <a:p>
            <a:pPr algn="ctr"/>
            <a:endParaRPr/>
          </a:p>
        </p:txBody>
      </p:sp>
      <p:sp>
        <p:nvSpPr>
          <p:cNvPr id="10" name="TextBox 9"/>
          <p:cNvSpPr txBox="1"/>
          <p:nvPr/>
        </p:nvSpPr>
        <p:spPr>
          <a:xfrm>
            <a:off x="576072" y="2212848"/>
            <a:ext cx="1911644" cy="2011680"/>
          </a:xfrm>
          <a:prstGeom prst="rect">
            <a:avLst/>
          </a:prstGeom>
          <a:noFill/>
        </p:spPr>
        <p:txBody>
          <a:bodyPr wrap="square" lIns="36576" tIns="36576" rIns="36576" bIns="36576" anchor="t">
            <a:spAutoFit/>
          </a:bodyPr>
          <a:lstStyle/>
          <a:p>
            <a:pPr marL="167640" indent="-167640" algn="l">
              <a:spcAft>
                <a:spcPts val="500"/>
              </a:spcAft>
              <a:buClr>
                <a:srgbClr val="0E7490"/>
              </a:buClr>
              <a:buFont typeface="Arial"/>
              <a:buChar char="•"/>
            </a:pPr>
            <a:r>
              <a:rPr sz="1200" b="0" i="0">
                <a:solidFill>
                  <a:srgbClr val="1F2937"/>
                </a:solidFill>
                <a:latin typeface="Calibri"/>
              </a:rPr>
              <a:t>Stations (OpenAQ, NEA, CPCB)</a:t>
            </a:r>
          </a:p>
          <a:p>
            <a:pPr marL="167640" indent="-167640" algn="l">
              <a:spcAft>
                <a:spcPts val="500"/>
              </a:spcAft>
              <a:buClr>
                <a:srgbClr val="0E7490"/>
              </a:buClr>
              <a:buFont typeface="Arial"/>
              <a:buChar char="•"/>
            </a:pPr>
            <a:r>
              <a:rPr sz="1200" b="0" i="0">
                <a:solidFill>
                  <a:srgbClr val="1F2937"/>
                </a:solidFill>
                <a:latin typeface="Calibri"/>
              </a:rPr>
              <a:t>NASA FIRMS fires</a:t>
            </a:r>
          </a:p>
          <a:p>
            <a:pPr marL="167640" indent="-167640" algn="l">
              <a:spcAft>
                <a:spcPts val="500"/>
              </a:spcAft>
              <a:buClr>
                <a:srgbClr val="0E7490"/>
              </a:buClr>
              <a:buFont typeface="Arial"/>
              <a:buChar char="•"/>
            </a:pPr>
            <a:r>
              <a:rPr sz="1200" b="0" i="0">
                <a:solidFill>
                  <a:srgbClr val="1F2937"/>
                </a:solidFill>
                <a:latin typeface="Calibri"/>
              </a:rPr>
              <a:t>Open-Meteo weather + CAMS</a:t>
            </a:r>
          </a:p>
          <a:p>
            <a:pPr marL="167640" indent="-167640" algn="l">
              <a:spcAft>
                <a:spcPts val="500"/>
              </a:spcAft>
              <a:buClr>
                <a:srgbClr val="0E7490"/>
              </a:buClr>
              <a:buFont typeface="Arial"/>
              <a:buChar char="•"/>
            </a:pPr>
            <a:r>
              <a:rPr sz="1200" b="0" i="0">
                <a:solidFill>
                  <a:srgbClr val="1F2937"/>
                </a:solidFill>
                <a:latin typeface="Calibri"/>
              </a:rPr>
              <a:t>Sentinel-5P aerosol index</a:t>
            </a:r>
          </a:p>
        </p:txBody>
      </p:sp>
      <p:sp>
        <p:nvSpPr>
          <p:cNvPr id="11" name="Chevron 10"/>
          <p:cNvSpPr/>
          <p:nvPr/>
        </p:nvSpPr>
        <p:spPr>
          <a:xfrm>
            <a:off x="2762036" y="1325880"/>
            <a:ext cx="2149388" cy="685800"/>
          </a:xfrm>
          <a:prstGeom prst="chevron">
            <a:avLst>
              <a:gd name="adj" fmla="val 28000"/>
            </a:avLst>
          </a:prstGeom>
          <a:solidFill>
            <a:srgbClr val="00629B"/>
          </a:solidFill>
          <a:ln>
            <a:noFill/>
          </a:ln>
          <a:effectLst/>
        </p:spPr>
        <p:txBody>
          <a:bodyPr wrap="square" lIns="54864" tIns="54864" rIns="54864" bIns="54864" rtlCol="0" anchor="ctr"/>
          <a:lstStyle/>
          <a:p>
            <a:pPr algn="ctr">
              <a:spcAft>
                <a:spcPts val="400"/>
              </a:spcAft>
            </a:pPr>
            <a:r>
              <a:rPr sz="1600" b="1" i="0">
                <a:solidFill>
                  <a:srgbClr val="FFFFFF"/>
                </a:solidFill>
                <a:latin typeface="Calibri"/>
              </a:rPr>
              <a:t>Understand</a:t>
            </a:r>
          </a:p>
        </p:txBody>
      </p:sp>
      <p:sp>
        <p:nvSpPr>
          <p:cNvPr id="12" name="Rounded Rectangle 11"/>
          <p:cNvSpPr/>
          <p:nvPr/>
        </p:nvSpPr>
        <p:spPr>
          <a:xfrm>
            <a:off x="2762036" y="2121408"/>
            <a:ext cx="2057948" cy="2148840"/>
          </a:xfrm>
          <a:prstGeom prst="roundRect">
            <a:avLst>
              <a:gd name="adj" fmla="val 3554"/>
            </a:avLst>
          </a:prstGeom>
          <a:solidFill>
            <a:srgbClr val="E0EEF6"/>
          </a:solidFill>
          <a:ln>
            <a:noFill/>
          </a:ln>
          <a:effectLst/>
        </p:spPr>
        <p:txBody>
          <a:bodyPr wrap="square" lIns="54864" tIns="54864" rIns="54864" bIns="54864" rtlCol="0" anchor="ctr"/>
          <a:lstStyle/>
          <a:p>
            <a:pPr algn="ctr"/>
            <a:endParaRPr/>
          </a:p>
        </p:txBody>
      </p:sp>
      <p:sp>
        <p:nvSpPr>
          <p:cNvPr id="13" name="TextBox 12"/>
          <p:cNvSpPr txBox="1"/>
          <p:nvPr/>
        </p:nvSpPr>
        <p:spPr>
          <a:xfrm>
            <a:off x="2835188" y="2212848"/>
            <a:ext cx="1911644" cy="2011680"/>
          </a:xfrm>
          <a:prstGeom prst="rect">
            <a:avLst/>
          </a:prstGeom>
          <a:noFill/>
        </p:spPr>
        <p:txBody>
          <a:bodyPr wrap="square" lIns="36576" tIns="36576" rIns="36576" bIns="36576" anchor="t">
            <a:spAutoFit/>
          </a:bodyPr>
          <a:lstStyle/>
          <a:p>
            <a:pPr marL="167640" indent="-167640" algn="l">
              <a:spcAft>
                <a:spcPts val="500"/>
              </a:spcAft>
              <a:buClr>
                <a:srgbClr val="00629B"/>
              </a:buClr>
              <a:buFont typeface="Arial"/>
              <a:buChar char="•"/>
            </a:pPr>
            <a:r>
              <a:rPr sz="1200" b="0" i="0">
                <a:solidFill>
                  <a:srgbClr val="1F2937"/>
                </a:solidFill>
                <a:latin typeface="Calibri"/>
              </a:rPr>
              <a:t>Normalize to shared contracts</a:t>
            </a:r>
          </a:p>
          <a:p>
            <a:pPr marL="167640" indent="-167640" algn="l">
              <a:spcAft>
                <a:spcPts val="500"/>
              </a:spcAft>
              <a:buClr>
                <a:srgbClr val="00629B"/>
              </a:buClr>
              <a:buFont typeface="Arial"/>
              <a:buChar char="•"/>
            </a:pPr>
            <a:r>
              <a:rPr sz="1200" b="0" i="0">
                <a:solidFill>
                  <a:srgbClr val="1F2937"/>
                </a:solidFill>
                <a:latin typeface="Calibri"/>
              </a:rPr>
              <a:t>QC, dedup, H3 r8 cells</a:t>
            </a:r>
          </a:p>
          <a:p>
            <a:pPr marL="167640" indent="-167640" algn="l">
              <a:spcAft>
                <a:spcPts val="500"/>
              </a:spcAft>
              <a:buClr>
                <a:srgbClr val="00629B"/>
              </a:buClr>
              <a:buFont typeface="Arial"/>
              <a:buChar char="•"/>
            </a:pPr>
            <a:r>
              <a:rPr sz="1200" b="0" i="0">
                <a:solidFill>
                  <a:srgbClr val="1F2937"/>
                </a:solidFill>
                <a:latin typeface="Calibri"/>
              </a:rPr>
              <a:t>Anomaly rules</a:t>
            </a:r>
          </a:p>
          <a:p>
            <a:pPr marL="167640" indent="-167640" algn="l">
              <a:spcAft>
                <a:spcPts val="500"/>
              </a:spcAft>
              <a:buClr>
                <a:srgbClr val="00629B"/>
              </a:buClr>
              <a:buFont typeface="Arial"/>
              <a:buChar char="•"/>
            </a:pPr>
            <a:r>
              <a:rPr sz="1200" b="0" i="0">
                <a:solidFill>
                  <a:srgbClr val="1F2937"/>
                </a:solidFill>
                <a:latin typeface="Calibri"/>
              </a:rPr>
              <a:t>Pollution events</a:t>
            </a:r>
          </a:p>
        </p:txBody>
      </p:sp>
      <p:sp>
        <p:nvSpPr>
          <p:cNvPr id="14" name="Chevron 13"/>
          <p:cNvSpPr/>
          <p:nvPr/>
        </p:nvSpPr>
        <p:spPr>
          <a:xfrm>
            <a:off x="5021153" y="1325880"/>
            <a:ext cx="2149388" cy="685800"/>
          </a:xfrm>
          <a:prstGeom prst="chevron">
            <a:avLst>
              <a:gd name="adj" fmla="val 28000"/>
            </a:avLst>
          </a:prstGeom>
          <a:solidFill>
            <a:srgbClr val="047857"/>
          </a:solidFill>
          <a:ln>
            <a:noFill/>
          </a:ln>
          <a:effectLst/>
        </p:spPr>
        <p:txBody>
          <a:bodyPr wrap="square" lIns="54864" tIns="54864" rIns="54864" bIns="54864" rtlCol="0" anchor="ctr"/>
          <a:lstStyle/>
          <a:p>
            <a:pPr algn="ctr">
              <a:spcAft>
                <a:spcPts val="400"/>
              </a:spcAft>
            </a:pPr>
            <a:r>
              <a:rPr sz="1600" b="1" i="0">
                <a:solidFill>
                  <a:srgbClr val="FFFFFF"/>
                </a:solidFill>
                <a:latin typeface="Calibri"/>
              </a:rPr>
              <a:t>Predict</a:t>
            </a:r>
          </a:p>
        </p:txBody>
      </p:sp>
      <p:sp>
        <p:nvSpPr>
          <p:cNvPr id="15" name="Rounded Rectangle 14"/>
          <p:cNvSpPr/>
          <p:nvPr/>
        </p:nvSpPr>
        <p:spPr>
          <a:xfrm>
            <a:off x="5021153" y="2121408"/>
            <a:ext cx="2057948" cy="2148840"/>
          </a:xfrm>
          <a:prstGeom prst="roundRect">
            <a:avLst>
              <a:gd name="adj" fmla="val 3554"/>
            </a:avLst>
          </a:prstGeom>
          <a:solidFill>
            <a:srgbClr val="D1FAE5"/>
          </a:solidFill>
          <a:ln>
            <a:noFill/>
          </a:ln>
          <a:effectLst/>
        </p:spPr>
        <p:txBody>
          <a:bodyPr wrap="square" lIns="54864" tIns="54864" rIns="54864" bIns="54864" rtlCol="0" anchor="ctr"/>
          <a:lstStyle/>
          <a:p>
            <a:pPr algn="ctr"/>
            <a:endParaRPr/>
          </a:p>
        </p:txBody>
      </p:sp>
      <p:sp>
        <p:nvSpPr>
          <p:cNvPr id="16" name="TextBox 15"/>
          <p:cNvSpPr txBox="1"/>
          <p:nvPr/>
        </p:nvSpPr>
        <p:spPr>
          <a:xfrm>
            <a:off x="5094305" y="2212848"/>
            <a:ext cx="1911644" cy="2011680"/>
          </a:xfrm>
          <a:prstGeom prst="rect">
            <a:avLst/>
          </a:prstGeom>
          <a:noFill/>
        </p:spPr>
        <p:txBody>
          <a:bodyPr wrap="square" lIns="36576" tIns="36576" rIns="36576" bIns="36576" anchor="t">
            <a:spAutoFit/>
          </a:bodyPr>
          <a:lstStyle/>
          <a:p>
            <a:pPr marL="167640" indent="-167640" algn="l">
              <a:spcAft>
                <a:spcPts val="500"/>
              </a:spcAft>
              <a:buClr>
                <a:srgbClr val="047857"/>
              </a:buClr>
              <a:buFont typeface="Arial"/>
              <a:buChar char="•"/>
            </a:pPr>
            <a:r>
              <a:rPr sz="1200" b="0" i="0">
                <a:solidFill>
                  <a:srgbClr val="1F2937"/>
                </a:solidFill>
                <a:latin typeface="Calibri"/>
              </a:rPr>
              <a:t>Per-region PM2.5 forecast (P10/P50/P90)</a:t>
            </a:r>
          </a:p>
          <a:p>
            <a:pPr marL="167640" indent="-167640" algn="l">
              <a:spcAft>
                <a:spcPts val="500"/>
              </a:spcAft>
              <a:buClr>
                <a:srgbClr val="047857"/>
              </a:buClr>
              <a:buFont typeface="Arial"/>
              <a:buChar char="•"/>
            </a:pPr>
            <a:r>
              <a:rPr sz="1200" b="0" i="0">
                <a:solidFill>
                  <a:srgbClr val="1F2937"/>
                </a:solidFill>
                <a:latin typeface="Calibri"/>
              </a:rPr>
              <a:t>24 h hazard (calibrated where gated)</a:t>
            </a:r>
          </a:p>
          <a:p>
            <a:pPr marL="167640" indent="-167640" algn="l">
              <a:spcAft>
                <a:spcPts val="500"/>
              </a:spcAft>
              <a:buClr>
                <a:srgbClr val="047857"/>
              </a:buClr>
              <a:buFont typeface="Arial"/>
              <a:buChar char="•"/>
            </a:pPr>
            <a:r>
              <a:rPr sz="1200" b="0" i="0">
                <a:solidFill>
                  <a:srgbClr val="1F2937"/>
                </a:solidFill>
                <a:latin typeface="Calibri"/>
              </a:rPr>
              <a:t>Plume ensemble P50/P90</a:t>
            </a:r>
          </a:p>
        </p:txBody>
      </p:sp>
      <p:sp>
        <p:nvSpPr>
          <p:cNvPr id="17" name="Chevron 16"/>
          <p:cNvSpPr/>
          <p:nvPr/>
        </p:nvSpPr>
        <p:spPr>
          <a:xfrm>
            <a:off x="7280269" y="1325880"/>
            <a:ext cx="2149388" cy="685800"/>
          </a:xfrm>
          <a:prstGeom prst="chevron">
            <a:avLst>
              <a:gd name="adj" fmla="val 28000"/>
            </a:avLst>
          </a:prstGeom>
          <a:solidFill>
            <a:srgbClr val="B45309"/>
          </a:solidFill>
          <a:ln>
            <a:noFill/>
          </a:ln>
          <a:effectLst/>
        </p:spPr>
        <p:txBody>
          <a:bodyPr wrap="square" lIns="54864" tIns="54864" rIns="54864" bIns="54864" rtlCol="0" anchor="ctr"/>
          <a:lstStyle/>
          <a:p>
            <a:pPr algn="ctr">
              <a:spcAft>
                <a:spcPts val="400"/>
              </a:spcAft>
            </a:pPr>
            <a:r>
              <a:rPr sz="1600" b="1" i="0">
                <a:solidFill>
                  <a:srgbClr val="FFFFFF"/>
                </a:solidFill>
                <a:latin typeface="Calibri"/>
              </a:rPr>
              <a:t>Reason</a:t>
            </a:r>
          </a:p>
        </p:txBody>
      </p:sp>
      <p:sp>
        <p:nvSpPr>
          <p:cNvPr id="18" name="Rounded Rectangle 17"/>
          <p:cNvSpPr/>
          <p:nvPr/>
        </p:nvSpPr>
        <p:spPr>
          <a:xfrm>
            <a:off x="7280269" y="2121408"/>
            <a:ext cx="2057948" cy="2148840"/>
          </a:xfrm>
          <a:prstGeom prst="roundRect">
            <a:avLst>
              <a:gd name="adj" fmla="val 3554"/>
            </a:avLst>
          </a:prstGeom>
          <a:solidFill>
            <a:srgbClr val="FEF3C7"/>
          </a:solidFill>
          <a:ln>
            <a:noFill/>
          </a:ln>
          <a:effectLst/>
        </p:spPr>
        <p:txBody>
          <a:bodyPr wrap="square" lIns="54864" tIns="54864" rIns="54864" bIns="54864" rtlCol="0" anchor="ctr"/>
          <a:lstStyle/>
          <a:p>
            <a:pPr algn="ctr"/>
            <a:endParaRPr/>
          </a:p>
        </p:txBody>
      </p:sp>
      <p:sp>
        <p:nvSpPr>
          <p:cNvPr id="19" name="TextBox 18"/>
          <p:cNvSpPr txBox="1"/>
          <p:nvPr/>
        </p:nvSpPr>
        <p:spPr>
          <a:xfrm>
            <a:off x="7353421" y="2212848"/>
            <a:ext cx="1911644" cy="2011680"/>
          </a:xfrm>
          <a:prstGeom prst="rect">
            <a:avLst/>
          </a:prstGeom>
          <a:noFill/>
        </p:spPr>
        <p:txBody>
          <a:bodyPr wrap="square" lIns="36576" tIns="36576" rIns="36576" bIns="36576" anchor="t">
            <a:spAutoFit/>
          </a:bodyPr>
          <a:lstStyle/>
          <a:p>
            <a:pPr marL="167640" indent="-167640" algn="l">
              <a:spcAft>
                <a:spcPts val="500"/>
              </a:spcAft>
              <a:buClr>
                <a:srgbClr val="B45309"/>
              </a:buClr>
              <a:buFont typeface="Arial"/>
              <a:buChar char="•"/>
            </a:pPr>
            <a:r>
              <a:rPr sz="1200" b="0" i="0">
                <a:solidFill>
                  <a:srgbClr val="1F2937"/>
                </a:solidFill>
                <a:latin typeface="Calibri"/>
              </a:rPr>
              <a:t>Source ranking with evidence</a:t>
            </a:r>
          </a:p>
          <a:p>
            <a:pPr marL="167640" indent="-167640" algn="l">
              <a:spcAft>
                <a:spcPts val="500"/>
              </a:spcAft>
              <a:buClr>
                <a:srgbClr val="B45309"/>
              </a:buClr>
              <a:buFont typeface="Arial"/>
              <a:buChar char="•"/>
            </a:pPr>
            <a:r>
              <a:rPr sz="1200" b="0" i="0">
                <a:solidFill>
                  <a:srgbClr val="1F2937"/>
                </a:solidFill>
                <a:latin typeface="Calibri"/>
              </a:rPr>
              <a:t>Incident graph</a:t>
            </a:r>
          </a:p>
          <a:p>
            <a:pPr marL="167640" indent="-167640" algn="l">
              <a:spcAft>
                <a:spcPts val="500"/>
              </a:spcAft>
              <a:buClr>
                <a:srgbClr val="B45309"/>
              </a:buClr>
              <a:buFont typeface="Arial"/>
              <a:buChar char="•"/>
            </a:pPr>
            <a:r>
              <a:rPr sz="1200" b="0" i="0">
                <a:solidFill>
                  <a:srgbClr val="1F2937"/>
                </a:solidFill>
                <a:latin typeface="Calibri"/>
              </a:rPr>
              <a:t>Places reached, with ETA</a:t>
            </a:r>
          </a:p>
        </p:txBody>
      </p:sp>
      <p:sp>
        <p:nvSpPr>
          <p:cNvPr id="20" name="Chevron 19"/>
          <p:cNvSpPr/>
          <p:nvPr/>
        </p:nvSpPr>
        <p:spPr>
          <a:xfrm>
            <a:off x="9539386" y="1325880"/>
            <a:ext cx="2149388" cy="685800"/>
          </a:xfrm>
          <a:prstGeom prst="chevron">
            <a:avLst>
              <a:gd name="adj" fmla="val 28000"/>
            </a:avLst>
          </a:prstGeom>
          <a:solidFill>
            <a:srgbClr val="BE123C"/>
          </a:solidFill>
          <a:ln>
            <a:noFill/>
          </a:ln>
          <a:effectLst/>
        </p:spPr>
        <p:txBody>
          <a:bodyPr wrap="square" lIns="54864" tIns="54864" rIns="54864" bIns="54864" rtlCol="0" anchor="ctr"/>
          <a:lstStyle/>
          <a:p>
            <a:pPr algn="ctr">
              <a:spcAft>
                <a:spcPts val="400"/>
              </a:spcAft>
            </a:pPr>
            <a:r>
              <a:rPr sz="1600" b="1" i="0">
                <a:solidFill>
                  <a:srgbClr val="FFFFFF"/>
                </a:solidFill>
                <a:latin typeface="Calibri"/>
              </a:rPr>
              <a:t>Act</a:t>
            </a:r>
          </a:p>
        </p:txBody>
      </p:sp>
      <p:sp>
        <p:nvSpPr>
          <p:cNvPr id="21" name="Rounded Rectangle 20"/>
          <p:cNvSpPr/>
          <p:nvPr/>
        </p:nvSpPr>
        <p:spPr>
          <a:xfrm>
            <a:off x="9539386" y="2121408"/>
            <a:ext cx="2057948" cy="2148840"/>
          </a:xfrm>
          <a:prstGeom prst="roundRect">
            <a:avLst>
              <a:gd name="adj" fmla="val 3554"/>
            </a:avLst>
          </a:prstGeom>
          <a:solidFill>
            <a:srgbClr val="FFE4E6"/>
          </a:solidFill>
          <a:ln>
            <a:noFill/>
          </a:ln>
          <a:effectLst/>
        </p:spPr>
        <p:txBody>
          <a:bodyPr wrap="square" lIns="54864" tIns="54864" rIns="54864" bIns="54864" rtlCol="0" anchor="ctr"/>
          <a:lstStyle/>
          <a:p>
            <a:pPr algn="ctr"/>
            <a:endParaRPr/>
          </a:p>
        </p:txBody>
      </p:sp>
      <p:sp>
        <p:nvSpPr>
          <p:cNvPr id="22" name="TextBox 21"/>
          <p:cNvSpPr txBox="1"/>
          <p:nvPr/>
        </p:nvSpPr>
        <p:spPr>
          <a:xfrm>
            <a:off x="9612538" y="2212848"/>
            <a:ext cx="1911644" cy="2011680"/>
          </a:xfrm>
          <a:prstGeom prst="rect">
            <a:avLst/>
          </a:prstGeom>
          <a:noFill/>
        </p:spPr>
        <p:txBody>
          <a:bodyPr wrap="square" lIns="36576" tIns="36576" rIns="36576" bIns="36576" anchor="t">
            <a:spAutoFit/>
          </a:bodyPr>
          <a:lstStyle/>
          <a:p>
            <a:pPr marL="167640" indent="-167640" algn="l">
              <a:spcAft>
                <a:spcPts val="500"/>
              </a:spcAft>
              <a:buClr>
                <a:srgbClr val="BE123C"/>
              </a:buClr>
              <a:buFont typeface="Arial"/>
              <a:buChar char="•"/>
            </a:pPr>
            <a:r>
              <a:rPr sz="1200" b="0" i="0">
                <a:solidFill>
                  <a:srgbClr val="1F2937"/>
                </a:solidFill>
                <a:latin typeface="Calibri"/>
              </a:rPr>
              <a:t>Command centre map</a:t>
            </a:r>
          </a:p>
          <a:p>
            <a:pPr marL="167640" indent="-167640" algn="l">
              <a:spcAft>
                <a:spcPts val="500"/>
              </a:spcAft>
              <a:buClr>
                <a:srgbClr val="BE123C"/>
              </a:buClr>
              <a:buFont typeface="Arial"/>
              <a:buChar char="•"/>
            </a:pPr>
            <a:r>
              <a:rPr sz="1200" b="0" i="0">
                <a:solidFill>
                  <a:srgbClr val="1F2937"/>
                </a:solidFill>
                <a:latin typeface="Calibri"/>
              </a:rPr>
              <a:t>Alerts to a pluggable sink</a:t>
            </a:r>
          </a:p>
          <a:p>
            <a:pPr marL="167640" indent="-167640" algn="l">
              <a:spcAft>
                <a:spcPts val="500"/>
              </a:spcAft>
              <a:buClr>
                <a:srgbClr val="BE123C"/>
              </a:buClr>
              <a:buFont typeface="Arial"/>
              <a:buChar char="•"/>
            </a:pPr>
            <a:r>
              <a:rPr sz="1200" b="0" i="0">
                <a:solidFill>
                  <a:srgbClr val="1F2937"/>
                </a:solidFill>
                <a:latin typeface="Calibri"/>
              </a:rPr>
              <a:t>Citizen reports + watch</a:t>
            </a:r>
          </a:p>
          <a:p>
            <a:pPr marL="167640" indent="-167640" algn="l">
              <a:spcAft>
                <a:spcPts val="500"/>
              </a:spcAft>
              <a:buClr>
                <a:srgbClr val="BE123C"/>
              </a:buClr>
              <a:buFont typeface="Arial"/>
              <a:buChar char="•"/>
            </a:pPr>
            <a:r>
              <a:rPr sz="1200" b="0" i="0">
                <a:solidFill>
                  <a:srgbClr val="1F2937"/>
                </a:solidFill>
                <a:latin typeface="Calibri"/>
              </a:rPr>
              <a:t>Ask AeroPulse (grounded)</a:t>
            </a:r>
          </a:p>
        </p:txBody>
      </p:sp>
      <p:sp>
        <p:nvSpPr>
          <p:cNvPr id="23" name="TextBox 22"/>
          <p:cNvSpPr txBox="1"/>
          <p:nvPr/>
        </p:nvSpPr>
        <p:spPr>
          <a:xfrm>
            <a:off x="502920" y="4343400"/>
            <a:ext cx="1118585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3.  </a:t>
            </a:r>
            <a:r>
              <a:rPr sz="1050" b="0" i="0">
                <a:solidFill>
                  <a:srgbClr val="1F2937"/>
                </a:solidFill>
                <a:latin typeface="Calibri"/>
              </a:rPr>
              <a:t>AeroPulse processing stages for one region and one cycle.</a:t>
            </a:r>
          </a:p>
        </p:txBody>
      </p:sp>
      <p:sp>
        <p:nvSpPr>
          <p:cNvPr id="24" name="Rounded Rectangle 23"/>
          <p:cNvSpPr/>
          <p:nvPr/>
        </p:nvSpPr>
        <p:spPr>
          <a:xfrm>
            <a:off x="502920" y="4754880"/>
            <a:ext cx="3606698" cy="1051560"/>
          </a:xfrm>
          <a:prstGeom prst="roundRect">
            <a:avLst>
              <a:gd name="adj" fmla="val 10434"/>
            </a:avLst>
          </a:prstGeom>
          <a:solidFill>
            <a:srgbClr val="F2F5F8"/>
          </a:solidFill>
          <a:ln w="12700">
            <a:solidFill>
              <a:srgbClr val="00629B"/>
            </a:solidFill>
          </a:ln>
          <a:effectLst/>
        </p:spPr>
        <p:txBody>
          <a:bodyPr wrap="square" lIns="109728" tIns="109728" rIns="109728" bIns="109728" rtlCol="0" anchor="ctr"/>
          <a:lstStyle/>
          <a:p>
            <a:pPr algn="ctr">
              <a:spcAft>
                <a:spcPts val="400"/>
              </a:spcAft>
            </a:pPr>
            <a:r>
              <a:rPr sz="1350" b="1" i="0">
                <a:solidFill>
                  <a:srgbClr val="002855"/>
                </a:solidFill>
                <a:latin typeface="Times New Roman"/>
              </a:rPr>
              <a:t>Provenance on every value</a:t>
            </a:r>
          </a:p>
          <a:p>
            <a:pPr algn="ctr">
              <a:spcAft>
                <a:spcPts val="400"/>
              </a:spcAft>
            </a:pPr>
            <a:r>
              <a:rPr sz="1150" b="0" i="0">
                <a:solidFill>
                  <a:srgbClr val="1F2937"/>
                </a:solidFill>
                <a:latin typeface="Calibri"/>
              </a:rPr>
              <a:t>measured · model-derived · predicted · simulated · heuristic · AI observation · citizen</a:t>
            </a:r>
          </a:p>
        </p:txBody>
      </p:sp>
      <p:sp>
        <p:nvSpPr>
          <p:cNvPr id="25" name="Rounded Rectangle 24"/>
          <p:cNvSpPr/>
          <p:nvPr/>
        </p:nvSpPr>
        <p:spPr>
          <a:xfrm>
            <a:off x="4292498" y="4754880"/>
            <a:ext cx="3606698" cy="1051560"/>
          </a:xfrm>
          <a:prstGeom prst="roundRect">
            <a:avLst>
              <a:gd name="adj" fmla="val 10434"/>
            </a:avLst>
          </a:prstGeom>
          <a:solidFill>
            <a:srgbClr val="F2F5F8"/>
          </a:solidFill>
          <a:ln w="12700">
            <a:solidFill>
              <a:srgbClr val="00629B"/>
            </a:solidFill>
          </a:ln>
          <a:effectLst/>
        </p:spPr>
        <p:txBody>
          <a:bodyPr wrap="square" lIns="109728" tIns="109728" rIns="109728" bIns="109728" rtlCol="0" anchor="ctr"/>
          <a:lstStyle/>
          <a:p>
            <a:pPr algn="ctr">
              <a:spcAft>
                <a:spcPts val="400"/>
              </a:spcAft>
            </a:pPr>
            <a:r>
              <a:rPr sz="1350" b="1" i="0">
                <a:solidFill>
                  <a:srgbClr val="002855"/>
                </a:solidFill>
                <a:latin typeface="Times New Roman"/>
              </a:rPr>
              <a:t>Configuration, not code</a:t>
            </a:r>
          </a:p>
          <a:p>
            <a:pPr algn="ctr">
              <a:spcAft>
                <a:spcPts val="400"/>
              </a:spcAft>
            </a:pPr>
            <a:r>
              <a:rPr sz="1150" b="0" i="0">
                <a:solidFill>
                  <a:srgbClr val="1F2937"/>
                </a:solidFill>
                <a:latin typeface="Calibri"/>
              </a:rPr>
              <a:t>places, sources, hazards, seasons, thresholds and AQI scale live in region packs</a:t>
            </a:r>
          </a:p>
        </p:txBody>
      </p:sp>
      <p:sp>
        <p:nvSpPr>
          <p:cNvPr id="26" name="Rounded Rectangle 25"/>
          <p:cNvSpPr/>
          <p:nvPr/>
        </p:nvSpPr>
        <p:spPr>
          <a:xfrm>
            <a:off x="8082076" y="4754880"/>
            <a:ext cx="3606698" cy="1051560"/>
          </a:xfrm>
          <a:prstGeom prst="roundRect">
            <a:avLst>
              <a:gd name="adj" fmla="val 10434"/>
            </a:avLst>
          </a:prstGeom>
          <a:solidFill>
            <a:srgbClr val="F2F5F8"/>
          </a:solidFill>
          <a:ln w="12700">
            <a:solidFill>
              <a:srgbClr val="00629B"/>
            </a:solidFill>
          </a:ln>
          <a:effectLst/>
        </p:spPr>
        <p:txBody>
          <a:bodyPr wrap="square" lIns="109728" tIns="109728" rIns="109728" bIns="109728" rtlCol="0" anchor="ctr"/>
          <a:lstStyle/>
          <a:p>
            <a:pPr algn="ctr">
              <a:spcAft>
                <a:spcPts val="400"/>
              </a:spcAft>
            </a:pPr>
            <a:r>
              <a:rPr sz="1350" b="1" i="0">
                <a:solidFill>
                  <a:srgbClr val="002855"/>
                </a:solidFill>
                <a:latin typeface="Times New Roman"/>
              </a:rPr>
              <a:t>Deterministic event path</a:t>
            </a:r>
          </a:p>
          <a:p>
            <a:pPr algn="ctr">
              <a:spcAft>
                <a:spcPts val="400"/>
              </a:spcAft>
            </a:pPr>
            <a:r>
              <a:rPr sz="1150" b="0" i="0">
                <a:solidFill>
                  <a:srgbClr val="1F2937"/>
                </a:solidFill>
                <a:latin typeface="Calibri"/>
              </a:rPr>
              <a:t>Gemini is used only by Ask AeroPulse and the citizen-photo observation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IV-A. ARCHITECTURE</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System Architecture</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7 / 18</a:t>
            </a:r>
          </a:p>
        </p:txBody>
      </p:sp>
      <p:sp>
        <p:nvSpPr>
          <p:cNvPr id="8" name="Rounded Rectangle 7"/>
          <p:cNvSpPr/>
          <p:nvPr/>
        </p:nvSpPr>
        <p:spPr>
          <a:xfrm>
            <a:off x="502920" y="1207008"/>
            <a:ext cx="11185855" cy="960120"/>
          </a:xfrm>
          <a:prstGeom prst="roundRect">
            <a:avLst>
              <a:gd name="adj" fmla="val 5714"/>
            </a:avLst>
          </a:prstGeom>
          <a:solidFill>
            <a:srgbClr val="FAFBFC"/>
          </a:solidFill>
          <a:ln w="12700">
            <a:solidFill>
              <a:srgbClr val="E5E7EB"/>
            </a:solidFill>
          </a:ln>
          <a:effectLst/>
        </p:spPr>
        <p:txBody>
          <a:bodyPr wrap="square" lIns="54864" tIns="54864" rIns="54864" bIns="54864" rtlCol="0" anchor="ctr"/>
          <a:lstStyle/>
          <a:p>
            <a:pPr algn="ctr"/>
            <a:endParaRPr/>
          </a:p>
        </p:txBody>
      </p:sp>
      <p:sp>
        <p:nvSpPr>
          <p:cNvPr id="9" name="Rounded Rectangle 8"/>
          <p:cNvSpPr/>
          <p:nvPr/>
        </p:nvSpPr>
        <p:spPr>
          <a:xfrm>
            <a:off x="502920" y="1207008"/>
            <a:ext cx="1097280" cy="960120"/>
          </a:xfrm>
          <a:prstGeom prst="roundRect">
            <a:avLst>
              <a:gd name="adj" fmla="val 5714"/>
            </a:avLst>
          </a:prstGeom>
          <a:solidFill>
            <a:srgbClr val="002855"/>
          </a:solidFill>
          <a:ln>
            <a:noFill/>
          </a:ln>
          <a:effectLst/>
        </p:spPr>
        <p:txBody>
          <a:bodyPr wrap="square" lIns="54864" tIns="54864" rIns="54864" bIns="54864" rtlCol="0" anchor="ctr"/>
          <a:lstStyle/>
          <a:p>
            <a:pPr algn="ctr">
              <a:spcAft>
                <a:spcPts val="400"/>
              </a:spcAft>
            </a:pPr>
            <a:r>
              <a:rPr sz="1200" b="1" i="0">
                <a:solidFill>
                  <a:srgbClr val="FFFFFF"/>
                </a:solidFill>
                <a:latin typeface="Calibri"/>
              </a:rPr>
              <a:t>Ingest</a:t>
            </a:r>
          </a:p>
        </p:txBody>
      </p:sp>
      <p:sp>
        <p:nvSpPr>
          <p:cNvPr id="10" name="Rounded Rectangle 9"/>
          <p:cNvSpPr/>
          <p:nvPr/>
        </p:nvSpPr>
        <p:spPr>
          <a:xfrm>
            <a:off x="502920" y="2286000"/>
            <a:ext cx="11185855" cy="960120"/>
          </a:xfrm>
          <a:prstGeom prst="roundRect">
            <a:avLst>
              <a:gd name="adj" fmla="val 5714"/>
            </a:avLst>
          </a:prstGeom>
          <a:solidFill>
            <a:srgbClr val="FAFBFC"/>
          </a:solidFill>
          <a:ln w="12700">
            <a:solidFill>
              <a:srgbClr val="E5E7EB"/>
            </a:solidFill>
          </a:ln>
          <a:effectLst/>
        </p:spPr>
        <p:txBody>
          <a:bodyPr wrap="square" lIns="54864" tIns="54864" rIns="54864" bIns="54864" rtlCol="0" anchor="ctr"/>
          <a:lstStyle/>
          <a:p>
            <a:pPr algn="ctr"/>
            <a:endParaRPr/>
          </a:p>
        </p:txBody>
      </p:sp>
      <p:sp>
        <p:nvSpPr>
          <p:cNvPr id="11" name="Rounded Rectangle 10"/>
          <p:cNvSpPr/>
          <p:nvPr/>
        </p:nvSpPr>
        <p:spPr>
          <a:xfrm>
            <a:off x="502920" y="2286000"/>
            <a:ext cx="1097280" cy="960120"/>
          </a:xfrm>
          <a:prstGeom prst="roundRect">
            <a:avLst>
              <a:gd name="adj" fmla="val 5714"/>
            </a:avLst>
          </a:prstGeom>
          <a:solidFill>
            <a:srgbClr val="002855"/>
          </a:solidFill>
          <a:ln>
            <a:noFill/>
          </a:ln>
          <a:effectLst/>
        </p:spPr>
        <p:txBody>
          <a:bodyPr wrap="square" lIns="54864" tIns="54864" rIns="54864" bIns="54864" rtlCol="0" anchor="ctr"/>
          <a:lstStyle/>
          <a:p>
            <a:pPr algn="ctr">
              <a:spcAft>
                <a:spcPts val="400"/>
              </a:spcAft>
            </a:pPr>
            <a:r>
              <a:rPr sz="1200" b="1" i="0">
                <a:solidFill>
                  <a:srgbClr val="FFFFFF"/>
                </a:solidFill>
                <a:latin typeface="Calibri"/>
              </a:rPr>
              <a:t>Intelligence</a:t>
            </a:r>
          </a:p>
        </p:txBody>
      </p:sp>
      <p:sp>
        <p:nvSpPr>
          <p:cNvPr id="12" name="Rounded Rectangle 11"/>
          <p:cNvSpPr/>
          <p:nvPr/>
        </p:nvSpPr>
        <p:spPr>
          <a:xfrm>
            <a:off x="502920" y="3364992"/>
            <a:ext cx="11185855" cy="960120"/>
          </a:xfrm>
          <a:prstGeom prst="roundRect">
            <a:avLst>
              <a:gd name="adj" fmla="val 5714"/>
            </a:avLst>
          </a:prstGeom>
          <a:solidFill>
            <a:srgbClr val="FAFBFC"/>
          </a:solidFill>
          <a:ln w="12700">
            <a:solidFill>
              <a:srgbClr val="E5E7EB"/>
            </a:solidFill>
          </a:ln>
          <a:effectLst/>
        </p:spPr>
        <p:txBody>
          <a:bodyPr wrap="square" lIns="54864" tIns="54864" rIns="54864" bIns="54864" rtlCol="0" anchor="ctr"/>
          <a:lstStyle/>
          <a:p>
            <a:pPr algn="ctr"/>
            <a:endParaRPr/>
          </a:p>
        </p:txBody>
      </p:sp>
      <p:sp>
        <p:nvSpPr>
          <p:cNvPr id="13" name="Rounded Rectangle 12"/>
          <p:cNvSpPr/>
          <p:nvPr/>
        </p:nvSpPr>
        <p:spPr>
          <a:xfrm>
            <a:off x="502920" y="3364992"/>
            <a:ext cx="1097280" cy="960120"/>
          </a:xfrm>
          <a:prstGeom prst="roundRect">
            <a:avLst>
              <a:gd name="adj" fmla="val 5714"/>
            </a:avLst>
          </a:prstGeom>
          <a:solidFill>
            <a:srgbClr val="002855"/>
          </a:solidFill>
          <a:ln>
            <a:noFill/>
          </a:ln>
          <a:effectLst/>
        </p:spPr>
        <p:txBody>
          <a:bodyPr wrap="square" lIns="54864" tIns="54864" rIns="54864" bIns="54864" rtlCol="0" anchor="ctr"/>
          <a:lstStyle/>
          <a:p>
            <a:pPr algn="ctr">
              <a:spcAft>
                <a:spcPts val="400"/>
              </a:spcAft>
            </a:pPr>
            <a:r>
              <a:rPr sz="1200" b="1" i="0">
                <a:solidFill>
                  <a:srgbClr val="FFFFFF"/>
                </a:solidFill>
                <a:latin typeface="Calibri"/>
              </a:rPr>
              <a:t>Serve</a:t>
            </a:r>
          </a:p>
        </p:txBody>
      </p:sp>
      <p:sp>
        <p:nvSpPr>
          <p:cNvPr id="14" name="Rounded Rectangle 13"/>
          <p:cNvSpPr/>
          <p:nvPr/>
        </p:nvSpPr>
        <p:spPr>
          <a:xfrm>
            <a:off x="502920" y="4553712"/>
            <a:ext cx="11185855" cy="960120"/>
          </a:xfrm>
          <a:prstGeom prst="roundRect">
            <a:avLst>
              <a:gd name="adj" fmla="val 5714"/>
            </a:avLst>
          </a:prstGeom>
          <a:solidFill>
            <a:srgbClr val="FAFBFC"/>
          </a:solidFill>
          <a:ln w="12700">
            <a:solidFill>
              <a:srgbClr val="E5E7EB"/>
            </a:solidFill>
          </a:ln>
          <a:effectLst/>
        </p:spPr>
        <p:txBody>
          <a:bodyPr wrap="square" lIns="54864" tIns="54864" rIns="54864" bIns="54864" rtlCol="0" anchor="ctr"/>
          <a:lstStyle/>
          <a:p>
            <a:pPr algn="ctr"/>
            <a:endParaRPr/>
          </a:p>
        </p:txBody>
      </p:sp>
      <p:sp>
        <p:nvSpPr>
          <p:cNvPr id="15" name="Rounded Rectangle 14"/>
          <p:cNvSpPr/>
          <p:nvPr/>
        </p:nvSpPr>
        <p:spPr>
          <a:xfrm>
            <a:off x="502920" y="4553712"/>
            <a:ext cx="1097280" cy="960120"/>
          </a:xfrm>
          <a:prstGeom prst="roundRect">
            <a:avLst>
              <a:gd name="adj" fmla="val 5714"/>
            </a:avLst>
          </a:prstGeom>
          <a:solidFill>
            <a:srgbClr val="6B7280"/>
          </a:solidFill>
          <a:ln>
            <a:noFill/>
          </a:ln>
          <a:effectLst/>
        </p:spPr>
        <p:txBody>
          <a:bodyPr wrap="square" lIns="54864" tIns="54864" rIns="54864" bIns="54864" rtlCol="0" anchor="ctr"/>
          <a:lstStyle/>
          <a:p>
            <a:pPr algn="ctr">
              <a:spcAft>
                <a:spcPts val="400"/>
              </a:spcAft>
            </a:pPr>
            <a:r>
              <a:rPr sz="1200" b="1" i="0">
                <a:solidFill>
                  <a:srgbClr val="FFFFFF"/>
                </a:solidFill>
                <a:latin typeface="Calibri"/>
              </a:rPr>
              <a:t>Train (offline)</a:t>
            </a:r>
          </a:p>
        </p:txBody>
      </p:sp>
      <p:sp>
        <p:nvSpPr>
          <p:cNvPr id="16" name="Rounded Rectangle 15"/>
          <p:cNvSpPr/>
          <p:nvPr/>
        </p:nvSpPr>
        <p:spPr>
          <a:xfrm>
            <a:off x="1737360" y="1321308"/>
            <a:ext cx="1691640" cy="731520"/>
          </a:xfrm>
          <a:prstGeom prst="roundRect">
            <a:avLst>
              <a:gd name="adj" fmla="val 15000"/>
            </a:avLst>
          </a:prstGeom>
          <a:solidFill>
            <a:srgbClr val="FEF3C7"/>
          </a:solidFill>
          <a:ln w="12700">
            <a:solidFill>
              <a:srgbClr val="B45309"/>
            </a:solidFill>
          </a:ln>
          <a:effectLst/>
        </p:spPr>
        <p:txBody>
          <a:bodyPr wrap="square" lIns="45720" rIns="45720" rtlCol="0" anchor="ctr"/>
          <a:lstStyle/>
          <a:p>
            <a:pPr algn="ctr">
              <a:spcAft>
                <a:spcPts val="100"/>
              </a:spcAft>
            </a:pPr>
            <a:r>
              <a:rPr sz="1150" b="1" i="0">
                <a:solidFill>
                  <a:srgbClr val="B45309"/>
                </a:solidFill>
                <a:latin typeface="Calibri"/>
              </a:rPr>
              <a:t>Region pack</a:t>
            </a:r>
          </a:p>
          <a:p>
            <a:pPr algn="ctr">
              <a:spcAft>
                <a:spcPts val="0"/>
              </a:spcAft>
            </a:pPr>
            <a:r>
              <a:rPr sz="950" b="0" i="0">
                <a:solidFill>
                  <a:srgbClr val="1F2937"/>
                </a:solidFill>
                <a:latin typeface="Calibri"/>
              </a:rPr>
              <a:t>region.yaml · hazards · AQI std</a:t>
            </a:r>
          </a:p>
        </p:txBody>
      </p:sp>
      <p:sp>
        <p:nvSpPr>
          <p:cNvPr id="17" name="Rounded Rectangle 16"/>
          <p:cNvSpPr/>
          <p:nvPr/>
        </p:nvSpPr>
        <p:spPr>
          <a:xfrm>
            <a:off x="3721608" y="1321308"/>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aeropulse-cycle</a:t>
            </a:r>
          </a:p>
          <a:p>
            <a:pPr algn="ctr">
              <a:spcAft>
                <a:spcPts val="0"/>
              </a:spcAft>
            </a:pPr>
            <a:r>
              <a:rPr sz="950" b="0" i="0">
                <a:solidFill>
                  <a:srgbClr val="1F2937"/>
                </a:solidFill>
                <a:latin typeface="Calibri"/>
              </a:rPr>
              <a:t>one job per region</a:t>
            </a:r>
          </a:p>
        </p:txBody>
      </p:sp>
      <p:cxnSp>
        <p:nvCxnSpPr>
          <p:cNvPr id="18" name="Connector 17"/>
          <p:cNvCxnSpPr/>
          <p:nvPr/>
        </p:nvCxnSpPr>
        <p:spPr>
          <a:xfrm>
            <a:off x="3429000" y="1687068"/>
            <a:ext cx="274320" cy="0"/>
          </a:xfrm>
          <a:prstGeom prst="line">
            <a:avLst/>
          </a:prstGeom>
          <a:ln w="15875">
            <a:solidFill>
              <a:srgbClr val="6B7280"/>
            </a:solidFill>
            <a:tailEnd type="triangle" w="med" len="med"/>
          </a:ln>
        </p:spPr>
      </p:cxnSp>
      <p:sp>
        <p:nvSpPr>
          <p:cNvPr id="19" name="Rounded Rectangle 18"/>
          <p:cNvSpPr/>
          <p:nvPr/>
        </p:nvSpPr>
        <p:spPr>
          <a:xfrm>
            <a:off x="5705856" y="1321308"/>
            <a:ext cx="1691640" cy="731520"/>
          </a:xfrm>
          <a:prstGeom prst="roundRect">
            <a:avLst>
              <a:gd name="adj" fmla="val 15000"/>
            </a:avLst>
          </a:prstGeom>
          <a:solidFill>
            <a:srgbClr val="CFFAFE"/>
          </a:solidFill>
          <a:ln w="12700">
            <a:solidFill>
              <a:srgbClr val="0E7490"/>
            </a:solidFill>
          </a:ln>
          <a:effectLst/>
        </p:spPr>
        <p:txBody>
          <a:bodyPr wrap="square" lIns="45720" rIns="45720" rtlCol="0" anchor="ctr"/>
          <a:lstStyle/>
          <a:p>
            <a:pPr algn="ctr">
              <a:spcAft>
                <a:spcPts val="100"/>
              </a:spcAft>
            </a:pPr>
            <a:r>
              <a:rPr sz="1150" b="1" i="0">
                <a:solidFill>
                  <a:srgbClr val="0E7490"/>
                </a:solidFill>
                <a:latin typeface="Calibri"/>
              </a:rPr>
              <a:t>Connector plugins</a:t>
            </a:r>
          </a:p>
          <a:p>
            <a:pPr algn="ctr">
              <a:spcAft>
                <a:spcPts val="0"/>
              </a:spcAft>
            </a:pPr>
            <a:r>
              <a:rPr sz="950" b="0" i="0">
                <a:solidFill>
                  <a:srgbClr val="1F2937"/>
                </a:solidFill>
                <a:latin typeface="Calibri"/>
              </a:rPr>
              <a:t>OpenAQ · FIRMS · Open-Meteo · EE · NEA</a:t>
            </a:r>
          </a:p>
        </p:txBody>
      </p:sp>
      <p:cxnSp>
        <p:nvCxnSpPr>
          <p:cNvPr id="20" name="Connector 19"/>
          <p:cNvCxnSpPr/>
          <p:nvPr/>
        </p:nvCxnSpPr>
        <p:spPr>
          <a:xfrm>
            <a:off x="5413248" y="1687068"/>
            <a:ext cx="274320" cy="0"/>
          </a:xfrm>
          <a:prstGeom prst="line">
            <a:avLst/>
          </a:prstGeom>
          <a:ln w="15875">
            <a:solidFill>
              <a:srgbClr val="6B7280"/>
            </a:solidFill>
            <a:tailEnd type="triangle" w="med" len="med"/>
          </a:ln>
        </p:spPr>
      </p:cxnSp>
      <p:sp>
        <p:nvSpPr>
          <p:cNvPr id="21" name="Rounded Rectangle 20"/>
          <p:cNvSpPr/>
          <p:nvPr/>
        </p:nvSpPr>
        <p:spPr>
          <a:xfrm>
            <a:off x="7690104" y="1321308"/>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Normalize</a:t>
            </a:r>
          </a:p>
          <a:p>
            <a:pPr algn="ctr">
              <a:spcAft>
                <a:spcPts val="0"/>
              </a:spcAft>
            </a:pPr>
            <a:r>
              <a:rPr sz="950" b="0" i="0">
                <a:solidFill>
                  <a:srgbClr val="1F2937"/>
                </a:solidFill>
                <a:latin typeface="Calibri"/>
              </a:rPr>
              <a:t>vendor JSON → contracts</a:t>
            </a:r>
          </a:p>
        </p:txBody>
      </p:sp>
      <p:cxnSp>
        <p:nvCxnSpPr>
          <p:cNvPr id="22" name="Connector 21"/>
          <p:cNvCxnSpPr/>
          <p:nvPr/>
        </p:nvCxnSpPr>
        <p:spPr>
          <a:xfrm>
            <a:off x="7397496" y="1687068"/>
            <a:ext cx="274320" cy="0"/>
          </a:xfrm>
          <a:prstGeom prst="line">
            <a:avLst/>
          </a:prstGeom>
          <a:ln w="15875">
            <a:solidFill>
              <a:srgbClr val="6B7280"/>
            </a:solidFill>
            <a:tailEnd type="triangle" w="med" len="med"/>
          </a:ln>
        </p:spPr>
      </p:cxnSp>
      <p:sp>
        <p:nvSpPr>
          <p:cNvPr id="23" name="Rounded Rectangle 22"/>
          <p:cNvSpPr/>
          <p:nvPr/>
        </p:nvSpPr>
        <p:spPr>
          <a:xfrm>
            <a:off x="9674352" y="1321308"/>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Ingest prep</a:t>
            </a:r>
          </a:p>
          <a:p>
            <a:pPr algn="ctr">
              <a:spcAft>
                <a:spcPts val="0"/>
              </a:spcAft>
            </a:pPr>
            <a:r>
              <a:rPr sz="950" b="0" i="0">
                <a:solidFill>
                  <a:srgbClr val="1F2937"/>
                </a:solidFill>
                <a:latin typeface="Calibri"/>
              </a:rPr>
              <a:t>validate · QC · H3 r8 [11] · dedup</a:t>
            </a:r>
          </a:p>
        </p:txBody>
      </p:sp>
      <p:cxnSp>
        <p:nvCxnSpPr>
          <p:cNvPr id="24" name="Connector 23"/>
          <p:cNvCxnSpPr/>
          <p:nvPr/>
        </p:nvCxnSpPr>
        <p:spPr>
          <a:xfrm>
            <a:off x="9381744" y="1687068"/>
            <a:ext cx="274320" cy="0"/>
          </a:xfrm>
          <a:prstGeom prst="line">
            <a:avLst/>
          </a:prstGeom>
          <a:ln w="15875">
            <a:solidFill>
              <a:srgbClr val="6B7280"/>
            </a:solidFill>
            <a:tailEnd type="triangle" w="med" len="med"/>
          </a:ln>
        </p:spPr>
      </p:cxnSp>
      <p:sp>
        <p:nvSpPr>
          <p:cNvPr id="25" name="TextBox 24"/>
          <p:cNvSpPr txBox="1"/>
          <p:nvPr/>
        </p:nvSpPr>
        <p:spPr>
          <a:xfrm>
            <a:off x="5705856" y="2052828"/>
            <a:ext cx="1691640" cy="182880"/>
          </a:xfrm>
          <a:prstGeom prst="rect">
            <a:avLst/>
          </a:prstGeom>
          <a:noFill/>
        </p:spPr>
        <p:txBody>
          <a:bodyPr wrap="square" lIns="0" tIns="0" rIns="0" bIns="0" anchor="t">
            <a:spAutoFit/>
          </a:bodyPr>
          <a:lstStyle/>
          <a:p>
            <a:pPr algn="ctr">
              <a:spcAft>
                <a:spcPts val="400"/>
              </a:spcAft>
            </a:pPr>
            <a:r>
              <a:rPr sz="850" b="0" i="1">
                <a:solidFill>
                  <a:srgbClr val="6B7280"/>
                </a:solidFill>
                <a:latin typeface="Calibri"/>
              </a:rPr>
              <a:t>raw payloads → object store</a:t>
            </a:r>
          </a:p>
        </p:txBody>
      </p:sp>
      <p:sp>
        <p:nvSpPr>
          <p:cNvPr id="26" name="Can 25"/>
          <p:cNvSpPr/>
          <p:nvPr/>
        </p:nvSpPr>
        <p:spPr>
          <a:xfrm>
            <a:off x="9674352" y="2400300"/>
            <a:ext cx="1691640" cy="73152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Analytics store</a:t>
            </a:r>
          </a:p>
          <a:p>
            <a:pPr algn="ctr">
              <a:spcAft>
                <a:spcPts val="0"/>
              </a:spcAft>
            </a:pPr>
            <a:r>
              <a:rPr sz="950" b="0" i="0">
                <a:solidFill>
                  <a:srgbClr val="1F2937"/>
                </a:solidFill>
                <a:latin typeface="Calibri"/>
              </a:rPr>
              <a:t>observations · meteo forecast</a:t>
            </a:r>
          </a:p>
        </p:txBody>
      </p:sp>
      <p:sp>
        <p:nvSpPr>
          <p:cNvPr id="27" name="Rounded Rectangle 26"/>
          <p:cNvSpPr/>
          <p:nvPr/>
        </p:nvSpPr>
        <p:spPr>
          <a:xfrm>
            <a:off x="7690104" y="2400300"/>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Feature pipeline</a:t>
            </a:r>
          </a:p>
          <a:p>
            <a:pPr algn="ctr">
              <a:spcAft>
                <a:spcPts val="0"/>
              </a:spcAft>
            </a:pPr>
            <a:r>
              <a:rPr sz="950" b="0" i="0">
                <a:solidFill>
                  <a:srgbClr val="1F2937"/>
                </a:solidFill>
                <a:latin typeface="Calibri"/>
              </a:rPr>
              <a:t>same code as training</a:t>
            </a:r>
          </a:p>
        </p:txBody>
      </p:sp>
      <p:cxnSp>
        <p:nvCxnSpPr>
          <p:cNvPr id="28" name="Connector 27"/>
          <p:cNvCxnSpPr/>
          <p:nvPr/>
        </p:nvCxnSpPr>
        <p:spPr>
          <a:xfrm flipH="1">
            <a:off x="9400032" y="2766060"/>
            <a:ext cx="274320" cy="0"/>
          </a:xfrm>
          <a:prstGeom prst="line">
            <a:avLst/>
          </a:prstGeom>
          <a:ln w="15875">
            <a:solidFill>
              <a:srgbClr val="6B7280"/>
            </a:solidFill>
            <a:tailEnd type="triangle" w="med" len="med"/>
          </a:ln>
        </p:spPr>
      </p:cxnSp>
      <p:sp>
        <p:nvSpPr>
          <p:cNvPr id="29" name="Rounded Rectangle 28"/>
          <p:cNvSpPr/>
          <p:nvPr/>
        </p:nvSpPr>
        <p:spPr>
          <a:xfrm>
            <a:off x="5705856" y="2400300"/>
            <a:ext cx="1691640" cy="731520"/>
          </a:xfrm>
          <a:prstGeom prst="roundRect">
            <a:avLst>
              <a:gd name="adj" fmla="val 15000"/>
            </a:avLst>
          </a:prstGeom>
          <a:solidFill>
            <a:srgbClr val="D1FAE5"/>
          </a:solidFill>
          <a:ln w="12700">
            <a:solidFill>
              <a:srgbClr val="047857"/>
            </a:solidFill>
          </a:ln>
          <a:effectLst/>
        </p:spPr>
        <p:txBody>
          <a:bodyPr wrap="square" lIns="45720" rIns="45720" rtlCol="0" anchor="ctr"/>
          <a:lstStyle/>
          <a:p>
            <a:pPr algn="ctr">
              <a:spcAft>
                <a:spcPts val="100"/>
              </a:spcAft>
            </a:pPr>
            <a:r>
              <a:rPr sz="1150" b="1" i="0">
                <a:solidFill>
                  <a:srgbClr val="047857"/>
                </a:solidFill>
                <a:latin typeface="Calibri"/>
              </a:rPr>
              <a:t>Model resolver</a:t>
            </a:r>
          </a:p>
          <a:p>
            <a:pPr algn="ctr">
              <a:spcAft>
                <a:spcPts val="0"/>
              </a:spcAft>
            </a:pPr>
            <a:r>
              <a:rPr sz="950" b="0" i="0">
                <a:solidFill>
                  <a:srgbClr val="1F2937"/>
                </a:solidFill>
                <a:latin typeface="Calibri"/>
              </a:rPr>
              <a:t>gated model or rule (degraded)</a:t>
            </a:r>
          </a:p>
        </p:txBody>
      </p:sp>
      <p:cxnSp>
        <p:nvCxnSpPr>
          <p:cNvPr id="30" name="Connector 29"/>
          <p:cNvCxnSpPr/>
          <p:nvPr/>
        </p:nvCxnSpPr>
        <p:spPr>
          <a:xfrm flipH="1">
            <a:off x="7415783" y="2766060"/>
            <a:ext cx="274321" cy="0"/>
          </a:xfrm>
          <a:prstGeom prst="line">
            <a:avLst/>
          </a:prstGeom>
          <a:ln w="15875">
            <a:solidFill>
              <a:srgbClr val="6B7280"/>
            </a:solidFill>
            <a:tailEnd type="triangle" w="med" len="med"/>
          </a:ln>
        </p:spPr>
      </p:cxnSp>
      <p:sp>
        <p:nvSpPr>
          <p:cNvPr id="31" name="Rounded Rectangle 30"/>
          <p:cNvSpPr/>
          <p:nvPr/>
        </p:nvSpPr>
        <p:spPr>
          <a:xfrm>
            <a:off x="3721608" y="2400300"/>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Source likelihood</a:t>
            </a:r>
          </a:p>
          <a:p>
            <a:pPr algn="ctr">
              <a:spcAft>
                <a:spcPts val="0"/>
              </a:spcAft>
            </a:pPr>
            <a:r>
              <a:rPr sz="950" b="0" i="0">
                <a:solidFill>
                  <a:srgbClr val="1F2937"/>
                </a:solidFill>
                <a:latin typeface="Calibri"/>
              </a:rPr>
              <a:t>heuristic ranking + evidence</a:t>
            </a:r>
          </a:p>
        </p:txBody>
      </p:sp>
      <p:cxnSp>
        <p:nvCxnSpPr>
          <p:cNvPr id="32" name="Connector 31"/>
          <p:cNvCxnSpPr/>
          <p:nvPr/>
        </p:nvCxnSpPr>
        <p:spPr>
          <a:xfrm flipH="1">
            <a:off x="5431536" y="2766060"/>
            <a:ext cx="274320" cy="0"/>
          </a:xfrm>
          <a:prstGeom prst="line">
            <a:avLst/>
          </a:prstGeom>
          <a:ln w="15875">
            <a:solidFill>
              <a:srgbClr val="6B7280"/>
            </a:solidFill>
            <a:tailEnd type="triangle" w="med" len="med"/>
          </a:ln>
        </p:spPr>
      </p:cxnSp>
      <p:sp>
        <p:nvSpPr>
          <p:cNvPr id="33" name="Rounded Rectangle 32"/>
          <p:cNvSpPr/>
          <p:nvPr/>
        </p:nvSpPr>
        <p:spPr>
          <a:xfrm>
            <a:off x="1737360" y="2400300"/>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Plume engine</a:t>
            </a:r>
          </a:p>
          <a:p>
            <a:pPr algn="ctr">
              <a:spcAft>
                <a:spcPts val="0"/>
              </a:spcAft>
            </a:pPr>
            <a:r>
              <a:rPr sz="950" b="0" i="0">
                <a:solidFill>
                  <a:srgbClr val="1F2937"/>
                </a:solidFill>
                <a:latin typeface="Calibri"/>
              </a:rPr>
              <a:t>200-particle ensemble, fwd / back</a:t>
            </a:r>
          </a:p>
        </p:txBody>
      </p:sp>
      <p:cxnSp>
        <p:nvCxnSpPr>
          <p:cNvPr id="34" name="Connector 33"/>
          <p:cNvCxnSpPr/>
          <p:nvPr/>
        </p:nvCxnSpPr>
        <p:spPr>
          <a:xfrm flipH="1">
            <a:off x="3447288" y="2766060"/>
            <a:ext cx="274320" cy="0"/>
          </a:xfrm>
          <a:prstGeom prst="line">
            <a:avLst/>
          </a:prstGeom>
          <a:ln w="15875">
            <a:solidFill>
              <a:srgbClr val="6B7280"/>
            </a:solidFill>
            <a:tailEnd type="triangle" w="med" len="med"/>
          </a:ln>
        </p:spPr>
      </p:cxnSp>
      <p:cxnSp>
        <p:nvCxnSpPr>
          <p:cNvPr id="35" name="Connector 34"/>
          <p:cNvCxnSpPr/>
          <p:nvPr/>
        </p:nvCxnSpPr>
        <p:spPr>
          <a:xfrm>
            <a:off x="10520172" y="2052828"/>
            <a:ext cx="0" cy="329184"/>
          </a:xfrm>
          <a:prstGeom prst="line">
            <a:avLst/>
          </a:prstGeom>
          <a:ln w="15875">
            <a:solidFill>
              <a:srgbClr val="6B7280"/>
            </a:solidFill>
            <a:tailEnd type="triangle" w="med" len="med"/>
          </a:ln>
        </p:spPr>
      </p:cxnSp>
      <p:sp>
        <p:nvSpPr>
          <p:cNvPr id="36" name="Rounded Rectangle 35"/>
          <p:cNvSpPr/>
          <p:nvPr/>
        </p:nvSpPr>
        <p:spPr>
          <a:xfrm>
            <a:off x="1737360" y="3479292"/>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Graph + incidents</a:t>
            </a:r>
          </a:p>
          <a:p>
            <a:pPr algn="ctr">
              <a:spcAft>
                <a:spcPts val="0"/>
              </a:spcAft>
            </a:pPr>
            <a:r>
              <a:rPr sz="950" b="0" i="0">
                <a:solidFill>
                  <a:srgbClr val="1F2937"/>
                </a:solidFill>
                <a:latin typeface="Calibri"/>
              </a:rPr>
              <a:t>events · plumes · places · ETA</a:t>
            </a:r>
          </a:p>
        </p:txBody>
      </p:sp>
      <p:sp>
        <p:nvSpPr>
          <p:cNvPr id="37" name="Can 36"/>
          <p:cNvSpPr/>
          <p:nvPr/>
        </p:nvSpPr>
        <p:spPr>
          <a:xfrm>
            <a:off x="3721608" y="3479292"/>
            <a:ext cx="1691640" cy="73152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Snapshot store</a:t>
            </a:r>
          </a:p>
          <a:p>
            <a:pPr algn="ctr">
              <a:spcAft>
                <a:spcPts val="0"/>
              </a:spcAft>
            </a:pPr>
            <a:r>
              <a:rPr sz="950" b="0" i="0">
                <a:solidFill>
                  <a:srgbClr val="1F2937"/>
                </a:solidFill>
                <a:latin typeface="Calibri"/>
              </a:rPr>
              <a:t>region/cycle.json → latest.json</a:t>
            </a:r>
          </a:p>
        </p:txBody>
      </p:sp>
      <p:cxnSp>
        <p:nvCxnSpPr>
          <p:cNvPr id="38" name="Connector 37"/>
          <p:cNvCxnSpPr/>
          <p:nvPr/>
        </p:nvCxnSpPr>
        <p:spPr>
          <a:xfrm>
            <a:off x="3429000" y="3845052"/>
            <a:ext cx="274320" cy="0"/>
          </a:xfrm>
          <a:prstGeom prst="line">
            <a:avLst/>
          </a:prstGeom>
          <a:ln w="15875">
            <a:solidFill>
              <a:srgbClr val="6B7280"/>
            </a:solidFill>
            <a:tailEnd type="triangle" w="med" len="med"/>
          </a:ln>
        </p:spPr>
      </p:cxnSp>
      <p:sp>
        <p:nvSpPr>
          <p:cNvPr id="39" name="Rounded Rectangle 38"/>
          <p:cNvSpPr/>
          <p:nvPr/>
        </p:nvSpPr>
        <p:spPr>
          <a:xfrm>
            <a:off x="5705856" y="3479292"/>
            <a:ext cx="1691640" cy="731520"/>
          </a:xfrm>
          <a:prstGeom prst="roundRect">
            <a:avLst>
              <a:gd name="adj" fmla="val 15000"/>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API</a:t>
            </a:r>
          </a:p>
          <a:p>
            <a:pPr algn="ctr">
              <a:spcAft>
                <a:spcPts val="0"/>
              </a:spcAft>
            </a:pPr>
            <a:r>
              <a:rPr sz="950" b="0" i="0">
                <a:solidFill>
                  <a:srgbClr val="1F2937"/>
                </a:solidFill>
                <a:latin typeface="Calibri"/>
              </a:rPr>
              <a:t>FastAPI /api/v1 · JWT</a:t>
            </a:r>
          </a:p>
        </p:txBody>
      </p:sp>
      <p:cxnSp>
        <p:nvCxnSpPr>
          <p:cNvPr id="40" name="Connector 39"/>
          <p:cNvCxnSpPr/>
          <p:nvPr/>
        </p:nvCxnSpPr>
        <p:spPr>
          <a:xfrm>
            <a:off x="5413248" y="3845052"/>
            <a:ext cx="274320" cy="0"/>
          </a:xfrm>
          <a:prstGeom prst="line">
            <a:avLst/>
          </a:prstGeom>
          <a:ln w="15875">
            <a:solidFill>
              <a:srgbClr val="6B7280"/>
            </a:solidFill>
            <a:tailEnd type="triangle" w="med" len="med"/>
          </a:ln>
        </p:spPr>
      </p:cxnSp>
      <p:cxnSp>
        <p:nvCxnSpPr>
          <p:cNvPr id="41" name="Connector 40"/>
          <p:cNvCxnSpPr/>
          <p:nvPr/>
        </p:nvCxnSpPr>
        <p:spPr>
          <a:xfrm>
            <a:off x="2583180" y="3131820"/>
            <a:ext cx="0" cy="329184"/>
          </a:xfrm>
          <a:prstGeom prst="line">
            <a:avLst/>
          </a:prstGeom>
          <a:ln w="15875">
            <a:solidFill>
              <a:srgbClr val="6B7280"/>
            </a:solidFill>
            <a:tailEnd type="triangle" w="med" len="med"/>
          </a:ln>
        </p:spPr>
      </p:cxnSp>
      <p:sp>
        <p:nvSpPr>
          <p:cNvPr id="42" name="Rounded Rectangle 41"/>
          <p:cNvSpPr/>
          <p:nvPr/>
        </p:nvSpPr>
        <p:spPr>
          <a:xfrm>
            <a:off x="7690104" y="3461004"/>
            <a:ext cx="1691640" cy="347472"/>
          </a:xfrm>
          <a:prstGeom prst="roundRect">
            <a:avLst>
              <a:gd name="adj" fmla="val 31578"/>
            </a:avLst>
          </a:prstGeom>
          <a:solidFill>
            <a:srgbClr val="E0EEF6"/>
          </a:solidFill>
          <a:ln w="12700">
            <a:solidFill>
              <a:srgbClr val="00629B"/>
            </a:solidFill>
          </a:ln>
          <a:effectLst/>
        </p:spPr>
        <p:txBody>
          <a:bodyPr wrap="square" lIns="45720" rIns="45720" rtlCol="0" anchor="ctr"/>
          <a:lstStyle/>
          <a:p>
            <a:pPr algn="ctr">
              <a:spcAft>
                <a:spcPts val="100"/>
              </a:spcAft>
            </a:pPr>
            <a:r>
              <a:rPr sz="1050" b="1" i="0">
                <a:solidFill>
                  <a:srgbClr val="002855"/>
                </a:solidFill>
                <a:latin typeface="Calibri"/>
              </a:rPr>
              <a:t>Web: Demo | Live</a:t>
            </a:r>
          </a:p>
        </p:txBody>
      </p:sp>
      <p:sp>
        <p:nvSpPr>
          <p:cNvPr id="43" name="Rounded Rectangle 42"/>
          <p:cNvSpPr/>
          <p:nvPr/>
        </p:nvSpPr>
        <p:spPr>
          <a:xfrm>
            <a:off x="7690104" y="3881628"/>
            <a:ext cx="1691640" cy="347472"/>
          </a:xfrm>
          <a:prstGeom prst="roundRect">
            <a:avLst>
              <a:gd name="adj" fmla="val 31578"/>
            </a:avLst>
          </a:prstGeom>
          <a:solidFill>
            <a:srgbClr val="EDE9FE"/>
          </a:solidFill>
          <a:ln w="12700">
            <a:solidFill>
              <a:srgbClr val="6D28D9"/>
            </a:solidFill>
          </a:ln>
          <a:effectLst/>
        </p:spPr>
        <p:txBody>
          <a:bodyPr wrap="square" lIns="45720" rIns="45720" rtlCol="0" anchor="ctr"/>
          <a:lstStyle/>
          <a:p>
            <a:pPr algn="ctr">
              <a:spcAft>
                <a:spcPts val="100"/>
              </a:spcAft>
            </a:pPr>
            <a:r>
              <a:rPr sz="1050" b="1" i="0">
                <a:solidFill>
                  <a:srgbClr val="6D28D9"/>
                </a:solidFill>
                <a:latin typeface="Calibri"/>
              </a:rPr>
              <a:t>Ask AeroPulse</a:t>
            </a:r>
          </a:p>
        </p:txBody>
      </p:sp>
      <p:cxnSp>
        <p:nvCxnSpPr>
          <p:cNvPr id="44" name="Connector 43"/>
          <p:cNvCxnSpPr/>
          <p:nvPr/>
        </p:nvCxnSpPr>
        <p:spPr>
          <a:xfrm flipV="1">
            <a:off x="7397496" y="3634740"/>
            <a:ext cx="274320" cy="210312"/>
          </a:xfrm>
          <a:prstGeom prst="line">
            <a:avLst/>
          </a:prstGeom>
          <a:ln w="15875">
            <a:solidFill>
              <a:srgbClr val="6B7280"/>
            </a:solidFill>
            <a:tailEnd type="triangle" w="med" len="med"/>
          </a:ln>
        </p:spPr>
      </p:cxnSp>
      <p:cxnSp>
        <p:nvCxnSpPr>
          <p:cNvPr id="45" name="Connector 44"/>
          <p:cNvCxnSpPr/>
          <p:nvPr/>
        </p:nvCxnSpPr>
        <p:spPr>
          <a:xfrm>
            <a:off x="7397496" y="3845052"/>
            <a:ext cx="274320" cy="210311"/>
          </a:xfrm>
          <a:prstGeom prst="line">
            <a:avLst/>
          </a:prstGeom>
          <a:ln w="15875">
            <a:solidFill>
              <a:srgbClr val="6B7280"/>
            </a:solidFill>
            <a:tailEnd type="triangle" w="med" len="med"/>
          </a:ln>
        </p:spPr>
      </p:cxnSp>
      <p:sp>
        <p:nvSpPr>
          <p:cNvPr id="46" name="TextBox 45"/>
          <p:cNvSpPr txBox="1"/>
          <p:nvPr/>
        </p:nvSpPr>
        <p:spPr>
          <a:xfrm>
            <a:off x="9994392" y="3525012"/>
            <a:ext cx="1463040" cy="640080"/>
          </a:xfrm>
          <a:prstGeom prst="rect">
            <a:avLst/>
          </a:prstGeom>
          <a:noFill/>
        </p:spPr>
        <p:txBody>
          <a:bodyPr wrap="square" lIns="0" tIns="0" rIns="0" bIns="0" anchor="ctr">
            <a:spAutoFit/>
          </a:bodyPr>
          <a:lstStyle/>
          <a:p>
            <a:pPr algn="l">
              <a:spcAft>
                <a:spcPts val="400"/>
              </a:spcAft>
            </a:pPr>
            <a:r>
              <a:rPr sz="900" b="0" i="1">
                <a:solidFill>
                  <a:srgbClr val="6D28D9"/>
                </a:solidFill>
                <a:latin typeface="Calibri"/>
              </a:rPr>
              <a:t>Gemini + tools + grounding check; it cannot write an event</a:t>
            </a:r>
          </a:p>
        </p:txBody>
      </p:sp>
      <p:sp>
        <p:nvSpPr>
          <p:cNvPr id="47" name="Can 46"/>
          <p:cNvSpPr/>
          <p:nvPr/>
        </p:nvSpPr>
        <p:spPr>
          <a:xfrm>
            <a:off x="1737360" y="4668012"/>
            <a:ext cx="1691640" cy="73152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History + datasets</a:t>
            </a:r>
          </a:p>
          <a:p>
            <a:pPr algn="ctr">
              <a:spcAft>
                <a:spcPts val="0"/>
              </a:spcAft>
            </a:pPr>
            <a:r>
              <a:rPr sz="950" b="0" i="0">
                <a:solidFill>
                  <a:srgbClr val="1F2937"/>
                </a:solidFill>
                <a:latin typeface="Calibri"/>
              </a:rPr>
              <a:t>provider archives</a:t>
            </a:r>
          </a:p>
        </p:txBody>
      </p:sp>
      <p:sp>
        <p:nvSpPr>
          <p:cNvPr id="48" name="Rounded Rectangle 47"/>
          <p:cNvSpPr/>
          <p:nvPr/>
        </p:nvSpPr>
        <p:spPr>
          <a:xfrm>
            <a:off x="3721608" y="4668012"/>
            <a:ext cx="1691640" cy="731520"/>
          </a:xfrm>
          <a:prstGeom prst="roundRect">
            <a:avLst>
              <a:gd name="adj" fmla="val 15000"/>
            </a:avLst>
          </a:prstGeom>
          <a:solidFill>
            <a:srgbClr val="D1FAE5"/>
          </a:solidFill>
          <a:ln w="12700">
            <a:solidFill>
              <a:srgbClr val="047857"/>
            </a:solidFill>
          </a:ln>
          <a:effectLst/>
        </p:spPr>
        <p:txBody>
          <a:bodyPr wrap="square" lIns="45720" rIns="45720" rtlCol="0" anchor="ctr"/>
          <a:lstStyle/>
          <a:p>
            <a:pPr algn="ctr">
              <a:spcAft>
                <a:spcPts val="100"/>
              </a:spcAft>
            </a:pPr>
            <a:r>
              <a:rPr sz="1150" b="1" i="0">
                <a:solidFill>
                  <a:srgbClr val="047857"/>
                </a:solidFill>
                <a:latin typeface="Calibri"/>
              </a:rPr>
              <a:t>Features + train</a:t>
            </a:r>
          </a:p>
          <a:p>
            <a:pPr algn="ctr">
              <a:spcAft>
                <a:spcPts val="0"/>
              </a:spcAft>
            </a:pPr>
            <a:r>
              <a:rPr sz="950" b="0" i="0">
                <a:solidFill>
                  <a:srgbClr val="1F2937"/>
                </a:solidFill>
                <a:latin typeface="Calibri"/>
              </a:rPr>
              <a:t>HistGradientBoosting [12]</a:t>
            </a:r>
          </a:p>
        </p:txBody>
      </p:sp>
      <p:cxnSp>
        <p:nvCxnSpPr>
          <p:cNvPr id="49" name="Connector 48"/>
          <p:cNvCxnSpPr/>
          <p:nvPr/>
        </p:nvCxnSpPr>
        <p:spPr>
          <a:xfrm>
            <a:off x="3429000" y="5033772"/>
            <a:ext cx="274320" cy="0"/>
          </a:xfrm>
          <a:prstGeom prst="line">
            <a:avLst/>
          </a:prstGeom>
          <a:ln w="15875">
            <a:solidFill>
              <a:srgbClr val="6B7280"/>
            </a:solidFill>
            <a:tailEnd type="triangle" w="med" len="med"/>
          </a:ln>
        </p:spPr>
      </p:cxnSp>
      <p:sp>
        <p:nvSpPr>
          <p:cNvPr id="50" name="Rounded Rectangle 49"/>
          <p:cNvSpPr/>
          <p:nvPr/>
        </p:nvSpPr>
        <p:spPr>
          <a:xfrm>
            <a:off x="5705856" y="4668012"/>
            <a:ext cx="1691640" cy="731520"/>
          </a:xfrm>
          <a:prstGeom prst="roundRect">
            <a:avLst>
              <a:gd name="adj" fmla="val 15000"/>
            </a:avLst>
          </a:prstGeom>
          <a:solidFill>
            <a:srgbClr val="D1FAE5"/>
          </a:solidFill>
          <a:ln w="12700">
            <a:solidFill>
              <a:srgbClr val="047857"/>
            </a:solidFill>
          </a:ln>
          <a:effectLst/>
        </p:spPr>
        <p:txBody>
          <a:bodyPr wrap="square" lIns="45720" rIns="45720" rtlCol="0" anchor="ctr"/>
          <a:lstStyle/>
          <a:p>
            <a:pPr algn="ctr">
              <a:spcAft>
                <a:spcPts val="100"/>
              </a:spcAft>
            </a:pPr>
            <a:r>
              <a:rPr sz="1150" b="1" i="0">
                <a:solidFill>
                  <a:srgbClr val="047857"/>
                </a:solidFill>
                <a:latin typeface="Calibri"/>
              </a:rPr>
              <a:t>Evaluate</a:t>
            </a:r>
          </a:p>
          <a:p>
            <a:pPr algn="ctr">
              <a:spcAft>
                <a:spcPts val="0"/>
              </a:spcAft>
            </a:pPr>
            <a:r>
              <a:rPr sz="950" b="0" i="0">
                <a:solidFill>
                  <a:srgbClr val="1F2937"/>
                </a:solidFill>
                <a:latin typeface="Calibri"/>
              </a:rPr>
              <a:t>purged rolling-origin · season</a:t>
            </a:r>
          </a:p>
        </p:txBody>
      </p:sp>
      <p:cxnSp>
        <p:nvCxnSpPr>
          <p:cNvPr id="51" name="Connector 50"/>
          <p:cNvCxnSpPr/>
          <p:nvPr/>
        </p:nvCxnSpPr>
        <p:spPr>
          <a:xfrm>
            <a:off x="5413248" y="5033772"/>
            <a:ext cx="274320" cy="0"/>
          </a:xfrm>
          <a:prstGeom prst="line">
            <a:avLst/>
          </a:prstGeom>
          <a:ln w="15875">
            <a:solidFill>
              <a:srgbClr val="6B7280"/>
            </a:solidFill>
            <a:tailEnd type="triangle" w="med" len="med"/>
          </a:ln>
        </p:spPr>
      </p:cxnSp>
      <p:sp>
        <p:nvSpPr>
          <p:cNvPr id="52" name="Rounded Rectangle 51"/>
          <p:cNvSpPr/>
          <p:nvPr/>
        </p:nvSpPr>
        <p:spPr>
          <a:xfrm>
            <a:off x="7690104" y="4668012"/>
            <a:ext cx="1691640" cy="731520"/>
          </a:xfrm>
          <a:prstGeom prst="roundRect">
            <a:avLst>
              <a:gd name="adj" fmla="val 15000"/>
            </a:avLst>
          </a:prstGeom>
          <a:solidFill>
            <a:srgbClr val="D1FAE5"/>
          </a:solidFill>
          <a:ln w="12700">
            <a:solidFill>
              <a:srgbClr val="047857"/>
            </a:solidFill>
          </a:ln>
          <a:effectLst/>
        </p:spPr>
        <p:txBody>
          <a:bodyPr wrap="square" lIns="45720" rIns="45720" rtlCol="0" anchor="ctr"/>
          <a:lstStyle/>
          <a:p>
            <a:pPr algn="ctr">
              <a:spcAft>
                <a:spcPts val="100"/>
              </a:spcAft>
            </a:pPr>
            <a:r>
              <a:rPr sz="1150" b="1" i="0">
                <a:solidFill>
                  <a:srgbClr val="047857"/>
                </a:solidFill>
                <a:latin typeface="Calibri"/>
              </a:rPr>
              <a:t>Gate report</a:t>
            </a:r>
          </a:p>
          <a:p>
            <a:pPr algn="ctr">
              <a:spcAft>
                <a:spcPts val="0"/>
              </a:spcAft>
            </a:pPr>
            <a:r>
              <a:rPr sz="950" b="0" i="0">
                <a:solidFill>
                  <a:srgbClr val="1F2937"/>
                </a:solidFill>
                <a:latin typeface="Calibri"/>
              </a:rPr>
              <a:t>gate.json · SHA-256 pinned</a:t>
            </a:r>
          </a:p>
        </p:txBody>
      </p:sp>
      <p:cxnSp>
        <p:nvCxnSpPr>
          <p:cNvPr id="53" name="Connector 52"/>
          <p:cNvCxnSpPr/>
          <p:nvPr/>
        </p:nvCxnSpPr>
        <p:spPr>
          <a:xfrm>
            <a:off x="7397496" y="5033772"/>
            <a:ext cx="274320" cy="0"/>
          </a:xfrm>
          <a:prstGeom prst="line">
            <a:avLst/>
          </a:prstGeom>
          <a:ln w="15875">
            <a:solidFill>
              <a:srgbClr val="6B7280"/>
            </a:solidFill>
            <a:tailEnd type="triangle" w="med" len="med"/>
          </a:ln>
        </p:spPr>
      </p:cxnSp>
      <p:sp>
        <p:nvSpPr>
          <p:cNvPr id="54" name="Rounded Rectangle 53"/>
          <p:cNvSpPr/>
          <p:nvPr/>
        </p:nvSpPr>
        <p:spPr>
          <a:xfrm>
            <a:off x="9674352" y="4668012"/>
            <a:ext cx="1691640" cy="731520"/>
          </a:xfrm>
          <a:prstGeom prst="roundRect">
            <a:avLst>
              <a:gd name="adj" fmla="val 15000"/>
            </a:avLst>
          </a:prstGeom>
          <a:solidFill>
            <a:srgbClr val="FEF3C7"/>
          </a:solidFill>
          <a:ln w="12700">
            <a:solidFill>
              <a:srgbClr val="B45309"/>
            </a:solidFill>
          </a:ln>
          <a:effectLst/>
        </p:spPr>
        <p:txBody>
          <a:bodyPr wrap="square" lIns="45720" rIns="45720" rtlCol="0" anchor="ctr"/>
          <a:lstStyle/>
          <a:p>
            <a:pPr algn="ctr">
              <a:spcAft>
                <a:spcPts val="100"/>
              </a:spcAft>
            </a:pPr>
            <a:r>
              <a:rPr sz="1150" b="1" i="0">
                <a:solidFill>
                  <a:srgbClr val="B45309"/>
                </a:solidFill>
                <a:latin typeface="Calibri"/>
              </a:rPr>
              <a:t>model_serving.yaml</a:t>
            </a:r>
          </a:p>
          <a:p>
            <a:pPr algn="ctr">
              <a:spcAft>
                <a:spcPts val="0"/>
              </a:spcAft>
            </a:pPr>
            <a:r>
              <a:rPr sz="950" b="0" i="0">
                <a:solidFill>
                  <a:srgbClr val="1F2937"/>
                </a:solidFill>
                <a:latin typeface="Calibri"/>
              </a:rPr>
              <a:t>edited only by promotion PR</a:t>
            </a:r>
          </a:p>
        </p:txBody>
      </p:sp>
      <p:cxnSp>
        <p:nvCxnSpPr>
          <p:cNvPr id="55" name="Connector 54"/>
          <p:cNvCxnSpPr/>
          <p:nvPr/>
        </p:nvCxnSpPr>
        <p:spPr>
          <a:xfrm>
            <a:off x="9381744" y="5033772"/>
            <a:ext cx="274320" cy="0"/>
          </a:xfrm>
          <a:prstGeom prst="line">
            <a:avLst/>
          </a:prstGeom>
          <a:ln w="15875">
            <a:solidFill>
              <a:srgbClr val="6B7280"/>
            </a:solidFill>
            <a:tailEnd type="triangle" w="med" len="med"/>
          </a:ln>
        </p:spPr>
      </p:cxnSp>
      <p:cxnSp>
        <p:nvCxnSpPr>
          <p:cNvPr id="56" name="Connector 55"/>
          <p:cNvCxnSpPr/>
          <p:nvPr/>
        </p:nvCxnSpPr>
        <p:spPr>
          <a:xfrm flipV="1">
            <a:off x="9838944" y="3305556"/>
            <a:ext cx="0" cy="1362456"/>
          </a:xfrm>
          <a:prstGeom prst="line">
            <a:avLst/>
          </a:prstGeom>
          <a:ln w="19050">
            <a:solidFill>
              <a:srgbClr val="047857"/>
            </a:solidFill>
            <a:prstDash val="dash"/>
          </a:ln>
        </p:spPr>
      </p:cxnSp>
      <p:cxnSp>
        <p:nvCxnSpPr>
          <p:cNvPr id="57" name="Connector 56"/>
          <p:cNvCxnSpPr/>
          <p:nvPr/>
        </p:nvCxnSpPr>
        <p:spPr>
          <a:xfrm flipH="1">
            <a:off x="6551676" y="3305556"/>
            <a:ext cx="3287268" cy="0"/>
          </a:xfrm>
          <a:prstGeom prst="line">
            <a:avLst/>
          </a:prstGeom>
          <a:ln w="19050">
            <a:solidFill>
              <a:srgbClr val="047857"/>
            </a:solidFill>
            <a:prstDash val="dash"/>
          </a:ln>
        </p:spPr>
      </p:cxnSp>
      <p:cxnSp>
        <p:nvCxnSpPr>
          <p:cNvPr id="58" name="Connector 57"/>
          <p:cNvCxnSpPr/>
          <p:nvPr/>
        </p:nvCxnSpPr>
        <p:spPr>
          <a:xfrm flipV="1">
            <a:off x="6551676" y="3150108"/>
            <a:ext cx="0" cy="155448"/>
          </a:xfrm>
          <a:prstGeom prst="line">
            <a:avLst/>
          </a:prstGeom>
          <a:ln w="19050">
            <a:solidFill>
              <a:srgbClr val="047857"/>
            </a:solidFill>
            <a:prstDash val="dash"/>
            <a:tailEnd type="triangle" w="med" len="med"/>
          </a:ln>
        </p:spPr>
      </p:cxnSp>
      <p:sp>
        <p:nvSpPr>
          <p:cNvPr id="59" name="TextBox 58"/>
          <p:cNvSpPr txBox="1"/>
          <p:nvPr/>
        </p:nvSpPr>
        <p:spPr>
          <a:xfrm>
            <a:off x="7598664" y="3287268"/>
            <a:ext cx="1737360" cy="182880"/>
          </a:xfrm>
          <a:prstGeom prst="rect">
            <a:avLst/>
          </a:prstGeom>
          <a:noFill/>
        </p:spPr>
        <p:txBody>
          <a:bodyPr wrap="square" lIns="0" tIns="0" rIns="0" bIns="0" anchor="t">
            <a:spAutoFit/>
          </a:bodyPr>
          <a:lstStyle/>
          <a:p>
            <a:pPr algn="ctr">
              <a:spcAft>
                <a:spcPts val="400"/>
              </a:spcAft>
            </a:pPr>
            <a:r>
              <a:rPr sz="850" b="0" i="1">
                <a:solidFill>
                  <a:srgbClr val="047857"/>
                </a:solidFill>
                <a:latin typeface="Calibri"/>
              </a:rPr>
              <a:t>reviewed promotion</a:t>
            </a:r>
          </a:p>
        </p:txBody>
      </p:sp>
      <p:sp>
        <p:nvSpPr>
          <p:cNvPr id="60" name="TextBox 59"/>
          <p:cNvSpPr txBox="1"/>
          <p:nvPr/>
        </p:nvSpPr>
        <p:spPr>
          <a:xfrm>
            <a:off x="502920" y="5596128"/>
            <a:ext cx="633953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4.  </a:t>
            </a:r>
            <a:r>
              <a:rPr sz="1050" b="0" i="0">
                <a:solidFill>
                  <a:srgbClr val="1F2937"/>
                </a:solidFill>
                <a:latin typeface="Calibri"/>
              </a:rPr>
              <a:t>AeroPulse runtime for one region and cycle (snake order), plus offline training.</a:t>
            </a:r>
          </a:p>
        </p:txBody>
      </p:sp>
      <p:sp>
        <p:nvSpPr>
          <p:cNvPr id="61" name="Rounded Rectangle 60"/>
          <p:cNvSpPr/>
          <p:nvPr/>
        </p:nvSpPr>
        <p:spPr>
          <a:xfrm>
            <a:off x="7025335" y="5632704"/>
            <a:ext cx="182880" cy="182880"/>
          </a:xfrm>
          <a:prstGeom prst="roundRect">
            <a:avLst>
              <a:gd name="adj" fmla="val 15000"/>
            </a:avLst>
          </a:prstGeom>
          <a:solidFill>
            <a:srgbClr val="E0EEF6"/>
          </a:solidFill>
          <a:ln w="12700">
            <a:solidFill>
              <a:srgbClr val="00629B"/>
            </a:solidFill>
          </a:ln>
          <a:effectLst/>
        </p:spPr>
        <p:txBody>
          <a:bodyPr wrap="square" lIns="54864" tIns="54864" rIns="54864" bIns="54864" rtlCol="0" anchor="ctr"/>
          <a:lstStyle/>
          <a:p>
            <a:pPr algn="ctr"/>
            <a:endParaRPr/>
          </a:p>
        </p:txBody>
      </p:sp>
      <p:sp>
        <p:nvSpPr>
          <p:cNvPr id="62" name="TextBox 61"/>
          <p:cNvSpPr txBox="1"/>
          <p:nvPr/>
        </p:nvSpPr>
        <p:spPr>
          <a:xfrm>
            <a:off x="7253935" y="5596128"/>
            <a:ext cx="731520" cy="274320"/>
          </a:xfrm>
          <a:prstGeom prst="rect">
            <a:avLst/>
          </a:prstGeom>
          <a:noFill/>
        </p:spPr>
        <p:txBody>
          <a:bodyPr wrap="square" lIns="0" tIns="0" rIns="0" bIns="0" anchor="t">
            <a:spAutoFit/>
          </a:bodyPr>
          <a:lstStyle/>
          <a:p>
            <a:pPr algn="l">
              <a:spcAft>
                <a:spcPts val="400"/>
              </a:spcAft>
            </a:pPr>
            <a:r>
              <a:rPr sz="900" b="0" i="0">
                <a:solidFill>
                  <a:srgbClr val="1F2937"/>
                </a:solidFill>
                <a:latin typeface="Calibri"/>
              </a:rPr>
              <a:t>Rule / code</a:t>
            </a:r>
          </a:p>
        </p:txBody>
      </p:sp>
      <p:sp>
        <p:nvSpPr>
          <p:cNvPr id="63" name="Rounded Rectangle 62"/>
          <p:cNvSpPr/>
          <p:nvPr/>
        </p:nvSpPr>
        <p:spPr>
          <a:xfrm>
            <a:off x="7958023" y="5632704"/>
            <a:ext cx="182880" cy="182880"/>
          </a:xfrm>
          <a:prstGeom prst="roundRect">
            <a:avLst>
              <a:gd name="adj" fmla="val 15000"/>
            </a:avLst>
          </a:prstGeom>
          <a:solidFill>
            <a:srgbClr val="F2F5F8"/>
          </a:solidFill>
          <a:ln w="12700">
            <a:solidFill>
              <a:srgbClr val="6B7280"/>
            </a:solidFill>
          </a:ln>
          <a:effectLst/>
        </p:spPr>
        <p:txBody>
          <a:bodyPr wrap="square" lIns="54864" tIns="54864" rIns="54864" bIns="54864" rtlCol="0" anchor="ctr"/>
          <a:lstStyle/>
          <a:p>
            <a:pPr algn="ctr"/>
            <a:endParaRPr/>
          </a:p>
        </p:txBody>
      </p:sp>
      <p:sp>
        <p:nvSpPr>
          <p:cNvPr id="64" name="TextBox 63"/>
          <p:cNvSpPr txBox="1"/>
          <p:nvPr/>
        </p:nvSpPr>
        <p:spPr>
          <a:xfrm>
            <a:off x="8186623" y="5596128"/>
            <a:ext cx="731520" cy="274320"/>
          </a:xfrm>
          <a:prstGeom prst="rect">
            <a:avLst/>
          </a:prstGeom>
          <a:noFill/>
        </p:spPr>
        <p:txBody>
          <a:bodyPr wrap="square" lIns="0" tIns="0" rIns="0" bIns="0" anchor="t">
            <a:spAutoFit/>
          </a:bodyPr>
          <a:lstStyle/>
          <a:p>
            <a:pPr algn="l">
              <a:spcAft>
                <a:spcPts val="400"/>
              </a:spcAft>
            </a:pPr>
            <a:r>
              <a:rPr sz="900" b="0" i="0">
                <a:solidFill>
                  <a:srgbClr val="1F2937"/>
                </a:solidFill>
                <a:latin typeface="Calibri"/>
              </a:rPr>
              <a:t>Store</a:t>
            </a:r>
          </a:p>
        </p:txBody>
      </p:sp>
      <p:sp>
        <p:nvSpPr>
          <p:cNvPr id="65" name="Rounded Rectangle 64"/>
          <p:cNvSpPr/>
          <p:nvPr/>
        </p:nvSpPr>
        <p:spPr>
          <a:xfrm>
            <a:off x="8890711" y="5632704"/>
            <a:ext cx="182880" cy="182880"/>
          </a:xfrm>
          <a:prstGeom prst="roundRect">
            <a:avLst>
              <a:gd name="adj" fmla="val 15000"/>
            </a:avLst>
          </a:prstGeom>
          <a:solidFill>
            <a:srgbClr val="D1FAE5"/>
          </a:solidFill>
          <a:ln w="12700">
            <a:solidFill>
              <a:srgbClr val="047857"/>
            </a:solidFill>
          </a:ln>
          <a:effectLst/>
        </p:spPr>
        <p:txBody>
          <a:bodyPr wrap="square" lIns="54864" tIns="54864" rIns="54864" bIns="54864" rtlCol="0" anchor="ctr"/>
          <a:lstStyle/>
          <a:p>
            <a:pPr algn="ctr"/>
            <a:endParaRPr/>
          </a:p>
        </p:txBody>
      </p:sp>
      <p:sp>
        <p:nvSpPr>
          <p:cNvPr id="66" name="TextBox 65"/>
          <p:cNvSpPr txBox="1"/>
          <p:nvPr/>
        </p:nvSpPr>
        <p:spPr>
          <a:xfrm>
            <a:off x="9119311" y="5596128"/>
            <a:ext cx="731520" cy="274320"/>
          </a:xfrm>
          <a:prstGeom prst="rect">
            <a:avLst/>
          </a:prstGeom>
          <a:noFill/>
        </p:spPr>
        <p:txBody>
          <a:bodyPr wrap="square" lIns="0" tIns="0" rIns="0" bIns="0" anchor="t">
            <a:spAutoFit/>
          </a:bodyPr>
          <a:lstStyle/>
          <a:p>
            <a:pPr algn="l">
              <a:spcAft>
                <a:spcPts val="400"/>
              </a:spcAft>
            </a:pPr>
            <a:r>
              <a:rPr sz="900" b="0" i="0">
                <a:solidFill>
                  <a:srgbClr val="1F2937"/>
                </a:solidFill>
                <a:latin typeface="Calibri"/>
              </a:rPr>
              <a:t>Trained model</a:t>
            </a:r>
          </a:p>
        </p:txBody>
      </p:sp>
      <p:sp>
        <p:nvSpPr>
          <p:cNvPr id="67" name="Rounded Rectangle 66"/>
          <p:cNvSpPr/>
          <p:nvPr/>
        </p:nvSpPr>
        <p:spPr>
          <a:xfrm>
            <a:off x="9823399" y="5632704"/>
            <a:ext cx="182880" cy="182880"/>
          </a:xfrm>
          <a:prstGeom prst="roundRect">
            <a:avLst>
              <a:gd name="adj" fmla="val 15000"/>
            </a:avLst>
          </a:prstGeom>
          <a:solidFill>
            <a:srgbClr val="EDE9FE"/>
          </a:solidFill>
          <a:ln w="12700">
            <a:solidFill>
              <a:srgbClr val="6D28D9"/>
            </a:solidFill>
          </a:ln>
          <a:effectLst/>
        </p:spPr>
        <p:txBody>
          <a:bodyPr wrap="square" lIns="54864" tIns="54864" rIns="54864" bIns="54864" rtlCol="0" anchor="ctr"/>
          <a:lstStyle/>
          <a:p>
            <a:pPr algn="ctr"/>
            <a:endParaRPr/>
          </a:p>
        </p:txBody>
      </p:sp>
      <p:sp>
        <p:nvSpPr>
          <p:cNvPr id="68" name="TextBox 67"/>
          <p:cNvSpPr txBox="1"/>
          <p:nvPr/>
        </p:nvSpPr>
        <p:spPr>
          <a:xfrm>
            <a:off x="10051999" y="5596128"/>
            <a:ext cx="731520" cy="274320"/>
          </a:xfrm>
          <a:prstGeom prst="rect">
            <a:avLst/>
          </a:prstGeom>
          <a:noFill/>
        </p:spPr>
        <p:txBody>
          <a:bodyPr wrap="square" lIns="0" tIns="0" rIns="0" bIns="0" anchor="t">
            <a:spAutoFit/>
          </a:bodyPr>
          <a:lstStyle/>
          <a:p>
            <a:pPr algn="l">
              <a:spcAft>
                <a:spcPts val="400"/>
              </a:spcAft>
            </a:pPr>
            <a:r>
              <a:rPr sz="900" b="0" i="0">
                <a:solidFill>
                  <a:srgbClr val="1F2937"/>
                </a:solidFill>
                <a:latin typeface="Calibri"/>
              </a:rPr>
              <a:t>LLM</a:t>
            </a:r>
          </a:p>
        </p:txBody>
      </p:sp>
      <p:sp>
        <p:nvSpPr>
          <p:cNvPr id="69" name="Rounded Rectangle 68"/>
          <p:cNvSpPr/>
          <p:nvPr/>
        </p:nvSpPr>
        <p:spPr>
          <a:xfrm>
            <a:off x="10756087" y="5632704"/>
            <a:ext cx="182880" cy="182880"/>
          </a:xfrm>
          <a:prstGeom prst="roundRect">
            <a:avLst>
              <a:gd name="adj" fmla="val 15000"/>
            </a:avLst>
          </a:prstGeom>
          <a:solidFill>
            <a:srgbClr val="FEF3C7"/>
          </a:solidFill>
          <a:ln w="12700">
            <a:solidFill>
              <a:srgbClr val="B45309"/>
            </a:solidFill>
          </a:ln>
          <a:effectLst/>
        </p:spPr>
        <p:txBody>
          <a:bodyPr wrap="square" lIns="54864" tIns="54864" rIns="54864" bIns="54864" rtlCol="0" anchor="ctr"/>
          <a:lstStyle/>
          <a:p>
            <a:pPr algn="ctr"/>
            <a:endParaRPr/>
          </a:p>
        </p:txBody>
      </p:sp>
      <p:sp>
        <p:nvSpPr>
          <p:cNvPr id="70" name="TextBox 69"/>
          <p:cNvSpPr txBox="1"/>
          <p:nvPr/>
        </p:nvSpPr>
        <p:spPr>
          <a:xfrm>
            <a:off x="10984687" y="5596128"/>
            <a:ext cx="731520" cy="274320"/>
          </a:xfrm>
          <a:prstGeom prst="rect">
            <a:avLst/>
          </a:prstGeom>
          <a:noFill/>
        </p:spPr>
        <p:txBody>
          <a:bodyPr wrap="square" lIns="0" tIns="0" rIns="0" bIns="0" anchor="t">
            <a:spAutoFit/>
          </a:bodyPr>
          <a:lstStyle/>
          <a:p>
            <a:pPr algn="l">
              <a:spcAft>
                <a:spcPts val="400"/>
              </a:spcAft>
            </a:pPr>
            <a:r>
              <a:rPr sz="900" b="0" i="0">
                <a:solidFill>
                  <a:srgbClr val="1F2937"/>
                </a:solidFill>
                <a:latin typeface="Calibri"/>
              </a:rPr>
              <a:t>Config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IV-B. DATA SOURCES</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dirty="0">
                <a:solidFill>
                  <a:srgbClr val="002855"/>
                </a:solidFill>
                <a:latin typeface="Times New Roman"/>
              </a:rPr>
              <a:t>Data Ingestion and Provenance</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8 / 18</a:t>
            </a:r>
          </a:p>
        </p:txBody>
      </p:sp>
      <p:sp>
        <p:nvSpPr>
          <p:cNvPr id="8" name="TextBox 7"/>
          <p:cNvSpPr txBox="1"/>
          <p:nvPr/>
        </p:nvSpPr>
        <p:spPr>
          <a:xfrm>
            <a:off x="502920" y="1188720"/>
            <a:ext cx="7680960"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II</a:t>
            </a:r>
          </a:p>
          <a:p>
            <a:pPr algn="ctr">
              <a:spcAft>
                <a:spcPts val="0"/>
              </a:spcAft>
            </a:pPr>
            <a:r>
              <a:rPr sz="900" b="0" i="0">
                <a:solidFill>
                  <a:srgbClr val="1F2937"/>
                </a:solidFill>
                <a:latin typeface="Calibri"/>
              </a:rPr>
              <a:t>CONNECTORS ENABLED IN THE REGION PACKS</a:t>
            </a:r>
          </a:p>
        </p:txBody>
      </p:sp>
      <p:graphicFrame>
        <p:nvGraphicFramePr>
          <p:cNvPr id="9" name="Table 8"/>
          <p:cNvGraphicFramePr>
            <a:graphicFrameLocks noGrp="1"/>
          </p:cNvGraphicFramePr>
          <p:nvPr/>
        </p:nvGraphicFramePr>
        <p:xfrm>
          <a:off x="502920" y="1664208"/>
          <a:ext cx="7680956" cy="2688336"/>
        </p:xfrm>
        <a:graphic>
          <a:graphicData uri="http://schemas.openxmlformats.org/drawingml/2006/table">
            <a:tbl>
              <a:tblPr firstRow="1" bandRow="1">
                <a:tableStyleId>{5940675A-B579-460E-94D1-54222C63F5DA}</a:tableStyleId>
              </a:tblPr>
              <a:tblGrid>
                <a:gridCol w="1376356">
                  <a:extLst>
                    <a:ext uri="{9D8B030D-6E8A-4147-A177-3AD203B41FA5}">
                      <a16:colId xmlns:a16="http://schemas.microsoft.com/office/drawing/2014/main" val="20000"/>
                    </a:ext>
                  </a:extLst>
                </a:gridCol>
                <a:gridCol w="2219930">
                  <a:extLst>
                    <a:ext uri="{9D8B030D-6E8A-4147-A177-3AD203B41FA5}">
                      <a16:colId xmlns:a16="http://schemas.microsoft.com/office/drawing/2014/main" val="20001"/>
                    </a:ext>
                  </a:extLst>
                </a:gridCol>
                <a:gridCol w="1021168">
                  <a:extLst>
                    <a:ext uri="{9D8B030D-6E8A-4147-A177-3AD203B41FA5}">
                      <a16:colId xmlns:a16="http://schemas.microsoft.com/office/drawing/2014/main" val="20002"/>
                    </a:ext>
                  </a:extLst>
                </a:gridCol>
                <a:gridCol w="843573">
                  <a:extLst>
                    <a:ext uri="{9D8B030D-6E8A-4147-A177-3AD203B41FA5}">
                      <a16:colId xmlns:a16="http://schemas.microsoft.com/office/drawing/2014/main" val="20003"/>
                    </a:ext>
                  </a:extLst>
                </a:gridCol>
                <a:gridCol w="932370">
                  <a:extLst>
                    <a:ext uri="{9D8B030D-6E8A-4147-A177-3AD203B41FA5}">
                      <a16:colId xmlns:a16="http://schemas.microsoft.com/office/drawing/2014/main" val="20004"/>
                    </a:ext>
                  </a:extLst>
                </a:gridCol>
                <a:gridCol w="1287559">
                  <a:extLst>
                    <a:ext uri="{9D8B030D-6E8A-4147-A177-3AD203B41FA5}">
                      <a16:colId xmlns:a16="http://schemas.microsoft.com/office/drawing/2014/main" val="20005"/>
                    </a:ext>
                  </a:extLst>
                </a:gridCol>
              </a:tblGrid>
              <a:tr h="384048">
                <a:tc>
                  <a:txBody>
                    <a:bodyPr/>
                    <a:lstStyle/>
                    <a:p>
                      <a:pPr algn="l">
                        <a:spcAft>
                          <a:spcPts val="0"/>
                        </a:spcAft>
                      </a:pPr>
                      <a:r>
                        <a:rPr sz="1100" b="1" i="0">
                          <a:solidFill>
                            <a:srgbClr val="FFFFFF"/>
                          </a:solidFill>
                          <a:latin typeface="Calibri"/>
                        </a:rPr>
                        <a:t>Source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Data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Provenance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Cadence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Regions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Credential</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384048">
                <a:tc>
                  <a:txBody>
                    <a:bodyPr/>
                    <a:lstStyle/>
                    <a:p>
                      <a:pPr algn="l">
                        <a:spcAft>
                          <a:spcPts val="0"/>
                        </a:spcAft>
                      </a:pPr>
                      <a:r>
                        <a:rPr sz="1050" b="0" i="0">
                          <a:solidFill>
                            <a:srgbClr val="1F2937"/>
                          </a:solidFill>
                          <a:latin typeface="Calibri"/>
                        </a:rPr>
                        <a:t>OpenAQ [2]</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Ground-station PM2.5, PM10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measured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15 min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all three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key (Secret Manager)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384048">
                <a:tc>
                  <a:txBody>
                    <a:bodyPr/>
                    <a:lstStyle/>
                    <a:p>
                      <a:pPr algn="l">
                        <a:spcAft>
                          <a:spcPts val="0"/>
                        </a:spcAft>
                      </a:pPr>
                      <a:r>
                        <a:rPr sz="1050" b="0" i="0">
                          <a:solidFill>
                            <a:srgbClr val="1F2937"/>
                          </a:solidFill>
                          <a:latin typeface="Calibri"/>
                        </a:rPr>
                        <a:t>NEA, data.gov.sg [9]</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1-h PM2.5 per reporting region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measured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hourly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Singapore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none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384048">
                <a:tc>
                  <a:txBody>
                    <a:bodyPr/>
                    <a:lstStyle/>
                    <a:p>
                      <a:pPr algn="l">
                        <a:spcAft>
                          <a:spcPts val="0"/>
                        </a:spcAft>
                      </a:pPr>
                      <a:r>
                        <a:rPr sz="1050" b="0" i="0">
                          <a:solidFill>
                            <a:srgbClr val="1F2937"/>
                          </a:solidFill>
                          <a:latin typeface="Calibri"/>
                        </a:rPr>
                        <a:t>CPCB [8]</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Station PM2.5 (replay fixture)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measured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replay only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North India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none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r h="384048">
                <a:tc>
                  <a:txBody>
                    <a:bodyPr/>
                    <a:lstStyle/>
                    <a:p>
                      <a:pPr algn="l">
                        <a:spcAft>
                          <a:spcPts val="0"/>
                        </a:spcAft>
                      </a:pPr>
                      <a:r>
                        <a:rPr sz="1050" b="0" i="0">
                          <a:solidFill>
                            <a:srgbClr val="1F2937"/>
                          </a:solidFill>
                          <a:latin typeface="Calibri"/>
                        </a:rPr>
                        <a:t>NASA FIRMS [3]</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VIIRS active fires (NOAA-20, S-NPP)</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measured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15 min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all three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key (Secret Manager)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4"/>
                  </a:ext>
                </a:extLst>
              </a:tr>
              <a:tr h="384048">
                <a:tc>
                  <a:txBody>
                    <a:bodyPr/>
                    <a:lstStyle/>
                    <a:p>
                      <a:pPr algn="l">
                        <a:spcAft>
                          <a:spcPts val="0"/>
                        </a:spcAft>
                      </a:pPr>
                      <a:r>
                        <a:rPr sz="1050" b="0" i="0">
                          <a:solidFill>
                            <a:srgbClr val="1F2937"/>
                          </a:solidFill>
                          <a:latin typeface="Calibri"/>
                        </a:rPr>
                        <a:t>Open-Meteo [4], [5]</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Weather + CAMS air quality, 48 h forecast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model-derived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hourly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all three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none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5"/>
                  </a:ext>
                </a:extLst>
              </a:tr>
              <a:tr h="384048">
                <a:tc>
                  <a:txBody>
                    <a:bodyPr/>
                    <a:lstStyle/>
                    <a:p>
                      <a:pPr algn="l">
                        <a:spcAft>
                          <a:spcPts val="0"/>
                        </a:spcAft>
                      </a:pPr>
                      <a:r>
                        <a:rPr sz="1050" b="0" i="0">
                          <a:solidFill>
                            <a:srgbClr val="1F2937"/>
                          </a:solidFill>
                          <a:latin typeface="Calibri"/>
                        </a:rPr>
                        <a:t>Earth Engine [6], [7]</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Sentinel-5P UV aerosol index</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measured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daily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all three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GCP project + ADC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502920" y="4526280"/>
            <a:ext cx="7680960" cy="1371600"/>
          </a:xfrm>
          <a:prstGeom prst="rect">
            <a:avLst/>
          </a:prstGeom>
          <a:noFill/>
        </p:spPr>
        <p:txBody>
          <a:bodyPr wrap="square" lIns="36576" tIns="36576" rIns="36576" bIns="36576" anchor="t">
            <a:spAutoFit/>
          </a:bodyPr>
          <a:lstStyle/>
          <a:p>
            <a:pPr marL="167640" indent="-167640" algn="l">
              <a:spcAft>
                <a:spcPts val="400"/>
              </a:spcAft>
              <a:buClr>
                <a:srgbClr val="00629B"/>
              </a:buClr>
              <a:buFont typeface="Arial"/>
              <a:buChar char="▪"/>
            </a:pPr>
            <a:r>
              <a:rPr sz="1200" b="1" i="0">
                <a:solidFill>
                  <a:srgbClr val="1F2937"/>
                </a:solidFill>
                <a:latin typeface="Calibri"/>
              </a:rPr>
              <a:t>Vendor JSON stops at normalize</a:t>
            </a:r>
            <a:r>
              <a:rPr sz="1200" b="0" i="0">
                <a:solidFill>
                  <a:srgbClr val="1F2937"/>
                </a:solidFill>
                <a:latin typeface="Calibri"/>
              </a:rPr>
              <a:t> — only shared contracts continue downstream</a:t>
            </a:r>
          </a:p>
          <a:p>
            <a:pPr marL="167640" indent="-167640" algn="l">
              <a:spcAft>
                <a:spcPts val="400"/>
              </a:spcAft>
              <a:buClr>
                <a:srgbClr val="00629B"/>
              </a:buClr>
              <a:buFont typeface="Arial"/>
              <a:buChar char="▪"/>
            </a:pPr>
            <a:r>
              <a:rPr sz="1200" b="1" i="0">
                <a:solidFill>
                  <a:srgbClr val="1F2937"/>
                </a:solidFill>
                <a:latin typeface="Calibri"/>
              </a:rPr>
              <a:t>Ground station outranks CAMS</a:t>
            </a:r>
            <a:r>
              <a:rPr sz="1200" b="0" i="0">
                <a:solidFill>
                  <a:srgbClr val="1F2937"/>
                </a:solidFill>
                <a:latin typeface="Calibri"/>
              </a:rPr>
              <a:t> for the same cell-hour</a:t>
            </a:r>
          </a:p>
          <a:p>
            <a:pPr marL="167640" indent="-167640" algn="l">
              <a:spcAft>
                <a:spcPts val="400"/>
              </a:spcAft>
              <a:buClr>
                <a:srgbClr val="00629B"/>
              </a:buClr>
              <a:buFont typeface="Arial"/>
              <a:buChar char="▪"/>
            </a:pPr>
            <a:r>
              <a:rPr sz="1200" b="1" i="0">
                <a:solidFill>
                  <a:srgbClr val="1F2937"/>
                </a:solidFill>
                <a:latin typeface="Calibri"/>
              </a:rPr>
              <a:t>Missing key → “not configured”</a:t>
            </a:r>
            <a:r>
              <a:rPr sz="1200" b="0" i="0">
                <a:solidFill>
                  <a:srgbClr val="1F2937"/>
                </a:solidFill>
                <a:latin typeface="Calibri"/>
              </a:rPr>
              <a:t>, zero records; never a silent fixture under a Live banner</a:t>
            </a:r>
          </a:p>
          <a:p>
            <a:pPr marL="167640" indent="-167640" algn="l">
              <a:spcAft>
                <a:spcPts val="400"/>
              </a:spcAft>
              <a:buClr>
                <a:srgbClr val="00629B"/>
              </a:buClr>
              <a:buFont typeface="Arial"/>
              <a:buChar char="▪"/>
            </a:pPr>
            <a:r>
              <a:rPr sz="1200" b="1" i="0">
                <a:solidFill>
                  <a:srgbClr val="1F2937"/>
                </a:solidFill>
                <a:latin typeface="Calibri"/>
              </a:rPr>
              <a:t>IMD stays off</a:t>
            </a:r>
            <a:r>
              <a:rPr sz="1200" b="0" i="0">
                <a:solidFill>
                  <a:srgbClr val="1F2937"/>
                </a:solidFill>
                <a:latin typeface="Calibri"/>
              </a:rPr>
              <a:t> — Open-Meteo already covers the same weather sites</a:t>
            </a:r>
          </a:p>
        </p:txBody>
      </p:sp>
      <p:sp>
        <p:nvSpPr>
          <p:cNvPr id="11" name="Rounded Rectangle 10"/>
          <p:cNvSpPr/>
          <p:nvPr/>
        </p:nvSpPr>
        <p:spPr>
          <a:xfrm>
            <a:off x="8412480" y="1280160"/>
            <a:ext cx="3276295" cy="1325880"/>
          </a:xfrm>
          <a:prstGeom prst="roundRect">
            <a:avLst>
              <a:gd name="adj" fmla="val 8275"/>
            </a:avLst>
          </a:prstGeom>
          <a:solidFill>
            <a:srgbClr val="FFFFFF"/>
          </a:solidFill>
          <a:ln w="12700">
            <a:solidFill>
              <a:srgbClr val="E5E7EB"/>
            </a:solidFill>
          </a:ln>
          <a:effectLst/>
        </p:spPr>
        <p:txBody>
          <a:bodyPr wrap="square" lIns="128016" tIns="128016" rIns="128016" bIns="128016" rtlCol="0" anchor="t"/>
          <a:lstStyle/>
          <a:p>
            <a:pPr algn="l">
              <a:spcAft>
                <a:spcPts val="200"/>
              </a:spcAft>
            </a:pPr>
            <a:r>
              <a:rPr sz="1200" b="1" i="0">
                <a:solidFill>
                  <a:srgbClr val="002855"/>
                </a:solidFill>
                <a:latin typeface="Calibri"/>
              </a:rPr>
              <a:t>Ground truth per region</a:t>
            </a:r>
          </a:p>
          <a:p>
            <a:pPr marL="153670" indent="-153670" algn="l">
              <a:spcAft>
                <a:spcPts val="200"/>
              </a:spcAft>
              <a:buClr>
                <a:srgbClr val="00629B"/>
              </a:buClr>
              <a:buFont typeface="Arial"/>
              <a:buChar char="•"/>
            </a:pPr>
            <a:r>
              <a:rPr sz="1100" b="0" i="0">
                <a:solidFill>
                  <a:srgbClr val="1F2937"/>
                </a:solidFill>
                <a:latin typeface="Calibri"/>
              </a:rPr>
              <a:t>North India: openaq, cpcb</a:t>
            </a:r>
          </a:p>
          <a:p>
            <a:pPr marL="153670" indent="-153670" algn="l">
              <a:spcAft>
                <a:spcPts val="200"/>
              </a:spcAft>
              <a:buClr>
                <a:srgbClr val="00629B"/>
              </a:buClr>
              <a:buFont typeface="Arial"/>
              <a:buChar char="•"/>
            </a:pPr>
            <a:r>
              <a:rPr sz="1100" b="0" i="0">
                <a:solidFill>
                  <a:srgbClr val="1F2937"/>
                </a:solidFill>
                <a:latin typeface="Calibri"/>
              </a:rPr>
              <a:t>Singapore: openaq, nea</a:t>
            </a:r>
          </a:p>
          <a:p>
            <a:pPr marL="153670" indent="-153670" algn="l">
              <a:spcAft>
                <a:spcPts val="200"/>
              </a:spcAft>
              <a:buClr>
                <a:srgbClr val="00629B"/>
              </a:buClr>
              <a:buFont typeface="Arial"/>
              <a:buChar char="•"/>
            </a:pPr>
            <a:r>
              <a:rPr sz="1100" b="0" i="0">
                <a:solidFill>
                  <a:srgbClr val="1F2937"/>
                </a:solidFill>
                <a:latin typeface="Calibri"/>
              </a:rPr>
              <a:t>NSW: openaq</a:t>
            </a:r>
          </a:p>
        </p:txBody>
      </p:sp>
      <p:sp>
        <p:nvSpPr>
          <p:cNvPr id="12" name="Rounded Rectangle 11"/>
          <p:cNvSpPr/>
          <p:nvPr/>
        </p:nvSpPr>
        <p:spPr>
          <a:xfrm>
            <a:off x="8412480" y="2743200"/>
            <a:ext cx="3276295" cy="1280160"/>
          </a:xfrm>
          <a:prstGeom prst="roundRect">
            <a:avLst>
              <a:gd name="adj" fmla="val 5714"/>
            </a:avLst>
          </a:prstGeom>
          <a:solidFill>
            <a:srgbClr val="FFFFFF"/>
          </a:solidFill>
          <a:ln w="12700">
            <a:solidFill>
              <a:srgbClr val="E5E7EB"/>
            </a:solidFill>
          </a:ln>
          <a:effectLst/>
        </p:spPr>
        <p:txBody>
          <a:bodyPr wrap="square" lIns="54864" tIns="54864" rIns="54864" bIns="54864" rtlCol="0" anchor="ctr"/>
          <a:lstStyle/>
          <a:p>
            <a:pPr algn="ctr"/>
            <a:endParaRPr/>
          </a:p>
        </p:txBody>
      </p:sp>
      <p:sp>
        <p:nvSpPr>
          <p:cNvPr id="13" name="TextBox 12"/>
          <p:cNvSpPr txBox="1"/>
          <p:nvPr/>
        </p:nvSpPr>
        <p:spPr>
          <a:xfrm>
            <a:off x="8540496" y="2816352"/>
            <a:ext cx="3020263" cy="274320"/>
          </a:xfrm>
          <a:prstGeom prst="rect">
            <a:avLst/>
          </a:prstGeom>
          <a:noFill/>
        </p:spPr>
        <p:txBody>
          <a:bodyPr wrap="square" lIns="36576" tIns="36576" rIns="36576" bIns="36576" anchor="t">
            <a:spAutoFit/>
          </a:bodyPr>
          <a:lstStyle/>
          <a:p>
            <a:pPr algn="l">
              <a:spcAft>
                <a:spcPts val="400"/>
              </a:spcAft>
            </a:pPr>
            <a:r>
              <a:rPr sz="1200" b="1" i="0">
                <a:solidFill>
                  <a:srgbClr val="002855"/>
                </a:solidFill>
                <a:latin typeface="Calibri"/>
              </a:rPr>
              <a:t>Source health on the Data sources page</a:t>
            </a:r>
          </a:p>
        </p:txBody>
      </p:sp>
      <p:sp>
        <p:nvSpPr>
          <p:cNvPr id="14" name="Rounded Rectangle 13"/>
          <p:cNvSpPr/>
          <p:nvPr/>
        </p:nvSpPr>
        <p:spPr>
          <a:xfrm>
            <a:off x="8540496" y="3154680"/>
            <a:ext cx="933602" cy="292608"/>
          </a:xfrm>
          <a:prstGeom prst="roundRect">
            <a:avLst>
              <a:gd name="adj" fmla="val 50000"/>
            </a:avLst>
          </a:prstGeom>
          <a:solidFill>
            <a:srgbClr val="FFFFFF"/>
          </a:solidFill>
          <a:ln w="12700">
            <a:solidFill>
              <a:srgbClr val="047857"/>
            </a:solidFill>
          </a:ln>
          <a:effectLst/>
        </p:spPr>
        <p:txBody>
          <a:bodyPr wrap="square" lIns="54864" tIns="54864" rIns="54864" bIns="54864" rtlCol="0" anchor="ctr"/>
          <a:lstStyle/>
          <a:p>
            <a:pPr algn="ctr">
              <a:spcAft>
                <a:spcPts val="400"/>
              </a:spcAft>
            </a:pPr>
            <a:r>
              <a:rPr sz="1000" b="1" i="0">
                <a:solidFill>
                  <a:srgbClr val="047857"/>
                </a:solidFill>
                <a:latin typeface="Calibri"/>
              </a:rPr>
              <a:t>healthy</a:t>
            </a:r>
          </a:p>
        </p:txBody>
      </p:sp>
      <p:sp>
        <p:nvSpPr>
          <p:cNvPr id="15" name="Rounded Rectangle 14"/>
          <p:cNvSpPr/>
          <p:nvPr/>
        </p:nvSpPr>
        <p:spPr>
          <a:xfrm>
            <a:off x="9547250" y="3154680"/>
            <a:ext cx="933602" cy="292608"/>
          </a:xfrm>
          <a:prstGeom prst="roundRect">
            <a:avLst>
              <a:gd name="adj" fmla="val 50000"/>
            </a:avLst>
          </a:prstGeom>
          <a:solidFill>
            <a:srgbClr val="FFFFFF"/>
          </a:solidFill>
          <a:ln w="12700">
            <a:solidFill>
              <a:srgbClr val="B45309"/>
            </a:solidFill>
          </a:ln>
          <a:effectLst/>
        </p:spPr>
        <p:txBody>
          <a:bodyPr wrap="square" lIns="54864" tIns="54864" rIns="54864" bIns="54864" rtlCol="0" anchor="ctr"/>
          <a:lstStyle/>
          <a:p>
            <a:pPr algn="ctr">
              <a:spcAft>
                <a:spcPts val="400"/>
              </a:spcAft>
            </a:pPr>
            <a:r>
              <a:rPr sz="1000" b="1" i="0">
                <a:solidFill>
                  <a:srgbClr val="B45309"/>
                </a:solidFill>
                <a:latin typeface="Calibri"/>
              </a:rPr>
              <a:t>degraded</a:t>
            </a:r>
          </a:p>
        </p:txBody>
      </p:sp>
      <p:sp>
        <p:nvSpPr>
          <p:cNvPr id="16" name="Rounded Rectangle 15"/>
          <p:cNvSpPr/>
          <p:nvPr/>
        </p:nvSpPr>
        <p:spPr>
          <a:xfrm>
            <a:off x="10554004" y="3154680"/>
            <a:ext cx="933602" cy="292608"/>
          </a:xfrm>
          <a:prstGeom prst="roundRect">
            <a:avLst>
              <a:gd name="adj" fmla="val 50000"/>
            </a:avLst>
          </a:prstGeom>
          <a:solidFill>
            <a:srgbClr val="FFFFFF"/>
          </a:solidFill>
          <a:ln w="12700">
            <a:solidFill>
              <a:srgbClr val="BE123C"/>
            </a:solidFill>
          </a:ln>
          <a:effectLst/>
        </p:spPr>
        <p:txBody>
          <a:bodyPr wrap="square" lIns="54864" tIns="54864" rIns="54864" bIns="54864" rtlCol="0" anchor="ctr"/>
          <a:lstStyle/>
          <a:p>
            <a:pPr algn="ctr">
              <a:spcAft>
                <a:spcPts val="400"/>
              </a:spcAft>
            </a:pPr>
            <a:r>
              <a:rPr sz="1000" b="1" i="0">
                <a:solidFill>
                  <a:srgbClr val="BE123C"/>
                </a:solidFill>
                <a:latin typeface="Calibri"/>
              </a:rPr>
              <a:t>failing</a:t>
            </a:r>
          </a:p>
        </p:txBody>
      </p:sp>
      <p:sp>
        <p:nvSpPr>
          <p:cNvPr id="17" name="Rounded Rectangle 16"/>
          <p:cNvSpPr/>
          <p:nvPr/>
        </p:nvSpPr>
        <p:spPr>
          <a:xfrm>
            <a:off x="8540496" y="3520440"/>
            <a:ext cx="1436979" cy="292608"/>
          </a:xfrm>
          <a:prstGeom prst="roundRect">
            <a:avLst>
              <a:gd name="adj" fmla="val 50000"/>
            </a:avLst>
          </a:prstGeom>
          <a:solidFill>
            <a:srgbClr val="FFFFFF"/>
          </a:solidFill>
          <a:ln w="12700">
            <a:solidFill>
              <a:srgbClr val="6B7280"/>
            </a:solidFill>
          </a:ln>
          <a:effectLst/>
        </p:spPr>
        <p:txBody>
          <a:bodyPr wrap="square" lIns="54864" tIns="54864" rIns="54864" bIns="54864" rtlCol="0" anchor="ctr"/>
          <a:lstStyle/>
          <a:p>
            <a:pPr algn="ctr">
              <a:spcAft>
                <a:spcPts val="400"/>
              </a:spcAft>
            </a:pPr>
            <a:r>
              <a:rPr sz="1000" b="1" i="0">
                <a:solidFill>
                  <a:srgbClr val="6B7280"/>
                </a:solidFill>
                <a:latin typeface="Calibri"/>
              </a:rPr>
              <a:t>not_configured</a:t>
            </a:r>
          </a:p>
        </p:txBody>
      </p:sp>
      <p:sp>
        <p:nvSpPr>
          <p:cNvPr id="18" name="Rounded Rectangle 17"/>
          <p:cNvSpPr/>
          <p:nvPr/>
        </p:nvSpPr>
        <p:spPr>
          <a:xfrm>
            <a:off x="10050627" y="3520440"/>
            <a:ext cx="1436979" cy="292608"/>
          </a:xfrm>
          <a:prstGeom prst="roundRect">
            <a:avLst>
              <a:gd name="adj" fmla="val 50000"/>
            </a:avLst>
          </a:prstGeom>
          <a:solidFill>
            <a:srgbClr val="FFFFFF"/>
          </a:solidFill>
          <a:ln w="12700">
            <a:solidFill>
              <a:srgbClr val="6B7280"/>
            </a:solidFill>
          </a:ln>
          <a:effectLst/>
        </p:spPr>
        <p:txBody>
          <a:bodyPr wrap="square" lIns="54864" tIns="54864" rIns="54864" bIns="54864" rtlCol="0" anchor="ctr"/>
          <a:lstStyle/>
          <a:p>
            <a:pPr algn="ctr">
              <a:spcAft>
                <a:spcPts val="400"/>
              </a:spcAft>
            </a:pPr>
            <a:r>
              <a:rPr sz="1000" b="1" i="0">
                <a:solidFill>
                  <a:srgbClr val="6B7280"/>
                </a:solidFill>
                <a:latin typeface="Calibri"/>
              </a:rPr>
              <a:t>disabled</a:t>
            </a:r>
          </a:p>
        </p:txBody>
      </p:sp>
      <p:sp>
        <p:nvSpPr>
          <p:cNvPr id="19" name="Rounded Rectangle 18"/>
          <p:cNvSpPr/>
          <p:nvPr/>
        </p:nvSpPr>
        <p:spPr>
          <a:xfrm>
            <a:off x="8412480" y="4160520"/>
            <a:ext cx="3276295" cy="1691640"/>
          </a:xfrm>
          <a:prstGeom prst="roundRect">
            <a:avLst>
              <a:gd name="adj" fmla="val 6486"/>
            </a:avLst>
          </a:prstGeom>
          <a:solidFill>
            <a:srgbClr val="F2F5F8"/>
          </a:solidFill>
          <a:ln w="12700">
            <a:solidFill>
              <a:srgbClr val="E5E7EB"/>
            </a:solidFill>
          </a:ln>
          <a:effectLst/>
        </p:spPr>
        <p:txBody>
          <a:bodyPr wrap="square" lIns="128016" tIns="128016" rIns="128016" bIns="128016" rtlCol="0" anchor="t"/>
          <a:lstStyle/>
          <a:p>
            <a:pPr algn="l">
              <a:spcAft>
                <a:spcPts val="400"/>
              </a:spcAft>
            </a:pPr>
            <a:r>
              <a:rPr sz="1150" b="1" i="0">
                <a:solidFill>
                  <a:srgbClr val="002855"/>
                </a:solidFill>
                <a:latin typeface="Consolas"/>
              </a:rPr>
              <a:t>provenance_class</a:t>
            </a:r>
          </a:p>
          <a:p>
            <a:pPr algn="l">
              <a:spcAft>
                <a:spcPts val="400"/>
              </a:spcAft>
            </a:pPr>
            <a:r>
              <a:rPr sz="1100" b="0" i="0">
                <a:solidFill>
                  <a:srgbClr val="1F2937"/>
                </a:solidFill>
                <a:latin typeface="Calibri"/>
              </a:rPr>
              <a:t>measured · model_derived · predicted · simulated · heuristic · ai_observation · citizen</a:t>
            </a:r>
          </a:p>
          <a:p>
            <a:pPr algn="l">
              <a:spcAft>
                <a:spcPts val="400"/>
              </a:spcAft>
            </a:pPr>
            <a:r>
              <a:rPr sz="1050" b="0" i="1">
                <a:solidFill>
                  <a:srgbClr val="6B7280"/>
                </a:solidFill>
                <a:latin typeface="Calibri"/>
              </a:rPr>
              <a:t>Simulated, heuristic and AI-observation values are never presented as measured.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IV-C. REGION PACKS</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Plug-and-Play Region Packs</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9 / 18</a:t>
            </a:r>
          </a:p>
        </p:txBody>
      </p:sp>
      <p:sp>
        <p:nvSpPr>
          <p:cNvPr id="8" name="Rectangle 7"/>
          <p:cNvSpPr/>
          <p:nvPr/>
        </p:nvSpPr>
        <p:spPr>
          <a:xfrm>
            <a:off x="502920" y="1280160"/>
            <a:ext cx="3566160" cy="329184"/>
          </a:xfrm>
          <a:prstGeom prst="rect">
            <a:avLst/>
          </a:prstGeom>
          <a:solidFill>
            <a:srgbClr val="002855"/>
          </a:solidFill>
          <a:ln>
            <a:noFill/>
          </a:ln>
          <a:effectLst/>
        </p:spPr>
        <p:txBody>
          <a:bodyPr wrap="square" tIns="91440" bIns="91440" rtlCol="0" anchor="ctr"/>
          <a:lstStyle/>
          <a:p>
            <a:pPr algn="l">
              <a:spcAft>
                <a:spcPts val="400"/>
              </a:spcAft>
            </a:pPr>
            <a:r>
              <a:rPr sz="1050" b="0" i="0">
                <a:solidFill>
                  <a:srgbClr val="FFFFFF"/>
                </a:solidFill>
                <a:latin typeface="Consolas"/>
              </a:rPr>
              <a:t>config/regions/in-north/region.yaml</a:t>
            </a:r>
          </a:p>
        </p:txBody>
      </p:sp>
      <p:sp>
        <p:nvSpPr>
          <p:cNvPr id="9" name="Rectangle 8"/>
          <p:cNvSpPr/>
          <p:nvPr/>
        </p:nvSpPr>
        <p:spPr>
          <a:xfrm>
            <a:off x="502920" y="1609344"/>
            <a:ext cx="3566160" cy="3017520"/>
          </a:xfrm>
          <a:prstGeom prst="rect">
            <a:avLst/>
          </a:prstGeom>
          <a:solidFill>
            <a:srgbClr val="F8FAFC"/>
          </a:solidFill>
          <a:ln w="12700">
            <a:solidFill>
              <a:srgbClr val="E5E7EB"/>
            </a:solidFill>
          </a:ln>
          <a:effectLst/>
        </p:spPr>
        <p:txBody>
          <a:bodyPr wrap="square" lIns="128016" tIns="128016" rIns="128016" bIns="128016" rtlCol="0" anchor="t"/>
          <a:lstStyle/>
          <a:p>
            <a:pPr algn="l">
              <a:spcAft>
                <a:spcPts val="0"/>
              </a:spcAft>
            </a:pPr>
            <a:r>
              <a:rPr sz="1100" b="0" i="0">
                <a:solidFill>
                  <a:srgbClr val="1F2937"/>
                </a:solidFill>
                <a:latin typeface="Consolas"/>
              </a:rPr>
              <a:t>region_id: in-north</a:t>
            </a:r>
          </a:p>
          <a:p>
            <a:pPr algn="l">
              <a:spcAft>
                <a:spcPts val="0"/>
              </a:spcAft>
            </a:pPr>
            <a:r>
              <a:rPr sz="1100" b="0" i="0">
                <a:solidFill>
                  <a:srgbClr val="1F2937"/>
                </a:solidFill>
                <a:latin typeface="Consolas"/>
              </a:rPr>
              <a:t>timezone: Asia/Kolkata</a:t>
            </a:r>
          </a:p>
          <a:p>
            <a:pPr algn="l">
              <a:spcAft>
                <a:spcPts val="0"/>
              </a:spcAft>
            </a:pPr>
            <a:r>
              <a:rPr sz="1100" b="0" i="0">
                <a:solidFill>
                  <a:srgbClr val="1F2937"/>
                </a:solidFill>
                <a:latin typeface="Consolas"/>
              </a:rPr>
              <a:t>aqi_standard: cpcb_in</a:t>
            </a:r>
          </a:p>
          <a:p>
            <a:pPr algn="l">
              <a:spcAft>
                <a:spcPts val="0"/>
              </a:spcAft>
            </a:pPr>
            <a:r>
              <a:rPr sz="1100" b="0" i="0">
                <a:solidFill>
                  <a:srgbClr val="1F2937"/>
                </a:solidFill>
                <a:latin typeface="Consolas"/>
              </a:rPr>
              <a:t>hazards: [crop_residue_burning,</a:t>
            </a:r>
          </a:p>
          <a:p>
            <a:pPr algn="l">
              <a:spcAft>
                <a:spcPts val="0"/>
              </a:spcAft>
            </a:pPr>
            <a:r>
              <a:rPr sz="1100" b="0" i="0">
                <a:solidFill>
                  <a:srgbClr val="1F2937"/>
                </a:solidFill>
                <a:latin typeface="Consolas"/>
              </a:rPr>
              <a:t>          urban_pollution, dust]</a:t>
            </a:r>
          </a:p>
          <a:p>
            <a:pPr algn="l">
              <a:spcAft>
                <a:spcPts val="0"/>
              </a:spcAft>
            </a:pPr>
            <a:r>
              <a:rPr sz="1100" b="0" i="0">
                <a:solidFill>
                  <a:srgbClr val="1F2937"/>
                </a:solidFill>
                <a:latin typeface="Consolas"/>
              </a:rPr>
              <a:t>sources:</a:t>
            </a:r>
          </a:p>
          <a:p>
            <a:pPr algn="l">
              <a:spcAft>
                <a:spcPts val="0"/>
              </a:spcAft>
            </a:pPr>
            <a:r>
              <a:rPr sz="1100" b="0" i="0">
                <a:solidFill>
                  <a:srgbClr val="1F2937"/>
                </a:solidFill>
                <a:latin typeface="Consolas"/>
              </a:rPr>
              <a:t>  - id: openaq</a:t>
            </a:r>
          </a:p>
          <a:p>
            <a:pPr algn="l">
              <a:spcAft>
                <a:spcPts val="0"/>
              </a:spcAft>
            </a:pPr>
            <a:r>
              <a:rPr sz="1100" b="0" i="0">
                <a:solidFill>
                  <a:srgbClr val="1F2937"/>
                </a:solidFill>
                <a:latin typeface="Consolas"/>
              </a:rPr>
              <a:t>  - id: cpcb</a:t>
            </a:r>
          </a:p>
          <a:p>
            <a:pPr algn="l">
              <a:spcAft>
                <a:spcPts val="0"/>
              </a:spcAft>
            </a:pPr>
            <a:r>
              <a:rPr sz="1100" b="0" i="0">
                <a:solidFill>
                  <a:srgbClr val="1F2937"/>
                </a:solidFill>
                <a:latin typeface="Consolas"/>
              </a:rPr>
              <a:t>  - id: firms</a:t>
            </a:r>
          </a:p>
          <a:p>
            <a:pPr algn="l">
              <a:spcAft>
                <a:spcPts val="0"/>
              </a:spcAft>
            </a:pPr>
            <a:r>
              <a:rPr sz="1100" b="0" i="0">
                <a:solidFill>
                  <a:srgbClr val="1F2937"/>
                </a:solidFill>
                <a:latin typeface="Consolas"/>
              </a:rPr>
              <a:t>  - id: openmeteo</a:t>
            </a:r>
          </a:p>
          <a:p>
            <a:pPr algn="l">
              <a:spcAft>
                <a:spcPts val="0"/>
              </a:spcAft>
            </a:pPr>
            <a:r>
              <a:rPr sz="1100" b="0" i="0">
                <a:solidFill>
                  <a:srgbClr val="1F2937"/>
                </a:solidFill>
                <a:latin typeface="Consolas"/>
              </a:rPr>
              <a:t>  - id: earthengine</a:t>
            </a:r>
          </a:p>
          <a:p>
            <a:pPr algn="l">
              <a:spcAft>
                <a:spcPts val="0"/>
              </a:spcAft>
            </a:pPr>
            <a:r>
              <a:rPr sz="1100" b="0" i="0">
                <a:solidFill>
                  <a:srgbClr val="1F2937"/>
                </a:solidFill>
                <a:latin typeface="Consolas"/>
              </a:rPr>
              <a:t>ground_truth_sources: [openaq, cpcb]</a:t>
            </a:r>
          </a:p>
        </p:txBody>
      </p:sp>
      <p:sp>
        <p:nvSpPr>
          <p:cNvPr id="10" name="TextBox 9"/>
          <p:cNvSpPr txBox="1"/>
          <p:nvPr/>
        </p:nvSpPr>
        <p:spPr>
          <a:xfrm>
            <a:off x="502920" y="4663440"/>
            <a:ext cx="3566160" cy="274320"/>
          </a:xfrm>
          <a:prstGeom prst="rect">
            <a:avLst/>
          </a:prstGeom>
          <a:noFill/>
        </p:spPr>
        <p:txBody>
          <a:bodyPr wrap="square" lIns="0" tIns="0" rIns="0" bIns="0" anchor="t">
            <a:spAutoFit/>
          </a:bodyPr>
          <a:lstStyle/>
          <a:p>
            <a:pPr algn="ctr">
              <a:spcAft>
                <a:spcPts val="400"/>
              </a:spcAft>
            </a:pPr>
            <a:r>
              <a:rPr sz="900" b="0" i="1">
                <a:solidFill>
                  <a:srgbClr val="6B7280"/>
                </a:solidFill>
                <a:latin typeface="Calibri"/>
              </a:rPr>
              <a:t>Abridged from the repository pack.</a:t>
            </a:r>
          </a:p>
        </p:txBody>
      </p:sp>
      <p:sp>
        <p:nvSpPr>
          <p:cNvPr id="11" name="TextBox 10"/>
          <p:cNvSpPr txBox="1"/>
          <p:nvPr/>
        </p:nvSpPr>
        <p:spPr>
          <a:xfrm>
            <a:off x="4343400" y="1188720"/>
            <a:ext cx="734537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III</a:t>
            </a:r>
          </a:p>
          <a:p>
            <a:pPr algn="ctr">
              <a:spcAft>
                <a:spcPts val="0"/>
              </a:spcAft>
            </a:pPr>
            <a:r>
              <a:rPr sz="900" b="0" i="0">
                <a:solidFill>
                  <a:srgbClr val="1F2937"/>
                </a:solidFill>
                <a:latin typeface="Calibri"/>
              </a:rPr>
              <a:t>REGION PACKS IN THIS BUILD</a:t>
            </a:r>
          </a:p>
        </p:txBody>
      </p:sp>
      <p:graphicFrame>
        <p:nvGraphicFramePr>
          <p:cNvPr id="12" name="Table 11"/>
          <p:cNvGraphicFramePr>
            <a:graphicFrameLocks noGrp="1"/>
          </p:cNvGraphicFramePr>
          <p:nvPr/>
        </p:nvGraphicFramePr>
        <p:xfrm>
          <a:off x="4343400" y="1664208"/>
          <a:ext cx="7345373" cy="2011680"/>
        </p:xfrm>
        <a:graphic>
          <a:graphicData uri="http://schemas.openxmlformats.org/drawingml/2006/table">
            <a:tbl>
              <a:tblPr firstRow="1" bandRow="1">
                <a:tableStyleId>{5940675A-B579-460E-94D1-54222C63F5DA}</a:tableStyleId>
              </a:tblPr>
              <a:tblGrid>
                <a:gridCol w="1993744">
                  <a:extLst>
                    <a:ext uri="{9D8B030D-6E8A-4147-A177-3AD203B41FA5}">
                      <a16:colId xmlns:a16="http://schemas.microsoft.com/office/drawing/2014/main" val="20000"/>
                    </a:ext>
                  </a:extLst>
                </a:gridCol>
                <a:gridCol w="2098678">
                  <a:extLst>
                    <a:ext uri="{9D8B030D-6E8A-4147-A177-3AD203B41FA5}">
                      <a16:colId xmlns:a16="http://schemas.microsoft.com/office/drawing/2014/main" val="20001"/>
                    </a:ext>
                  </a:extLst>
                </a:gridCol>
                <a:gridCol w="2098678">
                  <a:extLst>
                    <a:ext uri="{9D8B030D-6E8A-4147-A177-3AD203B41FA5}">
                      <a16:colId xmlns:a16="http://schemas.microsoft.com/office/drawing/2014/main" val="20002"/>
                    </a:ext>
                  </a:extLst>
                </a:gridCol>
                <a:gridCol w="1154273">
                  <a:extLst>
                    <a:ext uri="{9D8B030D-6E8A-4147-A177-3AD203B41FA5}">
                      <a16:colId xmlns:a16="http://schemas.microsoft.com/office/drawing/2014/main" val="20003"/>
                    </a:ext>
                  </a:extLst>
                </a:gridCol>
              </a:tblGrid>
              <a:tr h="502920">
                <a:tc>
                  <a:txBody>
                    <a:bodyPr/>
                    <a:lstStyle/>
                    <a:p>
                      <a:pPr algn="l">
                        <a:spcAft>
                          <a:spcPts val="0"/>
                        </a:spcAft>
                      </a:pPr>
                      <a:r>
                        <a:rPr sz="1100" b="1" i="0">
                          <a:solidFill>
                            <a:srgbClr val="FFFFFF"/>
                          </a:solidFill>
                          <a:latin typeface="Calibri"/>
                        </a:rPr>
                        <a:t>Region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AQI standard (status)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Hazard profiles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Ground truth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502920">
                <a:tc>
                  <a:txBody>
                    <a:bodyPr/>
                    <a:lstStyle/>
                    <a:p>
                      <a:pPr algn="l">
                        <a:spcAft>
                          <a:spcPts val="0"/>
                        </a:spcAft>
                      </a:pPr>
                      <a:r>
                        <a:rPr sz="1050" b="0" i="0">
                          <a:solidFill>
                            <a:srgbClr val="1F2937"/>
                          </a:solidFill>
                          <a:latin typeface="Calibri"/>
                        </a:rPr>
                        <a:t>North India (Punjab, Haryana, Delhi)</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CPCB National AQI (India) (confirmed)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Crop residue burning, Urban pollution, Dust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openaq, cpcb</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502920">
                <a:tc>
                  <a:txBody>
                    <a:bodyPr/>
                    <a:lstStyle/>
                    <a:p>
                      <a:pPr algn="l">
                        <a:spcAft>
                          <a:spcPts val="0"/>
                        </a:spcAft>
                      </a:pPr>
                      <a:r>
                        <a:rPr sz="1050" b="0" i="0">
                          <a:solidFill>
                            <a:srgbClr val="1F2937"/>
                          </a:solidFill>
                          <a:latin typeface="Calibri"/>
                        </a:rPr>
                        <a:t>Singapore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Singapore NEA (unconfirmed)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Transboundary haze, Urban pollution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050" b="0" i="0">
                          <a:solidFill>
                            <a:srgbClr val="1F2937"/>
                          </a:solidFill>
                          <a:latin typeface="Calibri"/>
                        </a:rPr>
                        <a:t>openaq, nea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502920">
                <a:tc>
                  <a:txBody>
                    <a:bodyPr/>
                    <a:lstStyle/>
                    <a:p>
                      <a:pPr algn="l">
                        <a:spcAft>
                          <a:spcPts val="0"/>
                        </a:spcAft>
                      </a:pPr>
                      <a:r>
                        <a:rPr sz="1050" b="0" i="0">
                          <a:solidFill>
                            <a:srgbClr val="1F2937"/>
                          </a:solidFill>
                          <a:latin typeface="Calibri"/>
                        </a:rPr>
                        <a:t>New South Wales (Greater Sydney)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NSW Air Quality Categories (unconfirmed)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Bushfire smoke, Urban pollution, Dust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050" b="0" i="0">
                          <a:solidFill>
                            <a:srgbClr val="1F2937"/>
                          </a:solidFill>
                          <a:latin typeface="Calibri"/>
                        </a:rPr>
                        <a:t>openaq</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bl>
          </a:graphicData>
        </a:graphic>
      </p:graphicFrame>
      <p:sp>
        <p:nvSpPr>
          <p:cNvPr id="13" name="Pentagon 12"/>
          <p:cNvSpPr/>
          <p:nvPr/>
        </p:nvSpPr>
        <p:spPr>
          <a:xfrm>
            <a:off x="4343400" y="3794760"/>
            <a:ext cx="1754047" cy="960120"/>
          </a:xfrm>
          <a:prstGeom prst="homePlate">
            <a:avLst>
              <a:gd name="adj" fmla="val 18000"/>
            </a:avLst>
          </a:prstGeom>
          <a:solidFill>
            <a:srgbClr val="00629B"/>
          </a:solidFill>
          <a:ln>
            <a:noFill/>
          </a:ln>
          <a:effectLst/>
        </p:spPr>
        <p:txBody>
          <a:bodyPr wrap="square" tIns="36576" rIns="201168" bIns="36576" rtlCol="0" anchor="ctr"/>
          <a:lstStyle/>
          <a:p>
            <a:pPr algn="ctr">
              <a:spcAft>
                <a:spcPts val="200"/>
              </a:spcAft>
            </a:pPr>
            <a:r>
              <a:rPr sz="1000" b="1" i="0">
                <a:solidFill>
                  <a:srgbClr val="FFFFFF"/>
                </a:solidFill>
                <a:latin typeface="Calibri"/>
              </a:rPr>
              <a:t>aeropulse-region init</a:t>
            </a:r>
          </a:p>
          <a:p>
            <a:pPr algn="ctr">
              <a:spcAft>
                <a:spcPts val="400"/>
              </a:spcAft>
            </a:pPr>
            <a:r>
              <a:rPr sz="950" b="0" i="0">
                <a:solidFill>
                  <a:srgbClr val="FFFFFF"/>
                </a:solidFill>
                <a:latin typeface="Calibri"/>
              </a:rPr>
              <a:t>scaffold a pack</a:t>
            </a:r>
          </a:p>
        </p:txBody>
      </p:sp>
      <p:sp>
        <p:nvSpPr>
          <p:cNvPr id="14" name="Chevron 13"/>
          <p:cNvSpPr/>
          <p:nvPr/>
        </p:nvSpPr>
        <p:spPr>
          <a:xfrm>
            <a:off x="6207175" y="3794760"/>
            <a:ext cx="1754047" cy="960120"/>
          </a:xfrm>
          <a:prstGeom prst="chevron">
            <a:avLst>
              <a:gd name="adj" fmla="val 18000"/>
            </a:avLst>
          </a:prstGeom>
          <a:solidFill>
            <a:srgbClr val="00629B"/>
          </a:solidFill>
          <a:ln>
            <a:noFill/>
          </a:ln>
          <a:effectLst/>
        </p:spPr>
        <p:txBody>
          <a:bodyPr wrap="square" lIns="274320" tIns="36576" rIns="201168" bIns="36576" rtlCol="0" anchor="ctr"/>
          <a:lstStyle/>
          <a:p>
            <a:pPr algn="ctr">
              <a:spcAft>
                <a:spcPts val="200"/>
              </a:spcAft>
            </a:pPr>
            <a:r>
              <a:rPr sz="1000" b="1" i="0">
                <a:solidFill>
                  <a:srgbClr val="FFFFFF"/>
                </a:solidFill>
                <a:latin typeface="Calibri"/>
              </a:rPr>
              <a:t>Edit YAML</a:t>
            </a:r>
          </a:p>
          <a:p>
            <a:pPr algn="ctr">
              <a:spcAft>
                <a:spcPts val="400"/>
              </a:spcAft>
            </a:pPr>
            <a:r>
              <a:rPr sz="950" b="0" i="0">
                <a:solidFill>
                  <a:srgbClr val="FFFFFF"/>
                </a:solidFill>
                <a:latin typeface="Calibri"/>
              </a:rPr>
              <a:t>bbox, sources, hazards, AQI</a:t>
            </a:r>
          </a:p>
        </p:txBody>
      </p:sp>
      <p:sp>
        <p:nvSpPr>
          <p:cNvPr id="15" name="Chevron 14"/>
          <p:cNvSpPr/>
          <p:nvPr/>
        </p:nvSpPr>
        <p:spPr>
          <a:xfrm>
            <a:off x="8070951" y="3794760"/>
            <a:ext cx="1754047" cy="960120"/>
          </a:xfrm>
          <a:prstGeom prst="chevron">
            <a:avLst>
              <a:gd name="adj" fmla="val 18000"/>
            </a:avLst>
          </a:prstGeom>
          <a:solidFill>
            <a:srgbClr val="00629B"/>
          </a:solidFill>
          <a:ln>
            <a:noFill/>
          </a:ln>
          <a:effectLst/>
        </p:spPr>
        <p:txBody>
          <a:bodyPr wrap="square" lIns="274320" tIns="36576" rIns="201168" bIns="36576" rtlCol="0" anchor="ctr"/>
          <a:lstStyle/>
          <a:p>
            <a:pPr algn="ctr">
              <a:spcAft>
                <a:spcPts val="200"/>
              </a:spcAft>
            </a:pPr>
            <a:r>
              <a:rPr sz="1000" b="1" i="0">
                <a:solidFill>
                  <a:srgbClr val="FFFFFF"/>
                </a:solidFill>
                <a:latin typeface="Calibri"/>
              </a:rPr>
              <a:t>aeropulse-region validate</a:t>
            </a:r>
          </a:p>
          <a:p>
            <a:pPr algn="ctr">
              <a:spcAft>
                <a:spcPts val="400"/>
              </a:spcAft>
            </a:pPr>
            <a:r>
              <a:rPr sz="950" b="0" i="0">
                <a:solidFill>
                  <a:srgbClr val="FFFFFF"/>
                </a:solidFill>
                <a:latin typeface="Calibri"/>
              </a:rPr>
              <a:t>schema + cross-checks</a:t>
            </a:r>
          </a:p>
        </p:txBody>
      </p:sp>
      <p:sp>
        <p:nvSpPr>
          <p:cNvPr id="16" name="Chevron 15"/>
          <p:cNvSpPr/>
          <p:nvPr/>
        </p:nvSpPr>
        <p:spPr>
          <a:xfrm>
            <a:off x="9934727" y="3794760"/>
            <a:ext cx="1754047" cy="960120"/>
          </a:xfrm>
          <a:prstGeom prst="chevron">
            <a:avLst>
              <a:gd name="adj" fmla="val 18000"/>
            </a:avLst>
          </a:prstGeom>
          <a:solidFill>
            <a:srgbClr val="00629B"/>
          </a:solidFill>
          <a:ln>
            <a:noFill/>
          </a:ln>
          <a:effectLst/>
        </p:spPr>
        <p:txBody>
          <a:bodyPr wrap="square" lIns="274320" tIns="36576" rIns="201168" bIns="36576" rtlCol="0" anchor="ctr"/>
          <a:lstStyle/>
          <a:p>
            <a:pPr algn="ctr">
              <a:spcAft>
                <a:spcPts val="200"/>
              </a:spcAft>
            </a:pPr>
            <a:r>
              <a:rPr sz="1000" b="1" i="0">
                <a:solidFill>
                  <a:srgbClr val="FFFFFF"/>
                </a:solidFill>
                <a:latin typeface="Calibri"/>
              </a:rPr>
              <a:t>Add to region_ids</a:t>
            </a:r>
          </a:p>
          <a:p>
            <a:pPr algn="ctr">
              <a:spcAft>
                <a:spcPts val="400"/>
              </a:spcAft>
            </a:pPr>
            <a:r>
              <a:rPr sz="950" b="0" i="0">
                <a:solidFill>
                  <a:srgbClr val="FFFFFF"/>
                </a:solidFill>
                <a:latin typeface="Calibri"/>
              </a:rPr>
              <a:t>Terraform adds a cycle job</a:t>
            </a:r>
          </a:p>
        </p:txBody>
      </p:sp>
      <p:sp>
        <p:nvSpPr>
          <p:cNvPr id="17" name="TextBox 16"/>
          <p:cNvSpPr txBox="1"/>
          <p:nvPr/>
        </p:nvSpPr>
        <p:spPr>
          <a:xfrm>
            <a:off x="4343400" y="4828032"/>
            <a:ext cx="734537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5.  </a:t>
            </a:r>
            <a:r>
              <a:rPr sz="1050" b="0" i="0">
                <a:solidFill>
                  <a:srgbClr val="1F2937"/>
                </a:solidFill>
                <a:latin typeface="Calibri"/>
              </a:rPr>
              <a:t>Adding a region is configuration plus one deploy — no code change.</a:t>
            </a:r>
          </a:p>
        </p:txBody>
      </p:sp>
      <p:sp>
        <p:nvSpPr>
          <p:cNvPr id="18" name="Rounded Rectangle 17"/>
          <p:cNvSpPr/>
          <p:nvPr/>
        </p:nvSpPr>
        <p:spPr>
          <a:xfrm>
            <a:off x="4343400" y="5212080"/>
            <a:ext cx="7345375" cy="640080"/>
          </a:xfrm>
          <a:prstGeom prst="roundRect">
            <a:avLst>
              <a:gd name="adj" fmla="val 17142"/>
            </a:avLst>
          </a:prstGeom>
          <a:solidFill>
            <a:srgbClr val="FEF3C7"/>
          </a:solidFill>
          <a:ln w="12700">
            <a:solidFill>
              <a:srgbClr val="B45309"/>
            </a:solidFill>
          </a:ln>
          <a:effectLst/>
        </p:spPr>
        <p:txBody>
          <a:bodyPr wrap="square" lIns="109728" tIns="109728" rIns="109728" bIns="109728" rtlCol="0" anchor="ctr"/>
          <a:lstStyle/>
          <a:p>
            <a:pPr algn="l">
              <a:spcAft>
                <a:spcPts val="400"/>
              </a:spcAft>
            </a:pPr>
            <a:r>
              <a:rPr sz="1150" b="0" i="0">
                <a:solidFill>
                  <a:srgbClr val="1F2937"/>
                </a:solidFill>
                <a:latin typeface="Calibri"/>
              </a:rPr>
              <a:t>AQI labels follow the pack’s official standard [8]–[10]. Bands not yet confirmed are shown as “—” with a reason, never borrowed from another country.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IV-D. MACHINE LEARNING</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Per-Region Models and Promotion Gates</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10 / 18</a:t>
            </a:r>
          </a:p>
        </p:txBody>
      </p:sp>
      <p:sp>
        <p:nvSpPr>
          <p:cNvPr id="8" name="Rounded Rectangle 7"/>
          <p:cNvSpPr/>
          <p:nvPr/>
        </p:nvSpPr>
        <p:spPr>
          <a:xfrm>
            <a:off x="502920" y="1280160"/>
            <a:ext cx="3429000" cy="3840480"/>
          </a:xfrm>
          <a:prstGeom prst="roundRect">
            <a:avLst>
              <a:gd name="adj" fmla="val 1600"/>
            </a:avLst>
          </a:prstGeom>
          <a:solidFill>
            <a:srgbClr val="F2F5F8"/>
          </a:solidFill>
          <a:ln w="12700">
            <a:solidFill>
              <a:srgbClr val="E5E7EB"/>
            </a:solidFill>
          </a:ln>
          <a:effectLst/>
        </p:spPr>
        <p:txBody>
          <a:bodyPr wrap="square" lIns="54864" tIns="54864" rIns="54864" bIns="54864" rtlCol="0" anchor="ctr"/>
          <a:lstStyle/>
          <a:p>
            <a:pPr algn="ctr"/>
            <a:endParaRPr/>
          </a:p>
        </p:txBody>
      </p:sp>
      <p:sp>
        <p:nvSpPr>
          <p:cNvPr id="9" name="TextBox 8"/>
          <p:cNvSpPr txBox="1"/>
          <p:nvPr/>
        </p:nvSpPr>
        <p:spPr>
          <a:xfrm>
            <a:off x="640080" y="1371600"/>
            <a:ext cx="3200400" cy="365760"/>
          </a:xfrm>
          <a:prstGeom prst="rect">
            <a:avLst/>
          </a:prstGeom>
          <a:noFill/>
        </p:spPr>
        <p:txBody>
          <a:bodyPr wrap="square" lIns="36576" tIns="36576" rIns="36576" bIns="36576" anchor="t">
            <a:spAutoFit/>
          </a:bodyPr>
          <a:lstStyle/>
          <a:p>
            <a:pPr algn="l">
              <a:spcAft>
                <a:spcPts val="400"/>
              </a:spcAft>
            </a:pPr>
            <a:r>
              <a:rPr sz="1450" b="1" i="0">
                <a:solidFill>
                  <a:srgbClr val="002855"/>
                </a:solidFill>
                <a:latin typeface="Times New Roman"/>
              </a:rPr>
              <a:t>Why not one APAC model?</a:t>
            </a:r>
          </a:p>
        </p:txBody>
      </p:sp>
      <p:sp>
        <p:nvSpPr>
          <p:cNvPr id="10" name="TextBox 9"/>
          <p:cNvSpPr txBox="1"/>
          <p:nvPr/>
        </p:nvSpPr>
        <p:spPr>
          <a:xfrm>
            <a:off x="640080" y="1783080"/>
            <a:ext cx="3154680" cy="3291840"/>
          </a:xfrm>
          <a:prstGeom prst="rect">
            <a:avLst/>
          </a:prstGeom>
          <a:noFill/>
        </p:spPr>
        <p:txBody>
          <a:bodyPr wrap="square" lIns="36576" tIns="36576" rIns="36576" bIns="36576" anchor="t">
            <a:spAutoFit/>
          </a:bodyPr>
          <a:lstStyle/>
          <a:p>
            <a:pPr marL="181610" indent="-181610" algn="l">
              <a:spcAft>
                <a:spcPts val="800"/>
              </a:spcAft>
              <a:buClr>
                <a:srgbClr val="00629B"/>
              </a:buClr>
              <a:buFont typeface="Arial"/>
              <a:buChar char="•"/>
            </a:pPr>
            <a:r>
              <a:rPr sz="1300" b="0" i="0">
                <a:solidFill>
                  <a:srgbClr val="1F2937"/>
                </a:solidFill>
                <a:latin typeface="Calibri"/>
              </a:rPr>
              <a:t>Different AQI scales and hazard thresholds per region</a:t>
            </a:r>
          </a:p>
          <a:p>
            <a:pPr marL="181610" indent="-181610" algn="l">
              <a:spcAft>
                <a:spcPts val="800"/>
              </a:spcAft>
              <a:buClr>
                <a:srgbClr val="00629B"/>
              </a:buClr>
              <a:buFont typeface="Arial"/>
              <a:buChar char="•"/>
            </a:pPr>
            <a:r>
              <a:rPr sz="1300" b="0" i="0">
                <a:solidFill>
                  <a:srgbClr val="1F2937"/>
                </a:solidFill>
                <a:latin typeface="Calibri"/>
              </a:rPr>
              <a:t>Different hazards and seasons: stubble burning, haze, bushfire</a:t>
            </a:r>
          </a:p>
          <a:p>
            <a:pPr marL="181610" indent="-181610" algn="l">
              <a:spcAft>
                <a:spcPts val="800"/>
              </a:spcAft>
              <a:buClr>
                <a:srgbClr val="00629B"/>
              </a:buClr>
              <a:buFont typeface="Arial"/>
              <a:buChar char="•"/>
            </a:pPr>
            <a:r>
              <a:rPr sz="1300" b="0" i="0">
                <a:solidFill>
                  <a:srgbClr val="1F2937"/>
                </a:solidFill>
                <a:latin typeface="Calibri"/>
              </a:rPr>
              <a:t>Uneven ground truth — NSW has no gated model yet</a:t>
            </a:r>
          </a:p>
          <a:p>
            <a:pPr marL="181610" indent="-181610" algn="l">
              <a:spcAft>
                <a:spcPts val="800"/>
              </a:spcAft>
              <a:buClr>
                <a:srgbClr val="00629B"/>
              </a:buClr>
              <a:buFont typeface="Arial"/>
              <a:buChar char="•"/>
            </a:pPr>
            <a:r>
              <a:rPr sz="1300" b="0" i="0">
                <a:solidFill>
                  <a:srgbClr val="1F2937"/>
                </a:solidFill>
                <a:latin typeface="Calibri"/>
              </a:rPr>
              <a:t>A pooled score can hide a failing region, so the gate is per region</a:t>
            </a:r>
          </a:p>
          <a:p>
            <a:pPr marL="181610" indent="-181610" algn="l">
              <a:spcAft>
                <a:spcPts val="800"/>
              </a:spcAft>
              <a:buClr>
                <a:srgbClr val="00629B"/>
              </a:buClr>
              <a:buFont typeface="Arial"/>
              <a:buChar char="•"/>
            </a:pPr>
            <a:r>
              <a:rPr sz="1300" b="0" i="0">
                <a:solidFill>
                  <a:srgbClr val="1F2937"/>
                </a:solidFill>
                <a:latin typeface="Calibri"/>
              </a:rPr>
              <a:t>Leave-region-out evaluation unavailable: “only one region has ground truth”</a:t>
            </a:r>
          </a:p>
        </p:txBody>
      </p:sp>
      <p:sp>
        <p:nvSpPr>
          <p:cNvPr id="11" name="Rounded Rectangle 10"/>
          <p:cNvSpPr/>
          <p:nvPr/>
        </p:nvSpPr>
        <p:spPr>
          <a:xfrm>
            <a:off x="4114800" y="1325880"/>
            <a:ext cx="1143000" cy="868680"/>
          </a:xfrm>
          <a:prstGeom prst="roundRect">
            <a:avLst>
              <a:gd name="adj" fmla="val 12631"/>
            </a:avLst>
          </a:prstGeom>
          <a:solidFill>
            <a:srgbClr val="D1FAE5"/>
          </a:solidFill>
          <a:ln w="12700">
            <a:solidFill>
              <a:srgbClr val="047857"/>
            </a:solidFill>
          </a:ln>
          <a:effectLst/>
        </p:spPr>
        <p:txBody>
          <a:bodyPr wrap="square" lIns="45720" rIns="45720" rtlCol="0" anchor="ctr"/>
          <a:lstStyle/>
          <a:p>
            <a:pPr algn="ctr">
              <a:spcAft>
                <a:spcPts val="100"/>
              </a:spcAft>
            </a:pPr>
            <a:r>
              <a:rPr sz="1050" b="1" i="0">
                <a:solidFill>
                  <a:srgbClr val="047857"/>
                </a:solidFill>
                <a:latin typeface="Calibri"/>
              </a:rPr>
              <a:t>Train</a:t>
            </a:r>
          </a:p>
          <a:p>
            <a:pPr algn="ctr">
              <a:spcAft>
                <a:spcPts val="0"/>
              </a:spcAft>
            </a:pPr>
            <a:r>
              <a:rPr sz="900" b="0" i="0">
                <a:solidFill>
                  <a:srgbClr val="1F2937"/>
                </a:solidFill>
                <a:latin typeface="Calibri"/>
              </a:rPr>
              <a:t>HGB quantile P10/P50/P90 [12]</a:t>
            </a:r>
          </a:p>
        </p:txBody>
      </p:sp>
      <p:sp>
        <p:nvSpPr>
          <p:cNvPr id="12" name="Rounded Rectangle 11"/>
          <p:cNvSpPr/>
          <p:nvPr/>
        </p:nvSpPr>
        <p:spPr>
          <a:xfrm>
            <a:off x="5367528" y="1325880"/>
            <a:ext cx="1143000" cy="868680"/>
          </a:xfrm>
          <a:prstGeom prst="roundRect">
            <a:avLst>
              <a:gd name="adj" fmla="val 12631"/>
            </a:avLst>
          </a:prstGeom>
          <a:solidFill>
            <a:srgbClr val="D1FAE5"/>
          </a:solidFill>
          <a:ln w="12700">
            <a:solidFill>
              <a:srgbClr val="047857"/>
            </a:solidFill>
          </a:ln>
          <a:effectLst/>
        </p:spPr>
        <p:txBody>
          <a:bodyPr wrap="square" lIns="45720" rIns="45720" rtlCol="0" anchor="ctr"/>
          <a:lstStyle/>
          <a:p>
            <a:pPr algn="ctr">
              <a:spcAft>
                <a:spcPts val="100"/>
              </a:spcAft>
            </a:pPr>
            <a:r>
              <a:rPr sz="1050" b="1" i="0">
                <a:solidFill>
                  <a:srgbClr val="047857"/>
                </a:solidFill>
                <a:latin typeface="Calibri"/>
              </a:rPr>
              <a:t>Purged rolling-origin</a:t>
            </a:r>
          </a:p>
          <a:p>
            <a:pPr algn="ctr">
              <a:spcAft>
                <a:spcPts val="0"/>
              </a:spcAft>
            </a:pPr>
            <a:r>
              <a:rPr sz="900" b="0" i="0">
                <a:solidFill>
                  <a:srgbClr val="1F2937"/>
                </a:solidFill>
                <a:latin typeface="Calibri"/>
              </a:rPr>
              <a:t>5 time folds, 1-day purge</a:t>
            </a:r>
          </a:p>
        </p:txBody>
      </p:sp>
      <p:cxnSp>
        <p:nvCxnSpPr>
          <p:cNvPr id="13" name="Connector 12"/>
          <p:cNvCxnSpPr/>
          <p:nvPr/>
        </p:nvCxnSpPr>
        <p:spPr>
          <a:xfrm>
            <a:off x="5257800" y="1760219"/>
            <a:ext cx="100584" cy="0"/>
          </a:xfrm>
          <a:prstGeom prst="line">
            <a:avLst/>
          </a:prstGeom>
          <a:ln w="15875">
            <a:solidFill>
              <a:srgbClr val="6B7280"/>
            </a:solidFill>
            <a:tailEnd type="triangle" w="med" len="med"/>
          </a:ln>
        </p:spPr>
      </p:cxnSp>
      <p:sp>
        <p:nvSpPr>
          <p:cNvPr id="14" name="Rounded Rectangle 13"/>
          <p:cNvSpPr/>
          <p:nvPr/>
        </p:nvSpPr>
        <p:spPr>
          <a:xfrm>
            <a:off x="6620256" y="1325880"/>
            <a:ext cx="1143000" cy="868680"/>
          </a:xfrm>
          <a:prstGeom prst="roundRect">
            <a:avLst>
              <a:gd name="adj" fmla="val 12631"/>
            </a:avLst>
          </a:prstGeom>
          <a:solidFill>
            <a:srgbClr val="D1FAE5"/>
          </a:solidFill>
          <a:ln w="12700">
            <a:solidFill>
              <a:srgbClr val="047857"/>
            </a:solidFill>
          </a:ln>
          <a:effectLst/>
        </p:spPr>
        <p:txBody>
          <a:bodyPr wrap="square" lIns="45720" rIns="45720" rtlCol="0" anchor="ctr"/>
          <a:lstStyle/>
          <a:p>
            <a:pPr algn="ctr">
              <a:spcAft>
                <a:spcPts val="100"/>
              </a:spcAft>
            </a:pPr>
            <a:r>
              <a:rPr sz="1050" b="1" i="0">
                <a:solidFill>
                  <a:srgbClr val="047857"/>
                </a:solidFill>
                <a:latin typeface="Calibri"/>
              </a:rPr>
              <a:t>Season check</a:t>
            </a:r>
          </a:p>
          <a:p>
            <a:pPr algn="ctr">
              <a:spcAft>
                <a:spcPts val="0"/>
              </a:spcAft>
            </a:pPr>
            <a:r>
              <a:rPr sz="900" b="0" i="0">
                <a:solidFill>
                  <a:srgbClr val="1F2937"/>
                </a:solidFill>
                <a:latin typeface="Calibri"/>
              </a:rPr>
              <a:t>one held-out season</a:t>
            </a:r>
          </a:p>
        </p:txBody>
      </p:sp>
      <p:cxnSp>
        <p:nvCxnSpPr>
          <p:cNvPr id="15" name="Connector 14"/>
          <p:cNvCxnSpPr/>
          <p:nvPr/>
        </p:nvCxnSpPr>
        <p:spPr>
          <a:xfrm>
            <a:off x="6510528" y="1760219"/>
            <a:ext cx="100584" cy="0"/>
          </a:xfrm>
          <a:prstGeom prst="line">
            <a:avLst/>
          </a:prstGeom>
          <a:ln w="15875">
            <a:solidFill>
              <a:srgbClr val="6B7280"/>
            </a:solidFill>
            <a:tailEnd type="triangle" w="med" len="med"/>
          </a:ln>
        </p:spPr>
      </p:cxnSp>
      <p:sp>
        <p:nvSpPr>
          <p:cNvPr id="16" name="Rounded Rectangle 15"/>
          <p:cNvSpPr/>
          <p:nvPr/>
        </p:nvSpPr>
        <p:spPr>
          <a:xfrm>
            <a:off x="7872983" y="1325880"/>
            <a:ext cx="1143000" cy="868680"/>
          </a:xfrm>
          <a:prstGeom prst="roundRect">
            <a:avLst>
              <a:gd name="adj" fmla="val 12631"/>
            </a:avLst>
          </a:prstGeom>
          <a:solidFill>
            <a:srgbClr val="FFE4E6"/>
          </a:solidFill>
          <a:ln w="12700">
            <a:solidFill>
              <a:srgbClr val="BE123C"/>
            </a:solidFill>
          </a:ln>
          <a:effectLst/>
        </p:spPr>
        <p:txBody>
          <a:bodyPr wrap="square" lIns="45720" rIns="45720" rtlCol="0" anchor="ctr"/>
          <a:lstStyle/>
          <a:p>
            <a:pPr algn="ctr">
              <a:spcAft>
                <a:spcPts val="100"/>
              </a:spcAft>
            </a:pPr>
            <a:r>
              <a:rPr sz="1050" b="1" i="0">
                <a:solidFill>
                  <a:srgbClr val="BE123C"/>
                </a:solidFill>
                <a:latin typeface="Calibri"/>
              </a:rPr>
              <a:t>Beat persistence?</a:t>
            </a:r>
          </a:p>
          <a:p>
            <a:pPr algn="ctr">
              <a:spcAft>
                <a:spcPts val="0"/>
              </a:spcAft>
            </a:pPr>
            <a:r>
              <a:rPr sz="900" b="0" i="0">
                <a:solidFill>
                  <a:srgbClr val="1F2937"/>
                </a:solidFill>
                <a:latin typeface="Calibri"/>
              </a:rPr>
              <a:t>per region, every horizon</a:t>
            </a:r>
          </a:p>
        </p:txBody>
      </p:sp>
      <p:cxnSp>
        <p:nvCxnSpPr>
          <p:cNvPr id="17" name="Connector 16"/>
          <p:cNvCxnSpPr/>
          <p:nvPr/>
        </p:nvCxnSpPr>
        <p:spPr>
          <a:xfrm>
            <a:off x="7763256" y="1760219"/>
            <a:ext cx="100584" cy="0"/>
          </a:xfrm>
          <a:prstGeom prst="line">
            <a:avLst/>
          </a:prstGeom>
          <a:ln w="15875">
            <a:solidFill>
              <a:srgbClr val="6B7280"/>
            </a:solidFill>
            <a:tailEnd type="triangle" w="med" len="med"/>
          </a:ln>
        </p:spPr>
      </p:cxnSp>
      <p:sp>
        <p:nvSpPr>
          <p:cNvPr id="18" name="Rounded Rectangle 17"/>
          <p:cNvSpPr/>
          <p:nvPr/>
        </p:nvSpPr>
        <p:spPr>
          <a:xfrm>
            <a:off x="9125712" y="1325880"/>
            <a:ext cx="1143000" cy="868680"/>
          </a:xfrm>
          <a:prstGeom prst="roundRect">
            <a:avLst>
              <a:gd name="adj" fmla="val 12631"/>
            </a:avLst>
          </a:prstGeom>
          <a:solidFill>
            <a:srgbClr val="D1FAE5"/>
          </a:solidFill>
          <a:ln w="12700">
            <a:solidFill>
              <a:srgbClr val="047857"/>
            </a:solidFill>
          </a:ln>
          <a:effectLst/>
        </p:spPr>
        <p:txBody>
          <a:bodyPr wrap="square" lIns="45720" rIns="45720" rtlCol="0" anchor="ctr"/>
          <a:lstStyle/>
          <a:p>
            <a:pPr algn="ctr">
              <a:spcAft>
                <a:spcPts val="100"/>
              </a:spcAft>
            </a:pPr>
            <a:r>
              <a:rPr sz="1050" b="1" i="0">
                <a:solidFill>
                  <a:srgbClr val="047857"/>
                </a:solidFill>
                <a:latin typeface="Calibri"/>
              </a:rPr>
              <a:t>Gate report</a:t>
            </a:r>
          </a:p>
          <a:p>
            <a:pPr algn="ctr">
              <a:spcAft>
                <a:spcPts val="0"/>
              </a:spcAft>
            </a:pPr>
            <a:r>
              <a:rPr sz="900" b="0" i="0">
                <a:solidFill>
                  <a:srgbClr val="1F2937"/>
                </a:solidFill>
                <a:latin typeface="Calibri"/>
              </a:rPr>
              <a:t>gate.json, artifact SHA-256</a:t>
            </a:r>
          </a:p>
        </p:txBody>
      </p:sp>
      <p:cxnSp>
        <p:nvCxnSpPr>
          <p:cNvPr id="19" name="Connector 18"/>
          <p:cNvCxnSpPr/>
          <p:nvPr/>
        </p:nvCxnSpPr>
        <p:spPr>
          <a:xfrm>
            <a:off x="9015984" y="1760219"/>
            <a:ext cx="100584" cy="0"/>
          </a:xfrm>
          <a:prstGeom prst="line">
            <a:avLst/>
          </a:prstGeom>
          <a:ln w="15875">
            <a:solidFill>
              <a:srgbClr val="6B7280"/>
            </a:solidFill>
            <a:tailEnd type="triangle" w="med" len="med"/>
          </a:ln>
        </p:spPr>
      </p:cxnSp>
      <p:sp>
        <p:nvSpPr>
          <p:cNvPr id="20" name="Rounded Rectangle 19"/>
          <p:cNvSpPr/>
          <p:nvPr/>
        </p:nvSpPr>
        <p:spPr>
          <a:xfrm>
            <a:off x="10378440" y="1325880"/>
            <a:ext cx="1143000" cy="868680"/>
          </a:xfrm>
          <a:prstGeom prst="roundRect">
            <a:avLst>
              <a:gd name="adj" fmla="val 12631"/>
            </a:avLst>
          </a:prstGeom>
          <a:solidFill>
            <a:srgbClr val="FEF3C7"/>
          </a:solidFill>
          <a:ln w="12700">
            <a:solidFill>
              <a:srgbClr val="B45309"/>
            </a:solidFill>
          </a:ln>
          <a:effectLst/>
        </p:spPr>
        <p:txBody>
          <a:bodyPr wrap="square" lIns="45720" rIns="45720" rtlCol="0" anchor="ctr"/>
          <a:lstStyle/>
          <a:p>
            <a:pPr algn="ctr">
              <a:spcAft>
                <a:spcPts val="100"/>
              </a:spcAft>
            </a:pPr>
            <a:r>
              <a:rPr sz="1050" b="1" i="0">
                <a:solidFill>
                  <a:srgbClr val="B45309"/>
                </a:solidFill>
                <a:latin typeface="Calibri"/>
              </a:rPr>
              <a:t>Promotion PR</a:t>
            </a:r>
          </a:p>
          <a:p>
            <a:pPr algn="ctr">
              <a:spcAft>
                <a:spcPts val="0"/>
              </a:spcAft>
            </a:pPr>
            <a:r>
              <a:rPr sz="900" b="0" i="0">
                <a:solidFill>
                  <a:srgbClr val="1F2937"/>
                </a:solidFill>
                <a:latin typeface="Calibri"/>
              </a:rPr>
              <a:t>model_serving.yaml</a:t>
            </a:r>
          </a:p>
        </p:txBody>
      </p:sp>
      <p:cxnSp>
        <p:nvCxnSpPr>
          <p:cNvPr id="21" name="Connector 20"/>
          <p:cNvCxnSpPr/>
          <p:nvPr/>
        </p:nvCxnSpPr>
        <p:spPr>
          <a:xfrm>
            <a:off x="10268712" y="1760219"/>
            <a:ext cx="100584" cy="0"/>
          </a:xfrm>
          <a:prstGeom prst="line">
            <a:avLst/>
          </a:prstGeom>
          <a:ln w="15875">
            <a:solidFill>
              <a:srgbClr val="6B7280"/>
            </a:solidFill>
            <a:tailEnd type="triangle" w="med" len="med"/>
          </a:ln>
        </p:spPr>
      </p:cxnSp>
      <p:sp>
        <p:nvSpPr>
          <p:cNvPr id="22" name="TextBox 21"/>
          <p:cNvSpPr txBox="1"/>
          <p:nvPr/>
        </p:nvSpPr>
        <p:spPr>
          <a:xfrm>
            <a:off x="4114800" y="2286000"/>
            <a:ext cx="757397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6.  </a:t>
            </a:r>
            <a:r>
              <a:rPr sz="1050" b="0" i="0">
                <a:solidFill>
                  <a:srgbClr val="1F2937"/>
                </a:solidFill>
                <a:latin typeface="Calibri"/>
              </a:rPr>
              <a:t>Promotion pipeline. The resolver re-checks the gate, feature version and SHA-256 at startup.</a:t>
            </a:r>
          </a:p>
        </p:txBody>
      </p:sp>
      <p:sp>
        <p:nvSpPr>
          <p:cNvPr id="23" name="TextBox 22"/>
          <p:cNvSpPr txBox="1"/>
          <p:nvPr/>
        </p:nvSpPr>
        <p:spPr>
          <a:xfrm>
            <a:off x="4114800" y="2743200"/>
            <a:ext cx="757397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IV</a:t>
            </a:r>
          </a:p>
          <a:p>
            <a:pPr algn="ctr">
              <a:spcAft>
                <a:spcPts val="0"/>
              </a:spcAft>
            </a:pPr>
            <a:r>
              <a:rPr sz="900" b="0" i="0">
                <a:solidFill>
                  <a:srgbClr val="1F2937"/>
                </a:solidFill>
                <a:latin typeface="Calibri"/>
              </a:rPr>
              <a:t>WHAT IS SERVED (CONFIG/MODEL_SERVING.YAML)</a:t>
            </a:r>
          </a:p>
        </p:txBody>
      </p:sp>
      <p:graphicFrame>
        <p:nvGraphicFramePr>
          <p:cNvPr id="24" name="Table 23"/>
          <p:cNvGraphicFramePr>
            <a:graphicFrameLocks noGrp="1"/>
          </p:cNvGraphicFramePr>
          <p:nvPr/>
        </p:nvGraphicFramePr>
        <p:xfrm>
          <a:off x="4114800" y="3200400"/>
          <a:ext cx="7573973" cy="1645920"/>
        </p:xfrm>
        <a:graphic>
          <a:graphicData uri="http://schemas.openxmlformats.org/drawingml/2006/table">
            <a:tbl>
              <a:tblPr firstRow="1" bandRow="1">
                <a:tableStyleId>{5940675A-B579-460E-94D1-54222C63F5DA}</a:tableStyleId>
              </a:tblPr>
              <a:tblGrid>
                <a:gridCol w="1246350">
                  <a:extLst>
                    <a:ext uri="{9D8B030D-6E8A-4147-A177-3AD203B41FA5}">
                      <a16:colId xmlns:a16="http://schemas.microsoft.com/office/drawing/2014/main" val="20000"/>
                    </a:ext>
                  </a:extLst>
                </a:gridCol>
                <a:gridCol w="1438096">
                  <a:extLst>
                    <a:ext uri="{9D8B030D-6E8A-4147-A177-3AD203B41FA5}">
                      <a16:colId xmlns:a16="http://schemas.microsoft.com/office/drawing/2014/main" val="20001"/>
                    </a:ext>
                  </a:extLst>
                </a:gridCol>
                <a:gridCol w="2588573">
                  <a:extLst>
                    <a:ext uri="{9D8B030D-6E8A-4147-A177-3AD203B41FA5}">
                      <a16:colId xmlns:a16="http://schemas.microsoft.com/office/drawing/2014/main" val="20002"/>
                    </a:ext>
                  </a:extLst>
                </a:gridCol>
                <a:gridCol w="958731">
                  <a:extLst>
                    <a:ext uri="{9D8B030D-6E8A-4147-A177-3AD203B41FA5}">
                      <a16:colId xmlns:a16="http://schemas.microsoft.com/office/drawing/2014/main" val="20003"/>
                    </a:ext>
                  </a:extLst>
                </a:gridCol>
                <a:gridCol w="1342223">
                  <a:extLst>
                    <a:ext uri="{9D8B030D-6E8A-4147-A177-3AD203B41FA5}">
                      <a16:colId xmlns:a16="http://schemas.microsoft.com/office/drawing/2014/main" val="20004"/>
                    </a:ext>
                  </a:extLst>
                </a:gridCol>
              </a:tblGrid>
              <a:tr h="329184">
                <a:tc>
                  <a:txBody>
                    <a:bodyPr/>
                    <a:lstStyle/>
                    <a:p>
                      <a:pPr algn="l">
                        <a:spcAft>
                          <a:spcPts val="0"/>
                        </a:spcAft>
                      </a:pPr>
                      <a:r>
                        <a:rPr sz="1100" b="1" i="0">
                          <a:solidFill>
                            <a:srgbClr val="FFFFFF"/>
                          </a:solidFill>
                          <a:latin typeface="Calibri"/>
                        </a:rPr>
                        <a:t>Region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Family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Served version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Calibrated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00" b="1" i="0">
                          <a:solidFill>
                            <a:srgbClr val="FFFFFF"/>
                          </a:solidFill>
                          <a:latin typeface="Calibri"/>
                        </a:rPr>
                        <a:t>Status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329184">
                <a:tc>
                  <a:txBody>
                    <a:bodyPr/>
                    <a:lstStyle/>
                    <a:p>
                      <a:pPr algn="l">
                        <a:spcAft>
                          <a:spcPts val="0"/>
                        </a:spcAft>
                      </a:pPr>
                      <a:r>
                        <a:rPr sz="1100" b="0" i="0">
                          <a:solidFill>
                            <a:srgbClr val="1F2937"/>
                          </a:solidFill>
                          <a:latin typeface="Calibri"/>
                        </a:rPr>
                        <a:t>North India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PM2.5 forecast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hgbq-forecast-202610120929</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no</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gate passed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329184">
                <a:tc>
                  <a:txBody>
                    <a:bodyPr/>
                    <a:lstStyle/>
                    <a:p>
                      <a:pPr algn="l">
                        <a:spcAft>
                          <a:spcPts val="0"/>
                        </a:spcAft>
                      </a:pPr>
                      <a:r>
                        <a:rPr sz="1100" b="0" i="0">
                          <a:solidFill>
                            <a:srgbClr val="1F2937"/>
                          </a:solidFill>
                          <a:latin typeface="Calibri"/>
                        </a:rPr>
                        <a:t>North India</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24 h hazard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hgb-hazard-202610120919</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yes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gate passed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329184">
                <a:tc>
                  <a:txBody>
                    <a:bodyPr/>
                    <a:lstStyle/>
                    <a:p>
                      <a:pPr algn="l">
                        <a:spcAft>
                          <a:spcPts val="0"/>
                        </a:spcAft>
                      </a:pPr>
                      <a:r>
                        <a:rPr sz="1100" b="0" i="0">
                          <a:solidFill>
                            <a:srgbClr val="1F2937"/>
                          </a:solidFill>
                          <a:latin typeface="Calibri"/>
                        </a:rPr>
                        <a:t>Singapore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PM2.5 forecast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hgbq-forecast-202610130250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no</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gate passed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r h="329184">
                <a:tc>
                  <a:txBody>
                    <a:bodyPr/>
                    <a:lstStyle/>
                    <a:p>
                      <a:pPr algn="l">
                        <a:spcAft>
                          <a:spcPts val="0"/>
                        </a:spcAft>
                      </a:pPr>
                      <a:r>
                        <a:rPr sz="1100" b="0" i="0">
                          <a:solidFill>
                            <a:srgbClr val="1F2937"/>
                          </a:solidFill>
                          <a:latin typeface="Calibri"/>
                        </a:rPr>
                        <a:t>NSW</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all</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rules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degraded = true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4"/>
                  </a:ext>
                </a:extLst>
              </a:tr>
            </a:tbl>
          </a:graphicData>
        </a:graphic>
      </p:graphicFrame>
      <p:sp>
        <p:nvSpPr>
          <p:cNvPr id="25" name="TextBox 24"/>
          <p:cNvSpPr txBox="1"/>
          <p:nvPr/>
        </p:nvSpPr>
        <p:spPr>
          <a:xfrm>
            <a:off x="4114800" y="4937759"/>
            <a:ext cx="7573975" cy="548640"/>
          </a:xfrm>
          <a:prstGeom prst="rect">
            <a:avLst/>
          </a:prstGeom>
          <a:noFill/>
        </p:spPr>
        <p:txBody>
          <a:bodyPr wrap="square" lIns="0" tIns="0" rIns="0" bIns="0" anchor="t">
            <a:spAutoFit/>
          </a:bodyPr>
          <a:lstStyle/>
          <a:p>
            <a:pPr algn="l">
              <a:spcAft>
                <a:spcPts val="400"/>
              </a:spcAft>
            </a:pPr>
            <a:r>
              <a:rPr sz="1050" b="0" i="1">
                <a:solidFill>
                  <a:srgbClr val="6B7280"/>
                </a:solidFill>
                <a:latin typeface="Calibri"/>
              </a:rPr>
              <a:t>Families without an entry (anomaly, source likelihood, NSW) answer with a deterministic rule and state degraded = true with a reason. An uncalibrated hazard score is shown as a rank.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IV-E. TRANSPORT AND ATTRIBUTION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Plume Engine and Source Likelihood</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11 / 18</a:t>
            </a:r>
          </a:p>
        </p:txBody>
      </p:sp>
      <p:sp>
        <p:nvSpPr>
          <p:cNvPr id="8" name="Rectangle 7"/>
          <p:cNvSpPr/>
          <p:nvPr/>
        </p:nvSpPr>
        <p:spPr>
          <a:xfrm>
            <a:off x="685800" y="1280160"/>
            <a:ext cx="5669280" cy="4160520"/>
          </a:xfrm>
          <a:prstGeom prst="rect">
            <a:avLst/>
          </a:prstGeom>
          <a:solidFill>
            <a:srgbClr val="F8FAFC"/>
          </a:solidFill>
          <a:ln w="12700">
            <a:solidFill>
              <a:srgbClr val="E5E7EB"/>
            </a:solidFill>
          </a:ln>
          <a:effectLst/>
        </p:spPr>
        <p:txBody>
          <a:bodyPr wrap="square" lIns="54864" tIns="54864" rIns="54864" bIns="54864" rtlCol="0" anchor="ctr"/>
          <a:lstStyle/>
          <a:p>
            <a:pPr algn="ctr"/>
            <a:endParaRPr/>
          </a:p>
        </p:txBody>
      </p:sp>
      <p:sp>
        <p:nvSpPr>
          <p:cNvPr id="9" name="Freeform 8"/>
          <p:cNvSpPr/>
          <p:nvPr/>
        </p:nvSpPr>
        <p:spPr>
          <a:xfrm>
            <a:off x="1417320" y="1600200"/>
            <a:ext cx="4754880" cy="2331720"/>
          </a:xfrm>
          <a:custGeom>
            <a:avLst/>
            <a:gdLst/>
            <a:ahLst/>
            <a:cxnLst/>
            <a:rect l="l" t="t" r="r" b="b"/>
            <a:pathLst>
              <a:path w="4754880" h="2331720">
                <a:moveTo>
                  <a:pt x="0" y="2331720"/>
                </a:moveTo>
                <a:lnTo>
                  <a:pt x="4663440" y="0"/>
                </a:lnTo>
                <a:lnTo>
                  <a:pt x="4754880" y="1783079"/>
                </a:lnTo>
                <a:close/>
              </a:path>
            </a:pathLst>
          </a:custGeom>
          <a:solidFill>
            <a:srgbClr val="F59E0B">
              <a:alpha val="21999"/>
            </a:srgbClr>
          </a:solidFill>
          <a:ln>
            <a:noFill/>
          </a:ln>
          <a:effectLst/>
        </p:spPr>
        <p:txBody>
          <a:bodyPr rtlCol="0" anchor="ctr"/>
          <a:lstStyle/>
          <a:p>
            <a:pPr algn="ctr"/>
            <a:endParaRPr/>
          </a:p>
        </p:txBody>
      </p:sp>
      <p:sp>
        <p:nvSpPr>
          <p:cNvPr id="10" name="Freeform 9"/>
          <p:cNvSpPr/>
          <p:nvPr/>
        </p:nvSpPr>
        <p:spPr>
          <a:xfrm>
            <a:off x="1417320" y="2148839"/>
            <a:ext cx="4526280" cy="1783081"/>
          </a:xfrm>
          <a:custGeom>
            <a:avLst/>
            <a:gdLst/>
            <a:ahLst/>
            <a:cxnLst/>
            <a:rect l="l" t="t" r="r" b="b"/>
            <a:pathLst>
              <a:path w="4526280" h="1783081">
                <a:moveTo>
                  <a:pt x="0" y="1783081"/>
                </a:moveTo>
                <a:lnTo>
                  <a:pt x="4389120" y="0"/>
                </a:lnTo>
                <a:lnTo>
                  <a:pt x="4526280" y="731521"/>
                </a:lnTo>
                <a:close/>
              </a:path>
            </a:pathLst>
          </a:custGeom>
          <a:solidFill>
            <a:srgbClr val="B45309">
              <a:alpha val="44999"/>
            </a:srgbClr>
          </a:solidFill>
          <a:ln>
            <a:noFill/>
          </a:ln>
          <a:effectLst/>
        </p:spPr>
        <p:txBody>
          <a:bodyPr rtlCol="0" anchor="ctr"/>
          <a:lstStyle/>
          <a:p>
            <a:pPr algn="ctr"/>
            <a:endParaRPr/>
          </a:p>
        </p:txBody>
      </p:sp>
      <p:sp>
        <p:nvSpPr>
          <p:cNvPr id="11" name="Oval 10"/>
          <p:cNvSpPr/>
          <p:nvPr/>
        </p:nvSpPr>
        <p:spPr>
          <a:xfrm>
            <a:off x="1216152" y="3730752"/>
            <a:ext cx="402336" cy="402336"/>
          </a:xfrm>
          <a:prstGeom prst="ellipse">
            <a:avLst/>
          </a:prstGeom>
          <a:solidFill>
            <a:srgbClr val="F43F5E"/>
          </a:solidFill>
          <a:ln w="25400">
            <a:solidFill>
              <a:srgbClr val="FFFFFF"/>
            </a:solidFill>
          </a:ln>
          <a:effectLst/>
        </p:spPr>
        <p:txBody>
          <a:bodyPr wrap="square" lIns="54864" tIns="54864" rIns="54864" bIns="54864" rtlCol="0" anchor="ctr"/>
          <a:lstStyle/>
          <a:p>
            <a:pPr algn="ctr"/>
            <a:endParaRPr/>
          </a:p>
        </p:txBody>
      </p:sp>
      <p:sp>
        <p:nvSpPr>
          <p:cNvPr id="12" name="TextBox 11"/>
          <p:cNvSpPr txBox="1"/>
          <p:nvPr/>
        </p:nvSpPr>
        <p:spPr>
          <a:xfrm>
            <a:off x="868680" y="4178808"/>
            <a:ext cx="1737360" cy="274320"/>
          </a:xfrm>
          <a:prstGeom prst="rect">
            <a:avLst/>
          </a:prstGeom>
          <a:noFill/>
        </p:spPr>
        <p:txBody>
          <a:bodyPr wrap="square" lIns="0" tIns="0" rIns="0" bIns="0" anchor="t">
            <a:spAutoFit/>
          </a:bodyPr>
          <a:lstStyle/>
          <a:p>
            <a:pPr algn="l">
              <a:spcAft>
                <a:spcPts val="400"/>
              </a:spcAft>
            </a:pPr>
            <a:r>
              <a:rPr sz="1000" b="0" i="0">
                <a:solidFill>
                  <a:srgbClr val="BE123C"/>
                </a:solidFill>
                <a:latin typeface="Calibri"/>
              </a:rPr>
              <a:t>Fire cluster (FIRMS)</a:t>
            </a:r>
          </a:p>
        </p:txBody>
      </p:sp>
      <p:sp>
        <p:nvSpPr>
          <p:cNvPr id="13" name="Oval 12"/>
          <p:cNvSpPr/>
          <p:nvPr/>
        </p:nvSpPr>
        <p:spPr>
          <a:xfrm>
            <a:off x="3337560" y="2971799"/>
            <a:ext cx="182880" cy="182880"/>
          </a:xfrm>
          <a:prstGeom prst="ellipse">
            <a:avLst/>
          </a:prstGeom>
          <a:solidFill>
            <a:srgbClr val="002855"/>
          </a:solidFill>
          <a:ln w="12700">
            <a:solidFill>
              <a:srgbClr val="FFFFFF"/>
            </a:solidFill>
          </a:ln>
          <a:effectLst/>
        </p:spPr>
        <p:txBody>
          <a:bodyPr wrap="square" lIns="54864" tIns="54864" rIns="54864" bIns="54864" rtlCol="0" anchor="ctr"/>
          <a:lstStyle/>
          <a:p>
            <a:pPr algn="ctr"/>
            <a:endParaRPr/>
          </a:p>
        </p:txBody>
      </p:sp>
      <p:sp>
        <p:nvSpPr>
          <p:cNvPr id="14" name="TextBox 13"/>
          <p:cNvSpPr txBox="1"/>
          <p:nvPr/>
        </p:nvSpPr>
        <p:spPr>
          <a:xfrm>
            <a:off x="3557016" y="2935223"/>
            <a:ext cx="1737360" cy="274320"/>
          </a:xfrm>
          <a:prstGeom prst="rect">
            <a:avLst/>
          </a:prstGeom>
          <a:noFill/>
        </p:spPr>
        <p:txBody>
          <a:bodyPr wrap="square" lIns="0" tIns="0" rIns="0" bIns="0" anchor="t">
            <a:spAutoFit/>
          </a:bodyPr>
          <a:lstStyle/>
          <a:p>
            <a:pPr algn="l">
              <a:spcAft>
                <a:spcPts val="400"/>
              </a:spcAft>
            </a:pPr>
            <a:r>
              <a:rPr sz="1000" b="0" i="0">
                <a:solidFill>
                  <a:srgbClr val="002855"/>
                </a:solidFill>
                <a:latin typeface="Calibri"/>
              </a:rPr>
              <a:t>Place A · reached, ETA</a:t>
            </a:r>
          </a:p>
        </p:txBody>
      </p:sp>
      <p:sp>
        <p:nvSpPr>
          <p:cNvPr id="15" name="Oval 14"/>
          <p:cNvSpPr/>
          <p:nvPr/>
        </p:nvSpPr>
        <p:spPr>
          <a:xfrm>
            <a:off x="4892040" y="2240279"/>
            <a:ext cx="182880" cy="182880"/>
          </a:xfrm>
          <a:prstGeom prst="ellipse">
            <a:avLst/>
          </a:prstGeom>
          <a:solidFill>
            <a:srgbClr val="002855"/>
          </a:solidFill>
          <a:ln w="12700">
            <a:solidFill>
              <a:srgbClr val="FFFFFF"/>
            </a:solidFill>
          </a:ln>
          <a:effectLst/>
        </p:spPr>
        <p:txBody>
          <a:bodyPr wrap="square" lIns="54864" tIns="54864" rIns="54864" bIns="54864" rtlCol="0" anchor="ctr"/>
          <a:lstStyle/>
          <a:p>
            <a:pPr algn="ctr"/>
            <a:endParaRPr/>
          </a:p>
        </p:txBody>
      </p:sp>
      <p:sp>
        <p:nvSpPr>
          <p:cNvPr id="16" name="TextBox 15"/>
          <p:cNvSpPr txBox="1"/>
          <p:nvPr/>
        </p:nvSpPr>
        <p:spPr>
          <a:xfrm>
            <a:off x="5111496" y="2203703"/>
            <a:ext cx="1737360" cy="274320"/>
          </a:xfrm>
          <a:prstGeom prst="rect">
            <a:avLst/>
          </a:prstGeom>
          <a:noFill/>
        </p:spPr>
        <p:txBody>
          <a:bodyPr wrap="square" lIns="0" tIns="0" rIns="0" bIns="0" anchor="t">
            <a:spAutoFit/>
          </a:bodyPr>
          <a:lstStyle/>
          <a:p>
            <a:pPr algn="l">
              <a:spcAft>
                <a:spcPts val="400"/>
              </a:spcAft>
            </a:pPr>
            <a:r>
              <a:rPr sz="1000" b="0" i="0">
                <a:solidFill>
                  <a:srgbClr val="002855"/>
                </a:solidFill>
                <a:latin typeface="Calibri"/>
              </a:rPr>
              <a:t>Place B · reached, ETA</a:t>
            </a:r>
          </a:p>
        </p:txBody>
      </p:sp>
      <p:sp>
        <p:nvSpPr>
          <p:cNvPr id="17" name="Oval 16"/>
          <p:cNvSpPr/>
          <p:nvPr/>
        </p:nvSpPr>
        <p:spPr>
          <a:xfrm>
            <a:off x="4617720" y="4206240"/>
            <a:ext cx="182880" cy="182880"/>
          </a:xfrm>
          <a:prstGeom prst="ellipse">
            <a:avLst/>
          </a:prstGeom>
          <a:solidFill>
            <a:srgbClr val="6B7280"/>
          </a:solidFill>
          <a:ln w="12700">
            <a:solidFill>
              <a:srgbClr val="FFFFFF"/>
            </a:solidFill>
          </a:ln>
          <a:effectLst/>
        </p:spPr>
        <p:txBody>
          <a:bodyPr wrap="square" lIns="54864" tIns="54864" rIns="54864" bIns="54864" rtlCol="0" anchor="ctr"/>
          <a:lstStyle/>
          <a:p>
            <a:pPr algn="ctr"/>
            <a:endParaRPr/>
          </a:p>
        </p:txBody>
      </p:sp>
      <p:sp>
        <p:nvSpPr>
          <p:cNvPr id="18" name="TextBox 17"/>
          <p:cNvSpPr txBox="1"/>
          <p:nvPr/>
        </p:nvSpPr>
        <p:spPr>
          <a:xfrm>
            <a:off x="4837176" y="4169663"/>
            <a:ext cx="1737360" cy="274320"/>
          </a:xfrm>
          <a:prstGeom prst="rect">
            <a:avLst/>
          </a:prstGeom>
          <a:noFill/>
        </p:spPr>
        <p:txBody>
          <a:bodyPr wrap="square" lIns="0" tIns="0" rIns="0" bIns="0" anchor="t">
            <a:spAutoFit/>
          </a:bodyPr>
          <a:lstStyle/>
          <a:p>
            <a:pPr algn="l">
              <a:spcAft>
                <a:spcPts val="400"/>
              </a:spcAft>
            </a:pPr>
            <a:r>
              <a:rPr sz="1000" b="0" i="0">
                <a:solidFill>
                  <a:srgbClr val="6B7280"/>
                </a:solidFill>
                <a:latin typeface="Calibri"/>
              </a:rPr>
              <a:t>Place C · outside P90</a:t>
            </a:r>
          </a:p>
        </p:txBody>
      </p:sp>
      <p:cxnSp>
        <p:nvCxnSpPr>
          <p:cNvPr id="19" name="Connector 18"/>
          <p:cNvCxnSpPr/>
          <p:nvPr/>
        </p:nvCxnSpPr>
        <p:spPr>
          <a:xfrm flipV="1">
            <a:off x="960120" y="1527048"/>
            <a:ext cx="731520" cy="256032"/>
          </a:xfrm>
          <a:prstGeom prst="line">
            <a:avLst/>
          </a:prstGeom>
          <a:ln w="22225">
            <a:solidFill>
              <a:srgbClr val="0E7490"/>
            </a:solidFill>
            <a:tailEnd type="triangle" w="med" len="med"/>
          </a:ln>
        </p:spPr>
      </p:cxnSp>
      <p:cxnSp>
        <p:nvCxnSpPr>
          <p:cNvPr id="20" name="Connector 19"/>
          <p:cNvCxnSpPr/>
          <p:nvPr/>
        </p:nvCxnSpPr>
        <p:spPr>
          <a:xfrm flipV="1">
            <a:off x="960120" y="1801368"/>
            <a:ext cx="731520" cy="256032"/>
          </a:xfrm>
          <a:prstGeom prst="line">
            <a:avLst/>
          </a:prstGeom>
          <a:ln w="22225">
            <a:solidFill>
              <a:srgbClr val="0E7490"/>
            </a:solidFill>
            <a:tailEnd type="triangle" w="med" len="med"/>
          </a:ln>
        </p:spPr>
      </p:cxnSp>
      <p:cxnSp>
        <p:nvCxnSpPr>
          <p:cNvPr id="21" name="Connector 20"/>
          <p:cNvCxnSpPr/>
          <p:nvPr/>
        </p:nvCxnSpPr>
        <p:spPr>
          <a:xfrm flipV="1">
            <a:off x="960120" y="2075687"/>
            <a:ext cx="731520" cy="256033"/>
          </a:xfrm>
          <a:prstGeom prst="line">
            <a:avLst/>
          </a:prstGeom>
          <a:ln w="22225">
            <a:solidFill>
              <a:srgbClr val="0E7490"/>
            </a:solidFill>
            <a:tailEnd type="triangle" w="med" len="med"/>
          </a:ln>
        </p:spPr>
      </p:cxnSp>
      <p:sp>
        <p:nvSpPr>
          <p:cNvPr id="22" name="TextBox 21"/>
          <p:cNvSpPr txBox="1"/>
          <p:nvPr/>
        </p:nvSpPr>
        <p:spPr>
          <a:xfrm>
            <a:off x="914400" y="1353312"/>
            <a:ext cx="1463040" cy="274320"/>
          </a:xfrm>
          <a:prstGeom prst="rect">
            <a:avLst/>
          </a:prstGeom>
          <a:noFill/>
        </p:spPr>
        <p:txBody>
          <a:bodyPr wrap="square" lIns="0" tIns="0" rIns="0" bIns="0" anchor="t">
            <a:spAutoFit/>
          </a:bodyPr>
          <a:lstStyle/>
          <a:p>
            <a:pPr algn="l">
              <a:spcAft>
                <a:spcPts val="400"/>
              </a:spcAft>
            </a:pPr>
            <a:r>
              <a:rPr sz="950" b="0" i="0">
                <a:solidFill>
                  <a:srgbClr val="0E7490"/>
                </a:solidFill>
                <a:latin typeface="Calibri"/>
              </a:rPr>
              <a:t>forecast wind</a:t>
            </a:r>
          </a:p>
        </p:txBody>
      </p:sp>
      <p:sp>
        <p:nvSpPr>
          <p:cNvPr id="23" name="Rectangle 22"/>
          <p:cNvSpPr/>
          <p:nvPr/>
        </p:nvSpPr>
        <p:spPr>
          <a:xfrm>
            <a:off x="960120" y="5093207"/>
            <a:ext cx="228600" cy="182880"/>
          </a:xfrm>
          <a:prstGeom prst="rect">
            <a:avLst/>
          </a:prstGeom>
          <a:solidFill>
            <a:srgbClr val="B45309">
              <a:alpha val="44999"/>
            </a:srgbClr>
          </a:solidFill>
          <a:ln>
            <a:noFill/>
          </a:ln>
          <a:effectLst/>
        </p:spPr>
        <p:txBody>
          <a:bodyPr wrap="square" lIns="54864" tIns="54864" rIns="54864" bIns="54864" rtlCol="0" anchor="ctr"/>
          <a:lstStyle/>
          <a:p>
            <a:pPr algn="ctr"/>
            <a:endParaRPr/>
          </a:p>
        </p:txBody>
      </p:sp>
      <p:sp>
        <p:nvSpPr>
          <p:cNvPr id="24" name="TextBox 23"/>
          <p:cNvSpPr txBox="1"/>
          <p:nvPr/>
        </p:nvSpPr>
        <p:spPr>
          <a:xfrm>
            <a:off x="1234440" y="5047488"/>
            <a:ext cx="1188720" cy="274320"/>
          </a:xfrm>
          <a:prstGeom prst="rect">
            <a:avLst/>
          </a:prstGeom>
          <a:noFill/>
        </p:spPr>
        <p:txBody>
          <a:bodyPr wrap="square" lIns="0" tIns="0" rIns="0" bIns="0" anchor="t">
            <a:spAutoFit/>
          </a:bodyPr>
          <a:lstStyle/>
          <a:p>
            <a:pPr algn="l">
              <a:spcAft>
                <a:spcPts val="400"/>
              </a:spcAft>
            </a:pPr>
            <a:r>
              <a:rPr sz="950" b="0" i="0">
                <a:solidFill>
                  <a:srgbClr val="1F2937"/>
                </a:solidFill>
                <a:latin typeface="Calibri"/>
              </a:rPr>
              <a:t>P50 footprint</a:t>
            </a:r>
          </a:p>
        </p:txBody>
      </p:sp>
      <p:sp>
        <p:nvSpPr>
          <p:cNvPr id="25" name="Rectangle 24"/>
          <p:cNvSpPr/>
          <p:nvPr/>
        </p:nvSpPr>
        <p:spPr>
          <a:xfrm>
            <a:off x="2514600" y="5093207"/>
            <a:ext cx="228600" cy="182880"/>
          </a:xfrm>
          <a:prstGeom prst="rect">
            <a:avLst/>
          </a:prstGeom>
          <a:solidFill>
            <a:srgbClr val="F59E0B">
              <a:alpha val="21999"/>
            </a:srgbClr>
          </a:solidFill>
          <a:ln>
            <a:noFill/>
          </a:ln>
          <a:effectLst/>
        </p:spPr>
        <p:txBody>
          <a:bodyPr wrap="square" lIns="54864" tIns="54864" rIns="54864" bIns="54864" rtlCol="0" anchor="ctr"/>
          <a:lstStyle/>
          <a:p>
            <a:pPr algn="ctr"/>
            <a:endParaRPr/>
          </a:p>
        </p:txBody>
      </p:sp>
      <p:sp>
        <p:nvSpPr>
          <p:cNvPr id="26" name="TextBox 25"/>
          <p:cNvSpPr txBox="1"/>
          <p:nvPr/>
        </p:nvSpPr>
        <p:spPr>
          <a:xfrm>
            <a:off x="2788920" y="5047488"/>
            <a:ext cx="1188720" cy="274320"/>
          </a:xfrm>
          <a:prstGeom prst="rect">
            <a:avLst/>
          </a:prstGeom>
          <a:noFill/>
        </p:spPr>
        <p:txBody>
          <a:bodyPr wrap="square" lIns="0" tIns="0" rIns="0" bIns="0" anchor="t">
            <a:spAutoFit/>
          </a:bodyPr>
          <a:lstStyle/>
          <a:p>
            <a:pPr algn="l">
              <a:spcAft>
                <a:spcPts val="400"/>
              </a:spcAft>
            </a:pPr>
            <a:r>
              <a:rPr sz="950" b="0" i="0">
                <a:solidFill>
                  <a:srgbClr val="1F2937"/>
                </a:solidFill>
                <a:latin typeface="Calibri"/>
              </a:rPr>
              <a:t>P90 envelope</a:t>
            </a:r>
          </a:p>
        </p:txBody>
      </p:sp>
      <p:sp>
        <p:nvSpPr>
          <p:cNvPr id="27" name="TextBox 26"/>
          <p:cNvSpPr txBox="1"/>
          <p:nvPr/>
        </p:nvSpPr>
        <p:spPr>
          <a:xfrm>
            <a:off x="3977639" y="5047488"/>
            <a:ext cx="2286000" cy="274320"/>
          </a:xfrm>
          <a:prstGeom prst="rect">
            <a:avLst/>
          </a:prstGeom>
          <a:noFill/>
        </p:spPr>
        <p:txBody>
          <a:bodyPr wrap="square" lIns="0" tIns="0" rIns="0" bIns="0" anchor="t">
            <a:spAutoFit/>
          </a:bodyPr>
          <a:lstStyle/>
          <a:p>
            <a:pPr algn="r">
              <a:spcAft>
                <a:spcPts val="400"/>
              </a:spcAft>
            </a:pPr>
            <a:r>
              <a:rPr sz="900" b="0" i="1">
                <a:solidFill>
                  <a:srgbClr val="6B7280"/>
                </a:solidFill>
                <a:latin typeface="Calibri"/>
              </a:rPr>
              <a:t>Schematic, not to scale</a:t>
            </a:r>
          </a:p>
        </p:txBody>
      </p:sp>
      <p:sp>
        <p:nvSpPr>
          <p:cNvPr id="28" name="TextBox 27"/>
          <p:cNvSpPr txBox="1"/>
          <p:nvPr/>
        </p:nvSpPr>
        <p:spPr>
          <a:xfrm>
            <a:off x="685800" y="5513831"/>
            <a:ext cx="5669280"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7.  </a:t>
            </a:r>
            <a:r>
              <a:rPr sz="1050" b="0" i="0">
                <a:solidFill>
                  <a:srgbClr val="1F2937"/>
                </a:solidFill>
                <a:latin typeface="Calibri"/>
              </a:rPr>
              <a:t>Forward plume: ensemble footprints create “reaches” edges with an ETA.</a:t>
            </a:r>
          </a:p>
        </p:txBody>
      </p:sp>
      <p:sp>
        <p:nvSpPr>
          <p:cNvPr id="29" name="TextBox 28"/>
          <p:cNvSpPr txBox="1"/>
          <p:nvPr/>
        </p:nvSpPr>
        <p:spPr>
          <a:xfrm>
            <a:off x="6675120" y="1234440"/>
            <a:ext cx="5013655" cy="365760"/>
          </a:xfrm>
          <a:prstGeom prst="rect">
            <a:avLst/>
          </a:prstGeom>
          <a:noFill/>
        </p:spPr>
        <p:txBody>
          <a:bodyPr wrap="square" lIns="36576" tIns="36576" rIns="36576" bIns="36576" anchor="t">
            <a:spAutoFit/>
          </a:bodyPr>
          <a:lstStyle/>
          <a:p>
            <a:pPr algn="l">
              <a:spcAft>
                <a:spcPts val="400"/>
              </a:spcAft>
            </a:pPr>
            <a:r>
              <a:rPr sz="1600" b="1" i="0">
                <a:solidFill>
                  <a:srgbClr val="002855"/>
                </a:solidFill>
                <a:latin typeface="Times New Roman"/>
              </a:rPr>
              <a:t>Plume engine</a:t>
            </a:r>
          </a:p>
        </p:txBody>
      </p:sp>
      <p:sp>
        <p:nvSpPr>
          <p:cNvPr id="30" name="TextBox 29"/>
          <p:cNvSpPr txBox="1"/>
          <p:nvPr/>
        </p:nvSpPr>
        <p:spPr>
          <a:xfrm>
            <a:off x="6675120" y="1645920"/>
            <a:ext cx="5013655" cy="2514600"/>
          </a:xfrm>
          <a:prstGeom prst="rect">
            <a:avLst/>
          </a:prstGeom>
          <a:noFill/>
        </p:spPr>
        <p:txBody>
          <a:bodyPr wrap="square" lIns="36576" tIns="36576" rIns="36576" bIns="36576" anchor="t">
            <a:spAutoFit/>
          </a:bodyPr>
          <a:lstStyle/>
          <a:p>
            <a:pPr marL="181610" indent="-181610" algn="l">
              <a:spcAft>
                <a:spcPts val="500"/>
              </a:spcAft>
              <a:buClr>
                <a:srgbClr val="00629B"/>
              </a:buClr>
              <a:buFont typeface="Arial"/>
              <a:buChar char="•"/>
            </a:pPr>
            <a:r>
              <a:rPr sz="1300" b="1" i="0">
                <a:solidFill>
                  <a:srgbClr val="1F2937"/>
                </a:solidFill>
                <a:latin typeface="Calibri"/>
              </a:rPr>
              <a:t>lagrangian-ens-1.0</a:t>
            </a:r>
            <a:r>
              <a:rPr sz="1300" b="0" i="0">
                <a:solidFill>
                  <a:srgbClr val="1F2937"/>
                </a:solidFill>
                <a:latin typeface="Calibri"/>
              </a:rPr>
              <a:t>: 200-particle ensemble driven by forecast winds</a:t>
            </a:r>
          </a:p>
          <a:p>
            <a:pPr marL="181610" indent="-181610" algn="l">
              <a:spcAft>
                <a:spcPts val="500"/>
              </a:spcAft>
              <a:buClr>
                <a:srgbClr val="00629B"/>
              </a:buClr>
              <a:buFont typeface="Arial"/>
              <a:buChar char="•"/>
            </a:pPr>
            <a:r>
              <a:rPr sz="1300" b="1" i="0">
                <a:solidFill>
                  <a:srgbClr val="1F2937"/>
                </a:solidFill>
                <a:latin typeface="Calibri"/>
              </a:rPr>
              <a:t>P50 / P90</a:t>
            </a:r>
            <a:r>
              <a:rPr sz="1300" b="0" i="0">
                <a:solidFill>
                  <a:srgbClr val="1F2937"/>
                </a:solidFill>
                <a:latin typeface="Calibri"/>
              </a:rPr>
              <a:t> footprints per horizon</a:t>
            </a:r>
          </a:p>
          <a:p>
            <a:pPr marL="181610" indent="-181610" algn="l">
              <a:spcAft>
                <a:spcPts val="500"/>
              </a:spcAft>
              <a:buClr>
                <a:srgbClr val="00629B"/>
              </a:buClr>
              <a:buFont typeface="Arial"/>
              <a:buChar char="•"/>
            </a:pPr>
            <a:r>
              <a:rPr sz="1300" b="0" i="0">
                <a:solidFill>
                  <a:srgbClr val="1F2937"/>
                </a:solidFill>
                <a:latin typeface="Calibri"/>
              </a:rPr>
              <a:t>Horizons from the hazard profile — longest: bushfire smoke 48 h; crop residue burning 24 h; dust 12 h; transboundary haze 48 h</a:t>
            </a:r>
          </a:p>
          <a:p>
            <a:pPr marL="181610" indent="-181610" algn="l">
              <a:spcAft>
                <a:spcPts val="500"/>
              </a:spcAft>
              <a:buClr>
                <a:srgbClr val="00629B"/>
              </a:buClr>
              <a:buFont typeface="Arial"/>
              <a:buChar char="•"/>
            </a:pPr>
            <a:r>
              <a:rPr sz="1300" b="1" i="0">
                <a:solidFill>
                  <a:srgbClr val="1F2937"/>
                </a:solidFill>
                <a:latin typeface="Calibri"/>
              </a:rPr>
              <a:t>Forward</a:t>
            </a:r>
            <a:r>
              <a:rPr sz="1300" b="0" i="0">
                <a:solidFill>
                  <a:srgbClr val="1F2937"/>
                </a:solidFill>
                <a:latin typeface="Calibri"/>
              </a:rPr>
              <a:t> (where smoke goes) and </a:t>
            </a:r>
            <a:r>
              <a:rPr sz="1300" b="1" i="0">
                <a:solidFill>
                  <a:srgbClr val="1F2937"/>
                </a:solidFill>
                <a:latin typeface="Calibri"/>
              </a:rPr>
              <a:t>backward</a:t>
            </a:r>
            <a:r>
              <a:rPr sz="1300" b="0" i="0">
                <a:solidFill>
                  <a:srgbClr val="1F2937"/>
                </a:solidFill>
                <a:latin typeface="Calibri"/>
              </a:rPr>
              <a:t> (where an anomaly came from)</a:t>
            </a:r>
          </a:p>
          <a:p>
            <a:pPr marL="181610" indent="-181610" algn="l">
              <a:spcAft>
                <a:spcPts val="500"/>
              </a:spcAft>
              <a:buClr>
                <a:srgbClr val="00629B"/>
              </a:buClr>
              <a:buFont typeface="Arial"/>
              <a:buChar char="•"/>
            </a:pPr>
            <a:r>
              <a:rPr sz="1300" b="0" i="0">
                <a:solidFill>
                  <a:srgbClr val="1F2937"/>
                </a:solidFill>
                <a:latin typeface="Calibri"/>
              </a:rPr>
              <a:t>Labelled “Predicted smoke transport — experimental”, provenance = simulated</a:t>
            </a:r>
          </a:p>
        </p:txBody>
      </p:sp>
      <p:sp>
        <p:nvSpPr>
          <p:cNvPr id="31" name="TextBox 30"/>
          <p:cNvSpPr txBox="1"/>
          <p:nvPr/>
        </p:nvSpPr>
        <p:spPr>
          <a:xfrm>
            <a:off x="6675120" y="4206240"/>
            <a:ext cx="5013655" cy="365760"/>
          </a:xfrm>
          <a:prstGeom prst="rect">
            <a:avLst/>
          </a:prstGeom>
          <a:noFill/>
        </p:spPr>
        <p:txBody>
          <a:bodyPr wrap="square" lIns="36576" tIns="36576" rIns="36576" bIns="36576" anchor="t">
            <a:spAutoFit/>
          </a:bodyPr>
          <a:lstStyle/>
          <a:p>
            <a:pPr algn="l">
              <a:spcAft>
                <a:spcPts val="400"/>
              </a:spcAft>
            </a:pPr>
            <a:r>
              <a:rPr sz="1600" b="1" i="0">
                <a:solidFill>
                  <a:srgbClr val="002855"/>
                </a:solidFill>
                <a:latin typeface="Times New Roman"/>
              </a:rPr>
              <a:t>Source likelihood</a:t>
            </a:r>
          </a:p>
        </p:txBody>
      </p:sp>
      <p:sp>
        <p:nvSpPr>
          <p:cNvPr id="32" name="TextBox 31"/>
          <p:cNvSpPr txBox="1"/>
          <p:nvPr/>
        </p:nvSpPr>
        <p:spPr>
          <a:xfrm>
            <a:off x="6675120" y="4617720"/>
            <a:ext cx="5013655" cy="1371600"/>
          </a:xfrm>
          <a:prstGeom prst="rect">
            <a:avLst/>
          </a:prstGeom>
          <a:noFill/>
        </p:spPr>
        <p:txBody>
          <a:bodyPr wrap="square" lIns="36576" tIns="36576" rIns="36576" bIns="36576" anchor="t">
            <a:spAutoFit/>
          </a:bodyPr>
          <a:lstStyle/>
          <a:p>
            <a:pPr marL="181610" indent="-181610" algn="l">
              <a:spcAft>
                <a:spcPts val="500"/>
              </a:spcAft>
              <a:buClr>
                <a:srgbClr val="00629B"/>
              </a:buClr>
              <a:buFont typeface="Arial"/>
              <a:buChar char="•"/>
            </a:pPr>
            <a:r>
              <a:rPr sz="1300" b="0" i="0">
                <a:solidFill>
                  <a:srgbClr val="1F2937"/>
                </a:solidFill>
                <a:latin typeface="Calibri"/>
              </a:rPr>
              <a:t>Heuristic </a:t>
            </a:r>
            <a:r>
              <a:rPr sz="1300" b="1" i="0">
                <a:solidFill>
                  <a:srgbClr val="1F2937"/>
                </a:solidFill>
                <a:latin typeface="Calibri"/>
              </a:rPr>
              <a:t>evidence-weights</a:t>
            </a:r>
            <a:r>
              <a:rPr sz="1300" b="0" i="0">
                <a:solidFill>
                  <a:srgbClr val="1F2937"/>
                </a:solidFill>
                <a:latin typeface="Calibri"/>
              </a:rPr>
              <a:t> ranking until a labelled gold set exists</a:t>
            </a:r>
          </a:p>
          <a:p>
            <a:pPr marL="181610" indent="-181610" algn="l">
              <a:spcAft>
                <a:spcPts val="500"/>
              </a:spcAft>
              <a:buClr>
                <a:srgbClr val="00629B"/>
              </a:buClr>
              <a:buFont typeface="Arial"/>
              <a:buChar char="•"/>
            </a:pPr>
            <a:r>
              <a:rPr sz="1300" b="0" i="0">
                <a:solidFill>
                  <a:srgbClr val="1F2937"/>
                </a:solidFill>
                <a:latin typeface="Calibri"/>
              </a:rPr>
              <a:t>Shown as an ordered list with its evidence (fire nearby, upwind, on plume path, PM2.5 elevated)</a:t>
            </a:r>
          </a:p>
          <a:p>
            <a:pPr marL="181610" indent="-181610" algn="l">
              <a:spcAft>
                <a:spcPts val="500"/>
              </a:spcAft>
              <a:buClr>
                <a:srgbClr val="00629B"/>
              </a:buClr>
              <a:buFont typeface="Arial"/>
              <a:buChar char="•"/>
            </a:pPr>
            <a:r>
              <a:rPr sz="1300" b="1" i="0">
                <a:solidFill>
                  <a:srgbClr val="1F2937"/>
                </a:solidFill>
                <a:latin typeface="Calibri"/>
              </a:rPr>
              <a:t>Never shown as a percentage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IV-F. RESPONSIBLE AI</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Responsible AI Boundary: Where Gemini Is Allowed</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12 / 18</a:t>
            </a:r>
          </a:p>
        </p:txBody>
      </p:sp>
      <p:sp>
        <p:nvSpPr>
          <p:cNvPr id="8" name="TextBox 7"/>
          <p:cNvSpPr txBox="1"/>
          <p:nvPr/>
        </p:nvSpPr>
        <p:spPr>
          <a:xfrm>
            <a:off x="502920" y="1161288"/>
            <a:ext cx="5486400" cy="274320"/>
          </a:xfrm>
          <a:prstGeom prst="rect">
            <a:avLst/>
          </a:prstGeom>
          <a:noFill/>
        </p:spPr>
        <p:txBody>
          <a:bodyPr wrap="square" lIns="36576" tIns="36576" rIns="36576" bIns="36576" anchor="t">
            <a:spAutoFit/>
          </a:bodyPr>
          <a:lstStyle/>
          <a:p>
            <a:pPr algn="l">
              <a:spcAft>
                <a:spcPts val="400"/>
              </a:spcAft>
            </a:pPr>
            <a:r>
              <a:rPr sz="1250" b="1" i="0">
                <a:solidFill>
                  <a:srgbClr val="002855"/>
                </a:solidFill>
                <a:latin typeface="Times New Roman"/>
              </a:rPr>
              <a:t>Citizen photo report</a:t>
            </a:r>
          </a:p>
        </p:txBody>
      </p:sp>
      <p:sp>
        <p:nvSpPr>
          <p:cNvPr id="9" name="Can 8"/>
          <p:cNvSpPr/>
          <p:nvPr/>
        </p:nvSpPr>
        <p:spPr>
          <a:xfrm>
            <a:off x="502920" y="1417320"/>
            <a:ext cx="1508760" cy="86868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00" b="1" i="0">
                <a:solidFill>
                  <a:srgbClr val="1F2937"/>
                </a:solidFill>
                <a:latin typeface="Calibri"/>
              </a:rPr>
              <a:t>Upload</a:t>
            </a:r>
          </a:p>
          <a:p>
            <a:pPr algn="ctr">
              <a:spcAft>
                <a:spcPts val="0"/>
              </a:spcAft>
            </a:pPr>
            <a:r>
              <a:rPr sz="950" b="0" i="0">
                <a:solidFill>
                  <a:srgbClr val="1F2937"/>
                </a:solidFill>
                <a:latin typeface="Calibri"/>
              </a:rPr>
              <a:t>photo → private bucket</a:t>
            </a:r>
          </a:p>
        </p:txBody>
      </p:sp>
      <p:sp>
        <p:nvSpPr>
          <p:cNvPr id="10" name="Rounded Rectangle 9"/>
          <p:cNvSpPr/>
          <p:nvPr/>
        </p:nvSpPr>
        <p:spPr>
          <a:xfrm>
            <a:off x="2122093" y="1417320"/>
            <a:ext cx="1874519"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Sanitize + geo-trust</a:t>
            </a:r>
          </a:p>
          <a:p>
            <a:pPr algn="ctr">
              <a:spcAft>
                <a:spcPts val="0"/>
              </a:spcAft>
            </a:pPr>
            <a:r>
              <a:rPr sz="950" b="0" i="0">
                <a:solidFill>
                  <a:srgbClr val="1F2937"/>
                </a:solidFill>
                <a:latin typeface="Calibri"/>
              </a:rPr>
              <a:t>EXIF stripped, location checked</a:t>
            </a:r>
          </a:p>
        </p:txBody>
      </p:sp>
      <p:sp>
        <p:nvSpPr>
          <p:cNvPr id="11" name="Rounded Rectangle 10"/>
          <p:cNvSpPr/>
          <p:nvPr/>
        </p:nvSpPr>
        <p:spPr>
          <a:xfrm>
            <a:off x="4107027" y="1417320"/>
            <a:ext cx="2240280" cy="868680"/>
          </a:xfrm>
          <a:prstGeom prst="roundRect">
            <a:avLst>
              <a:gd name="adj" fmla="val 12631"/>
            </a:avLst>
          </a:prstGeom>
          <a:solidFill>
            <a:srgbClr val="EDE9FE"/>
          </a:solidFill>
          <a:ln w="12700">
            <a:solidFill>
              <a:srgbClr val="6D28D9"/>
            </a:solidFill>
          </a:ln>
          <a:effectLst/>
        </p:spPr>
        <p:txBody>
          <a:bodyPr wrap="square" lIns="45720" rIns="45720" rtlCol="0" anchor="ctr"/>
          <a:lstStyle/>
          <a:p>
            <a:pPr algn="ctr">
              <a:spcAft>
                <a:spcPts val="100"/>
              </a:spcAft>
            </a:pPr>
            <a:r>
              <a:rPr sz="1100" b="1" i="0">
                <a:solidFill>
                  <a:srgbClr val="6D28D9"/>
                </a:solidFill>
                <a:latin typeface="Calibri"/>
              </a:rPr>
              <a:t>Gemini observation</a:t>
            </a:r>
          </a:p>
          <a:p>
            <a:pPr algn="ctr">
              <a:spcAft>
                <a:spcPts val="0"/>
              </a:spcAft>
            </a:pPr>
            <a:r>
              <a:rPr sz="950" b="0" i="0">
                <a:solidFill>
                  <a:srgbClr val="1F2937"/>
                </a:solidFill>
                <a:latin typeface="Calibri"/>
              </a:rPr>
              <a:t>schema-constrained, no numbers, “requires corroboration”</a:t>
            </a:r>
          </a:p>
        </p:txBody>
      </p:sp>
      <p:sp>
        <p:nvSpPr>
          <p:cNvPr id="12" name="Rounded Rectangle 11"/>
          <p:cNvSpPr/>
          <p:nvPr/>
        </p:nvSpPr>
        <p:spPr>
          <a:xfrm>
            <a:off x="6457721" y="1417320"/>
            <a:ext cx="297180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Corroboration</a:t>
            </a:r>
          </a:p>
          <a:p>
            <a:pPr algn="ctr">
              <a:spcAft>
                <a:spcPts val="0"/>
              </a:spcAft>
            </a:pPr>
            <a:r>
              <a:rPr sz="950" b="0" i="0">
                <a:solidFill>
                  <a:srgbClr val="1F2937"/>
                </a:solidFill>
                <a:latin typeface="Calibri"/>
              </a:rPr>
              <a:t>FIRMS nearby · bearing · upwind · plume path · PM2.5 · aerosol index · active event</a:t>
            </a:r>
          </a:p>
        </p:txBody>
      </p:sp>
      <p:sp>
        <p:nvSpPr>
          <p:cNvPr id="13" name="Rounded Rectangle 12"/>
          <p:cNvSpPr/>
          <p:nvPr/>
        </p:nvSpPr>
        <p:spPr>
          <a:xfrm>
            <a:off x="9539935" y="1417320"/>
            <a:ext cx="214884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Decision</a:t>
            </a:r>
          </a:p>
          <a:p>
            <a:pPr algn="ctr">
              <a:spcAft>
                <a:spcPts val="0"/>
              </a:spcAft>
            </a:pPr>
            <a:r>
              <a:rPr sz="950" b="0" i="0">
                <a:solidFill>
                  <a:srgbClr val="1F2937"/>
                </a:solidFill>
                <a:latin typeface="Calibri"/>
              </a:rPr>
              <a:t>seed_plume · operator_queue · stored_operators_only</a:t>
            </a:r>
          </a:p>
        </p:txBody>
      </p:sp>
      <p:cxnSp>
        <p:nvCxnSpPr>
          <p:cNvPr id="14" name="Connector 13"/>
          <p:cNvCxnSpPr/>
          <p:nvPr/>
        </p:nvCxnSpPr>
        <p:spPr>
          <a:xfrm>
            <a:off x="2011680" y="1851660"/>
            <a:ext cx="101269" cy="0"/>
          </a:xfrm>
          <a:prstGeom prst="line">
            <a:avLst/>
          </a:prstGeom>
          <a:ln w="15875">
            <a:solidFill>
              <a:srgbClr val="6B7280"/>
            </a:solidFill>
            <a:tailEnd type="triangle" w="med" len="med"/>
          </a:ln>
        </p:spPr>
      </p:cxnSp>
      <p:cxnSp>
        <p:nvCxnSpPr>
          <p:cNvPr id="15" name="Connector 14"/>
          <p:cNvCxnSpPr/>
          <p:nvPr/>
        </p:nvCxnSpPr>
        <p:spPr>
          <a:xfrm>
            <a:off x="3996613" y="1851660"/>
            <a:ext cx="101270" cy="0"/>
          </a:xfrm>
          <a:prstGeom prst="line">
            <a:avLst/>
          </a:prstGeom>
          <a:ln w="15875">
            <a:solidFill>
              <a:srgbClr val="6B7280"/>
            </a:solidFill>
            <a:tailEnd type="triangle" w="med" len="med"/>
          </a:ln>
        </p:spPr>
      </p:cxnSp>
      <p:cxnSp>
        <p:nvCxnSpPr>
          <p:cNvPr id="16" name="Connector 15"/>
          <p:cNvCxnSpPr/>
          <p:nvPr/>
        </p:nvCxnSpPr>
        <p:spPr>
          <a:xfrm>
            <a:off x="6347307" y="1851660"/>
            <a:ext cx="101270" cy="0"/>
          </a:xfrm>
          <a:prstGeom prst="line">
            <a:avLst/>
          </a:prstGeom>
          <a:ln w="15875">
            <a:solidFill>
              <a:srgbClr val="6B7280"/>
            </a:solidFill>
            <a:tailEnd type="triangle" w="med" len="med"/>
          </a:ln>
        </p:spPr>
      </p:cxnSp>
      <p:cxnSp>
        <p:nvCxnSpPr>
          <p:cNvPr id="17" name="Connector 16"/>
          <p:cNvCxnSpPr/>
          <p:nvPr/>
        </p:nvCxnSpPr>
        <p:spPr>
          <a:xfrm>
            <a:off x="9429521" y="1851660"/>
            <a:ext cx="101270" cy="0"/>
          </a:xfrm>
          <a:prstGeom prst="line">
            <a:avLst/>
          </a:prstGeom>
          <a:ln w="15875">
            <a:solidFill>
              <a:srgbClr val="6B7280"/>
            </a:solidFill>
            <a:tailEnd type="triangle" w="med" len="med"/>
          </a:ln>
        </p:spPr>
      </p:cxnSp>
      <p:sp>
        <p:nvSpPr>
          <p:cNvPr id="18" name="TextBox 17"/>
          <p:cNvSpPr txBox="1"/>
          <p:nvPr/>
        </p:nvSpPr>
        <p:spPr>
          <a:xfrm>
            <a:off x="502920" y="3950208"/>
            <a:ext cx="5486400" cy="274320"/>
          </a:xfrm>
          <a:prstGeom prst="rect">
            <a:avLst/>
          </a:prstGeom>
          <a:noFill/>
        </p:spPr>
        <p:txBody>
          <a:bodyPr wrap="square" lIns="36576" tIns="36576" rIns="36576" bIns="36576" anchor="t">
            <a:spAutoFit/>
          </a:bodyPr>
          <a:lstStyle/>
          <a:p>
            <a:pPr algn="l">
              <a:spcAft>
                <a:spcPts val="400"/>
              </a:spcAft>
            </a:pPr>
            <a:r>
              <a:rPr sz="1250" b="1" i="0">
                <a:solidFill>
                  <a:srgbClr val="002855"/>
                </a:solidFill>
                <a:latin typeface="Times New Roman"/>
              </a:rPr>
              <a:t>Ask AeroPulse</a:t>
            </a:r>
          </a:p>
        </p:txBody>
      </p:sp>
      <p:sp>
        <p:nvSpPr>
          <p:cNvPr id="19" name="Rounded Rectangle 18"/>
          <p:cNvSpPr/>
          <p:nvPr/>
        </p:nvSpPr>
        <p:spPr>
          <a:xfrm>
            <a:off x="502920" y="4224528"/>
            <a:ext cx="1508760" cy="868680"/>
          </a:xfrm>
          <a:prstGeom prst="roundRect">
            <a:avLst>
              <a:gd name="adj" fmla="val 12631"/>
            </a:avLst>
          </a:prstGeom>
          <a:solidFill>
            <a:srgbClr val="FFFFFF"/>
          </a:solidFill>
          <a:ln w="12700">
            <a:solidFill>
              <a:srgbClr val="6B7280"/>
            </a:solidFill>
          </a:ln>
          <a:effectLst/>
        </p:spPr>
        <p:txBody>
          <a:bodyPr wrap="square" lIns="45720" rIns="45720" rtlCol="0" anchor="ctr"/>
          <a:lstStyle/>
          <a:p>
            <a:pPr algn="ctr">
              <a:spcAft>
                <a:spcPts val="100"/>
              </a:spcAft>
            </a:pPr>
            <a:r>
              <a:rPr sz="1100" b="1" i="0">
                <a:solidFill>
                  <a:srgbClr val="1F2937"/>
                </a:solidFill>
                <a:latin typeface="Calibri"/>
              </a:rPr>
              <a:t>Question</a:t>
            </a:r>
          </a:p>
          <a:p>
            <a:pPr algn="ctr">
              <a:spcAft>
                <a:spcPts val="0"/>
              </a:spcAft>
            </a:pPr>
            <a:r>
              <a:rPr sz="950" b="0" i="0">
                <a:solidFill>
                  <a:srgbClr val="1F2937"/>
                </a:solidFill>
                <a:latin typeface="Calibri"/>
              </a:rPr>
              <a:t>operator or citizen</a:t>
            </a:r>
          </a:p>
        </p:txBody>
      </p:sp>
      <p:sp>
        <p:nvSpPr>
          <p:cNvPr id="20" name="Rounded Rectangle 19"/>
          <p:cNvSpPr/>
          <p:nvPr/>
        </p:nvSpPr>
        <p:spPr>
          <a:xfrm>
            <a:off x="2122093" y="4224528"/>
            <a:ext cx="1874519" cy="868680"/>
          </a:xfrm>
          <a:prstGeom prst="roundRect">
            <a:avLst>
              <a:gd name="adj" fmla="val 12631"/>
            </a:avLst>
          </a:prstGeom>
          <a:solidFill>
            <a:srgbClr val="EDE9FE"/>
          </a:solidFill>
          <a:ln w="12700">
            <a:solidFill>
              <a:srgbClr val="6D28D9"/>
            </a:solidFill>
          </a:ln>
          <a:effectLst/>
        </p:spPr>
        <p:txBody>
          <a:bodyPr wrap="square" lIns="45720" rIns="45720" rtlCol="0" anchor="ctr"/>
          <a:lstStyle/>
          <a:p>
            <a:pPr algn="ctr">
              <a:spcAft>
                <a:spcPts val="100"/>
              </a:spcAft>
            </a:pPr>
            <a:r>
              <a:rPr sz="1100" b="1" i="0">
                <a:solidFill>
                  <a:srgbClr val="6D28D9"/>
                </a:solidFill>
                <a:latin typeface="Calibri"/>
              </a:rPr>
              <a:t>Gemini + tools</a:t>
            </a:r>
          </a:p>
          <a:p>
            <a:pPr algn="ctr">
              <a:spcAft>
                <a:spcPts val="0"/>
              </a:spcAft>
            </a:pPr>
            <a:r>
              <a:rPr sz="950" b="0" i="0">
                <a:solidFill>
                  <a:srgbClr val="1F2937"/>
                </a:solidFill>
                <a:latin typeface="Calibri"/>
              </a:rPr>
              <a:t>Vertex AI, service account</a:t>
            </a:r>
          </a:p>
        </p:txBody>
      </p:sp>
      <p:sp>
        <p:nvSpPr>
          <p:cNvPr id="21" name="Rounded Rectangle 20"/>
          <p:cNvSpPr/>
          <p:nvPr/>
        </p:nvSpPr>
        <p:spPr>
          <a:xfrm>
            <a:off x="4107027" y="4224528"/>
            <a:ext cx="251460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Tools over stored evidence</a:t>
            </a:r>
          </a:p>
          <a:p>
            <a:pPr algn="ctr">
              <a:spcAft>
                <a:spcPts val="0"/>
              </a:spcAft>
            </a:pPr>
            <a:r>
              <a:rPr sz="950" b="0" i="0">
                <a:solidFill>
                  <a:srgbClr val="1F2937"/>
                </a:solidFill>
                <a:latin typeface="Calibri"/>
              </a:rPr>
              <a:t>events · forecasts · plumes · sources</a:t>
            </a:r>
          </a:p>
        </p:txBody>
      </p:sp>
      <p:sp>
        <p:nvSpPr>
          <p:cNvPr id="22" name="Rounded Rectangle 21"/>
          <p:cNvSpPr/>
          <p:nvPr/>
        </p:nvSpPr>
        <p:spPr>
          <a:xfrm>
            <a:off x="6732041" y="4224528"/>
            <a:ext cx="251460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Grounding validator</a:t>
            </a:r>
          </a:p>
          <a:p>
            <a:pPr algn="ctr">
              <a:spcAft>
                <a:spcPts val="0"/>
              </a:spcAft>
            </a:pPr>
            <a:r>
              <a:rPr sz="950" b="0" i="0">
                <a:solidFill>
                  <a:srgbClr val="1F2937"/>
                </a:solidFill>
                <a:latin typeface="Calibri"/>
              </a:rPr>
              <a:t>every figure must come from a tool</a:t>
            </a:r>
          </a:p>
        </p:txBody>
      </p:sp>
      <p:sp>
        <p:nvSpPr>
          <p:cNvPr id="23" name="Rounded Rectangle 22"/>
          <p:cNvSpPr/>
          <p:nvPr/>
        </p:nvSpPr>
        <p:spPr>
          <a:xfrm>
            <a:off x="9357055" y="4224528"/>
            <a:ext cx="233172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Answer</a:t>
            </a:r>
          </a:p>
          <a:p>
            <a:pPr algn="ctr">
              <a:spcAft>
                <a:spcPts val="0"/>
              </a:spcAft>
            </a:pPr>
            <a:r>
              <a:rPr sz="950" b="0" i="0">
                <a:solidFill>
                  <a:srgbClr val="1F2937"/>
                </a:solidFill>
                <a:latin typeface="Calibri"/>
              </a:rPr>
              <a:t>or retrieval fallback with the reason</a:t>
            </a:r>
          </a:p>
        </p:txBody>
      </p:sp>
      <p:cxnSp>
        <p:nvCxnSpPr>
          <p:cNvPr id="24" name="Connector 23"/>
          <p:cNvCxnSpPr/>
          <p:nvPr/>
        </p:nvCxnSpPr>
        <p:spPr>
          <a:xfrm>
            <a:off x="2011680" y="4658868"/>
            <a:ext cx="101269" cy="0"/>
          </a:xfrm>
          <a:prstGeom prst="line">
            <a:avLst/>
          </a:prstGeom>
          <a:ln w="15875">
            <a:solidFill>
              <a:srgbClr val="6B7280"/>
            </a:solidFill>
            <a:tailEnd type="triangle" w="med" len="med"/>
          </a:ln>
        </p:spPr>
      </p:cxnSp>
      <p:cxnSp>
        <p:nvCxnSpPr>
          <p:cNvPr id="25" name="Connector 24"/>
          <p:cNvCxnSpPr/>
          <p:nvPr/>
        </p:nvCxnSpPr>
        <p:spPr>
          <a:xfrm>
            <a:off x="3996613" y="4658868"/>
            <a:ext cx="101270" cy="0"/>
          </a:xfrm>
          <a:prstGeom prst="line">
            <a:avLst/>
          </a:prstGeom>
          <a:ln w="15875">
            <a:solidFill>
              <a:srgbClr val="6B7280"/>
            </a:solidFill>
            <a:tailEnd type="triangle" w="med" len="med"/>
          </a:ln>
        </p:spPr>
      </p:cxnSp>
      <p:cxnSp>
        <p:nvCxnSpPr>
          <p:cNvPr id="26" name="Connector 25"/>
          <p:cNvCxnSpPr/>
          <p:nvPr/>
        </p:nvCxnSpPr>
        <p:spPr>
          <a:xfrm>
            <a:off x="6621627" y="4658868"/>
            <a:ext cx="101270" cy="0"/>
          </a:xfrm>
          <a:prstGeom prst="line">
            <a:avLst/>
          </a:prstGeom>
          <a:ln w="15875">
            <a:solidFill>
              <a:srgbClr val="6B7280"/>
            </a:solidFill>
            <a:tailEnd type="triangle" w="med" len="med"/>
          </a:ln>
        </p:spPr>
      </p:cxnSp>
      <p:cxnSp>
        <p:nvCxnSpPr>
          <p:cNvPr id="27" name="Connector 26"/>
          <p:cNvCxnSpPr/>
          <p:nvPr/>
        </p:nvCxnSpPr>
        <p:spPr>
          <a:xfrm>
            <a:off x="9246641" y="4658868"/>
            <a:ext cx="101270" cy="0"/>
          </a:xfrm>
          <a:prstGeom prst="line">
            <a:avLst/>
          </a:prstGeom>
          <a:ln w="15875">
            <a:solidFill>
              <a:srgbClr val="6B7280"/>
            </a:solidFill>
            <a:tailEnd type="triangle" w="med" len="med"/>
          </a:ln>
        </p:spPr>
      </p:cxnSp>
      <p:sp>
        <p:nvSpPr>
          <p:cNvPr id="28" name="Rounded Rectangle 27"/>
          <p:cNvSpPr/>
          <p:nvPr/>
        </p:nvSpPr>
        <p:spPr>
          <a:xfrm>
            <a:off x="1600200" y="2788920"/>
            <a:ext cx="8991295" cy="960120"/>
          </a:xfrm>
          <a:prstGeom prst="roundRect">
            <a:avLst>
              <a:gd name="adj" fmla="val 7619"/>
            </a:avLst>
          </a:prstGeom>
          <a:solidFill>
            <a:srgbClr val="E0EEF6"/>
          </a:solidFill>
          <a:ln w="25400">
            <a:solidFill>
              <a:srgbClr val="002855"/>
            </a:solidFill>
            <a:prstDash val="dash"/>
          </a:ln>
          <a:effectLst/>
        </p:spPr>
        <p:txBody>
          <a:bodyPr wrap="square" lIns="54864" tIns="54864" rIns="54864" bIns="54864" rtlCol="0" anchor="ctr"/>
          <a:lstStyle/>
          <a:p>
            <a:pPr algn="ctr">
              <a:spcAft>
                <a:spcPts val="200"/>
              </a:spcAft>
            </a:pPr>
            <a:r>
              <a:rPr sz="1400" b="1" i="0">
                <a:solidFill>
                  <a:srgbClr val="002855"/>
                </a:solidFill>
                <a:latin typeface="Times New Roman"/>
              </a:rPr>
              <a:t>Deterministic event path — no language model</a:t>
            </a:r>
          </a:p>
          <a:p>
            <a:pPr algn="ctr">
              <a:spcAft>
                <a:spcPts val="400"/>
              </a:spcAft>
            </a:pPr>
            <a:r>
              <a:rPr sz="1200" b="0" i="0">
                <a:solidFill>
                  <a:srgbClr val="1F2937"/>
                </a:solidFill>
                <a:latin typeface="Calibri"/>
              </a:rPr>
              <a:t>detection · anomaly · forecast · plume · source likelihood · pollution events</a:t>
            </a:r>
          </a:p>
        </p:txBody>
      </p:sp>
      <p:cxnSp>
        <p:nvCxnSpPr>
          <p:cNvPr id="29" name="Connector 28"/>
          <p:cNvCxnSpPr/>
          <p:nvPr/>
        </p:nvCxnSpPr>
        <p:spPr>
          <a:xfrm>
            <a:off x="10614355" y="2286000"/>
            <a:ext cx="0" cy="484632"/>
          </a:xfrm>
          <a:prstGeom prst="line">
            <a:avLst/>
          </a:prstGeom>
          <a:ln w="22225">
            <a:solidFill>
              <a:srgbClr val="047857"/>
            </a:solidFill>
            <a:tailEnd type="triangle" w="med" len="med"/>
          </a:ln>
        </p:spPr>
      </p:cxnSp>
      <p:sp>
        <p:nvSpPr>
          <p:cNvPr id="30" name="TextBox 29"/>
          <p:cNvSpPr txBox="1"/>
          <p:nvPr/>
        </p:nvSpPr>
        <p:spPr>
          <a:xfrm>
            <a:off x="10687507" y="2331720"/>
            <a:ext cx="1828800" cy="457200"/>
          </a:xfrm>
          <a:prstGeom prst="rect">
            <a:avLst/>
          </a:prstGeom>
          <a:noFill/>
        </p:spPr>
        <p:txBody>
          <a:bodyPr wrap="square" lIns="0" tIns="0" rIns="0" bIns="0" anchor="t">
            <a:spAutoFit/>
          </a:bodyPr>
          <a:lstStyle/>
          <a:p>
            <a:pPr algn="l">
              <a:spcAft>
                <a:spcPts val="400"/>
              </a:spcAft>
            </a:pPr>
            <a:r>
              <a:rPr sz="900" b="0" i="0">
                <a:solidFill>
                  <a:srgbClr val="047857"/>
                </a:solidFill>
                <a:latin typeface="Calibri"/>
              </a:rPr>
              <a:t>seed_plume only:
starts a plume run</a:t>
            </a:r>
          </a:p>
        </p:txBody>
      </p:sp>
      <p:sp>
        <p:nvSpPr>
          <p:cNvPr id="31" name="Rounded Rectangle 30"/>
          <p:cNvSpPr/>
          <p:nvPr/>
        </p:nvSpPr>
        <p:spPr>
          <a:xfrm>
            <a:off x="3992727" y="2404872"/>
            <a:ext cx="2468880" cy="310896"/>
          </a:xfrm>
          <a:prstGeom prst="roundRect">
            <a:avLst>
              <a:gd name="adj" fmla="val 35294"/>
            </a:avLst>
          </a:prstGeom>
          <a:solidFill>
            <a:srgbClr val="FFE4E6"/>
          </a:solidFill>
          <a:ln w="12700">
            <a:solidFill>
              <a:srgbClr val="BE123C"/>
            </a:solidFill>
          </a:ln>
          <a:effectLst/>
        </p:spPr>
        <p:txBody>
          <a:bodyPr wrap="square" lIns="54864" tIns="54864" rIns="54864" bIns="54864" rtlCol="0" anchor="ctr"/>
          <a:lstStyle/>
          <a:p>
            <a:pPr algn="ctr">
              <a:spcAft>
                <a:spcPts val="400"/>
              </a:spcAft>
            </a:pPr>
            <a:r>
              <a:rPr sz="1000" b="1" i="0">
                <a:solidFill>
                  <a:srgbClr val="BE123C"/>
                </a:solidFill>
                <a:latin typeface="Calibri"/>
              </a:rPr>
              <a:t>✕  cannot create or edit an event</a:t>
            </a:r>
          </a:p>
        </p:txBody>
      </p:sp>
      <p:cxnSp>
        <p:nvCxnSpPr>
          <p:cNvPr id="32" name="Connector 31"/>
          <p:cNvCxnSpPr/>
          <p:nvPr/>
        </p:nvCxnSpPr>
        <p:spPr>
          <a:xfrm>
            <a:off x="5364327" y="3767327"/>
            <a:ext cx="0" cy="438913"/>
          </a:xfrm>
          <a:prstGeom prst="line">
            <a:avLst/>
          </a:prstGeom>
          <a:ln w="15875">
            <a:solidFill>
              <a:srgbClr val="6B7280"/>
            </a:solidFill>
            <a:tailEnd type="triangle" w="med" len="med"/>
          </a:ln>
        </p:spPr>
      </p:cxnSp>
      <p:sp>
        <p:nvSpPr>
          <p:cNvPr id="33" name="TextBox 32"/>
          <p:cNvSpPr txBox="1"/>
          <p:nvPr/>
        </p:nvSpPr>
        <p:spPr>
          <a:xfrm>
            <a:off x="5437479" y="3794760"/>
            <a:ext cx="146304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read-only</a:t>
            </a:r>
          </a:p>
        </p:txBody>
      </p:sp>
      <p:sp>
        <p:nvSpPr>
          <p:cNvPr id="34" name="TextBox 33"/>
          <p:cNvSpPr txBox="1"/>
          <p:nvPr/>
        </p:nvSpPr>
        <p:spPr>
          <a:xfrm>
            <a:off x="502920" y="5193792"/>
            <a:ext cx="1118585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8.  </a:t>
            </a:r>
            <a:r>
              <a:rPr sz="1050" b="0" i="0">
                <a:solidFill>
                  <a:srgbClr val="1F2937"/>
                </a:solidFill>
                <a:latin typeface="Calibri"/>
              </a:rPr>
              <a:t>The two Gemini surfaces sit outside the event path; they read evidence and cannot write events.</a:t>
            </a:r>
          </a:p>
        </p:txBody>
      </p:sp>
      <p:sp>
        <p:nvSpPr>
          <p:cNvPr id="35" name="Rounded Rectangle 34"/>
          <p:cNvSpPr/>
          <p:nvPr/>
        </p:nvSpPr>
        <p:spPr>
          <a:xfrm>
            <a:off x="502920" y="5559552"/>
            <a:ext cx="11185855" cy="384048"/>
          </a:xfrm>
          <a:prstGeom prst="roundRect">
            <a:avLst>
              <a:gd name="adj" fmla="val 14285"/>
            </a:avLst>
          </a:prstGeom>
          <a:solidFill>
            <a:srgbClr val="EDE9FE"/>
          </a:solidFill>
          <a:ln>
            <a:noFill/>
          </a:ln>
          <a:effectLst/>
        </p:spPr>
        <p:txBody>
          <a:bodyPr wrap="square" lIns="54864" tIns="54864" rIns="54864" bIns="54864" rtlCol="0" anchor="ctr"/>
          <a:lstStyle/>
          <a:p>
            <a:pPr algn="ctr">
              <a:spcAft>
                <a:spcPts val="400"/>
              </a:spcAft>
            </a:pPr>
            <a:r>
              <a:rPr sz="1100" b="0" i="0">
                <a:solidFill>
                  <a:srgbClr val="6D28D9"/>
                </a:solidFill>
                <a:latin typeface="Calibri"/>
              </a:rPr>
              <a:t>The AI observation is labelled “requires corroboration”, contains no figures, and acts only through deterministic environmental corroboration.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V-A. CLOUD ARCHITECTURE</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Deployment on Google Cloud</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13 / 18</a:t>
            </a:r>
          </a:p>
        </p:txBody>
      </p:sp>
      <p:sp>
        <p:nvSpPr>
          <p:cNvPr id="8" name="Rounded Rectangle 7"/>
          <p:cNvSpPr/>
          <p:nvPr/>
        </p:nvSpPr>
        <p:spPr>
          <a:xfrm>
            <a:off x="1783080" y="1188720"/>
            <a:ext cx="8229600" cy="4572000"/>
          </a:xfrm>
          <a:prstGeom prst="roundRect">
            <a:avLst>
              <a:gd name="adj" fmla="val 1200"/>
            </a:avLst>
          </a:prstGeom>
          <a:solidFill>
            <a:srgbClr val="F8FBFD"/>
          </a:solidFill>
          <a:ln w="19050">
            <a:solidFill>
              <a:srgbClr val="00629B"/>
            </a:solidFill>
            <a:prstDash val="dash"/>
          </a:ln>
          <a:effectLst/>
        </p:spPr>
        <p:txBody>
          <a:bodyPr wrap="square" lIns="54864" tIns="54864" rIns="54864" bIns="54864" rtlCol="0" anchor="ctr"/>
          <a:lstStyle/>
          <a:p>
            <a:pPr algn="ctr"/>
            <a:endParaRPr/>
          </a:p>
        </p:txBody>
      </p:sp>
      <p:sp>
        <p:nvSpPr>
          <p:cNvPr id="9" name="TextBox 8"/>
          <p:cNvSpPr txBox="1"/>
          <p:nvPr/>
        </p:nvSpPr>
        <p:spPr>
          <a:xfrm>
            <a:off x="1892807" y="1225296"/>
            <a:ext cx="5486400" cy="256032"/>
          </a:xfrm>
          <a:prstGeom prst="rect">
            <a:avLst/>
          </a:prstGeom>
          <a:noFill/>
        </p:spPr>
        <p:txBody>
          <a:bodyPr wrap="square" lIns="0" tIns="0" rIns="0" bIns="0" anchor="t">
            <a:spAutoFit/>
          </a:bodyPr>
          <a:lstStyle/>
          <a:p>
            <a:pPr algn="l">
              <a:spcAft>
                <a:spcPts val="400"/>
              </a:spcAft>
            </a:pPr>
            <a:r>
              <a:rPr sz="1000" b="1" i="0">
                <a:solidFill>
                  <a:srgbClr val="00629B"/>
                </a:solidFill>
                <a:latin typeface="Calibri"/>
              </a:rPr>
              <a:t>Google Cloud project · region asia-south1 · Terraform (infrastructure/gcp)</a:t>
            </a:r>
          </a:p>
        </p:txBody>
      </p:sp>
      <p:sp>
        <p:nvSpPr>
          <p:cNvPr id="10" name="Rounded Rectangle 9"/>
          <p:cNvSpPr/>
          <p:nvPr/>
        </p:nvSpPr>
        <p:spPr>
          <a:xfrm>
            <a:off x="502920" y="2743200"/>
            <a:ext cx="1097280" cy="1005840"/>
          </a:xfrm>
          <a:prstGeom prst="roundRect">
            <a:avLst>
              <a:gd name="adj" fmla="val 10909"/>
            </a:avLst>
          </a:prstGeom>
          <a:solidFill>
            <a:srgbClr val="FFFFFF"/>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Users</a:t>
            </a:r>
          </a:p>
          <a:p>
            <a:pPr algn="ctr">
              <a:spcAft>
                <a:spcPts val="0"/>
              </a:spcAft>
            </a:pPr>
            <a:r>
              <a:rPr sz="950" b="0" i="0">
                <a:solidFill>
                  <a:srgbClr val="1F2937"/>
                </a:solidFill>
                <a:latin typeface="Calibri"/>
              </a:rPr>
              <a:t>browser</a:t>
            </a:r>
          </a:p>
        </p:txBody>
      </p:sp>
      <p:sp>
        <p:nvSpPr>
          <p:cNvPr id="11" name="Rounded Rectangle 10"/>
          <p:cNvSpPr/>
          <p:nvPr/>
        </p:nvSpPr>
        <p:spPr>
          <a:xfrm>
            <a:off x="10195560" y="1417320"/>
            <a:ext cx="1493215" cy="1325880"/>
          </a:xfrm>
          <a:prstGeom prst="roundRect">
            <a:avLst>
              <a:gd name="adj" fmla="val 8275"/>
            </a:avLst>
          </a:prstGeom>
          <a:solidFill>
            <a:srgbClr val="FFFFFF"/>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External data</a:t>
            </a:r>
          </a:p>
          <a:p>
            <a:pPr algn="ctr">
              <a:spcAft>
                <a:spcPts val="0"/>
              </a:spcAft>
            </a:pPr>
            <a:r>
              <a:rPr sz="900" b="0" i="0">
                <a:solidFill>
                  <a:srgbClr val="1F2937"/>
                </a:solidFill>
                <a:latin typeface="Calibri"/>
              </a:rPr>
              <a:t>OpenAQ · NASA FIRMS · Open-Meteo · data.gov.sg · Earth Engine</a:t>
            </a:r>
          </a:p>
        </p:txBody>
      </p:sp>
      <p:sp>
        <p:nvSpPr>
          <p:cNvPr id="12" name="Rounded Rectangle 11"/>
          <p:cNvSpPr/>
          <p:nvPr/>
        </p:nvSpPr>
        <p:spPr>
          <a:xfrm>
            <a:off x="1920240" y="1554480"/>
            <a:ext cx="178308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aeropulse-web</a:t>
            </a:r>
          </a:p>
          <a:p>
            <a:pPr algn="ctr">
              <a:spcAft>
                <a:spcPts val="0"/>
              </a:spcAft>
            </a:pPr>
            <a:r>
              <a:rPr sz="900" b="0" i="0">
                <a:solidFill>
                  <a:srgbClr val="1F2937"/>
                </a:solidFill>
                <a:latin typeface="Calibri"/>
              </a:rPr>
              <a:t>Cloud Run · nginx static · public</a:t>
            </a:r>
          </a:p>
        </p:txBody>
      </p:sp>
      <p:sp>
        <p:nvSpPr>
          <p:cNvPr id="13" name="Rounded Rectangle 12"/>
          <p:cNvSpPr/>
          <p:nvPr/>
        </p:nvSpPr>
        <p:spPr>
          <a:xfrm>
            <a:off x="1920240" y="2788920"/>
            <a:ext cx="178308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aeropulse-api</a:t>
            </a:r>
          </a:p>
          <a:p>
            <a:pPr algn="ctr">
              <a:spcAft>
                <a:spcPts val="0"/>
              </a:spcAft>
            </a:pPr>
            <a:r>
              <a:rPr sz="850" b="0" i="0">
                <a:solidFill>
                  <a:srgbClr val="1F2937"/>
                </a:solidFill>
                <a:latin typeface="Calibri"/>
              </a:rPr>
              <a:t>Cloud Run · public · JWT on /api/v1 · reads snapshots + BigQuery</a:t>
            </a:r>
          </a:p>
        </p:txBody>
      </p:sp>
      <p:sp>
        <p:nvSpPr>
          <p:cNvPr id="14" name="Rounded Rectangle 13"/>
          <p:cNvSpPr/>
          <p:nvPr/>
        </p:nvSpPr>
        <p:spPr>
          <a:xfrm>
            <a:off x="1920240" y="4069080"/>
            <a:ext cx="178308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citizen-analyzer</a:t>
            </a:r>
          </a:p>
          <a:p>
            <a:pPr algn="ctr">
              <a:spcAft>
                <a:spcPts val="0"/>
              </a:spcAft>
            </a:pPr>
            <a:r>
              <a:rPr sz="900" b="0" i="0">
                <a:solidFill>
                  <a:srgbClr val="1F2937"/>
                </a:solidFill>
                <a:latin typeface="Calibri"/>
              </a:rPr>
              <a:t>Cloud Run · private invoker</a:t>
            </a:r>
          </a:p>
        </p:txBody>
      </p:sp>
      <p:sp>
        <p:nvSpPr>
          <p:cNvPr id="15" name="Rounded Rectangle 14"/>
          <p:cNvSpPr/>
          <p:nvPr/>
        </p:nvSpPr>
        <p:spPr>
          <a:xfrm>
            <a:off x="3977639" y="1554480"/>
            <a:ext cx="1783080" cy="868680"/>
          </a:xfrm>
          <a:prstGeom prst="roundRect">
            <a:avLst>
              <a:gd name="adj" fmla="val 12631"/>
            </a:avLst>
          </a:prstGeom>
          <a:solidFill>
            <a:srgbClr val="FEF3C7"/>
          </a:solidFill>
          <a:ln w="12700">
            <a:solidFill>
              <a:srgbClr val="B45309"/>
            </a:solidFill>
          </a:ln>
          <a:effectLst/>
        </p:spPr>
        <p:txBody>
          <a:bodyPr wrap="square" lIns="45720" rIns="45720" rtlCol="0" anchor="ctr"/>
          <a:lstStyle/>
          <a:p>
            <a:pPr algn="ctr">
              <a:spcAft>
                <a:spcPts val="100"/>
              </a:spcAft>
            </a:pPr>
            <a:r>
              <a:rPr sz="1150" b="1" i="0">
                <a:solidFill>
                  <a:srgbClr val="B45309"/>
                </a:solidFill>
                <a:latin typeface="Calibri"/>
              </a:rPr>
              <a:t>Cloud Scheduler</a:t>
            </a:r>
          </a:p>
          <a:p>
            <a:pPr algn="ctr">
              <a:spcAft>
                <a:spcPts val="0"/>
              </a:spcAft>
            </a:pPr>
            <a:r>
              <a:rPr sz="900" b="0" i="0">
                <a:solidFill>
                  <a:srgbClr val="1F2937"/>
                </a:solidFill>
                <a:latin typeface="Calibri"/>
              </a:rPr>
              <a:t>*/15 min per region</a:t>
            </a:r>
          </a:p>
        </p:txBody>
      </p:sp>
      <p:sp>
        <p:nvSpPr>
          <p:cNvPr id="16" name="Rounded Rectangle 15"/>
          <p:cNvSpPr/>
          <p:nvPr/>
        </p:nvSpPr>
        <p:spPr>
          <a:xfrm>
            <a:off x="3977639" y="2788920"/>
            <a:ext cx="1783080" cy="868680"/>
          </a:xfrm>
          <a:prstGeom prst="roundRect">
            <a:avLst>
              <a:gd name="adj" fmla="val 12631"/>
            </a:avLst>
          </a:prstGeom>
          <a:solidFill>
            <a:srgbClr val="EDE9FE"/>
          </a:solidFill>
          <a:ln w="12700">
            <a:solidFill>
              <a:srgbClr val="6D28D9"/>
            </a:solidFill>
          </a:ln>
          <a:effectLst/>
        </p:spPr>
        <p:txBody>
          <a:bodyPr wrap="square" lIns="45720" rIns="45720" rtlCol="0" anchor="ctr"/>
          <a:lstStyle/>
          <a:p>
            <a:pPr algn="ctr">
              <a:spcAft>
                <a:spcPts val="100"/>
              </a:spcAft>
            </a:pPr>
            <a:r>
              <a:rPr sz="1150" b="1" i="0">
                <a:solidFill>
                  <a:srgbClr val="6D28D9"/>
                </a:solidFill>
                <a:latin typeface="Calibri"/>
              </a:rPr>
              <a:t>Vertex AI Gemini</a:t>
            </a:r>
          </a:p>
          <a:p>
            <a:pPr algn="ctr">
              <a:spcAft>
                <a:spcPts val="0"/>
              </a:spcAft>
            </a:pPr>
            <a:r>
              <a:rPr sz="900" b="0" i="0">
                <a:solidFill>
                  <a:srgbClr val="1F2937"/>
                </a:solidFill>
                <a:latin typeface="Calibri"/>
              </a:rPr>
              <a:t>service account, no API key</a:t>
            </a:r>
          </a:p>
        </p:txBody>
      </p:sp>
      <p:sp>
        <p:nvSpPr>
          <p:cNvPr id="17" name="Rounded Rectangle 16"/>
          <p:cNvSpPr/>
          <p:nvPr/>
        </p:nvSpPr>
        <p:spPr>
          <a:xfrm>
            <a:off x="3977639" y="4069080"/>
            <a:ext cx="178308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Pub/Sub</a:t>
            </a:r>
          </a:p>
          <a:p>
            <a:pPr algn="ctr">
              <a:spcAft>
                <a:spcPts val="0"/>
              </a:spcAft>
            </a:pPr>
            <a:r>
              <a:rPr sz="850" b="0" i="0">
                <a:solidFill>
                  <a:srgbClr val="1F2937"/>
                </a:solidFill>
                <a:latin typeface="Calibri"/>
              </a:rPr>
              <a:t>aero.citizen.reports (+ DLQ) → push with OIDC · aero.alerts</a:t>
            </a:r>
          </a:p>
        </p:txBody>
      </p:sp>
      <p:sp>
        <p:nvSpPr>
          <p:cNvPr id="18" name="Rounded Rectangle 17"/>
          <p:cNvSpPr/>
          <p:nvPr/>
        </p:nvSpPr>
        <p:spPr>
          <a:xfrm>
            <a:off x="6080760" y="1554480"/>
            <a:ext cx="1783080" cy="868680"/>
          </a:xfrm>
          <a:prstGeom prst="roundRect">
            <a:avLst>
              <a:gd name="adj" fmla="val 12631"/>
            </a:avLst>
          </a:prstGeom>
          <a:solidFill>
            <a:srgbClr val="E0EEF6"/>
          </a:solidFill>
          <a:ln w="12700">
            <a:solidFill>
              <a:srgbClr val="00629B"/>
            </a:solidFill>
          </a:ln>
          <a:effectLst/>
        </p:spPr>
        <p:txBody>
          <a:bodyPr wrap="square" lIns="45720" rIns="45720" rtlCol="0" anchor="ctr"/>
          <a:lstStyle/>
          <a:p>
            <a:pPr algn="ctr">
              <a:spcAft>
                <a:spcPts val="100"/>
              </a:spcAft>
            </a:pPr>
            <a:r>
              <a:rPr sz="1150" b="1" i="0">
                <a:solidFill>
                  <a:srgbClr val="002855"/>
                </a:solidFill>
                <a:latin typeface="Calibri"/>
              </a:rPr>
              <a:t>Cloud Run jobs</a:t>
            </a:r>
          </a:p>
          <a:p>
            <a:pPr algn="ctr">
              <a:spcAft>
                <a:spcPts val="0"/>
              </a:spcAft>
            </a:pPr>
            <a:r>
              <a:rPr sz="850" b="0" i="0">
                <a:solidFill>
                  <a:srgbClr val="1F2937"/>
                </a:solidFill>
                <a:latin typeface="Calibri"/>
              </a:rPr>
              <a:t>aeropulse-cycle-&lt;region&gt;
in-north, sg-singapore, au-nsw</a:t>
            </a:r>
          </a:p>
        </p:txBody>
      </p:sp>
      <p:sp>
        <p:nvSpPr>
          <p:cNvPr id="19" name="Can 18"/>
          <p:cNvSpPr/>
          <p:nvPr/>
        </p:nvSpPr>
        <p:spPr>
          <a:xfrm>
            <a:off x="6080760" y="2788920"/>
            <a:ext cx="1783080" cy="86868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Cloud Storage</a:t>
            </a:r>
          </a:p>
          <a:p>
            <a:pPr algn="ctr">
              <a:spcAft>
                <a:spcPts val="0"/>
              </a:spcAft>
            </a:pPr>
            <a:r>
              <a:rPr sz="900" b="0" i="0">
                <a:solidFill>
                  <a:srgbClr val="1F2937"/>
                </a:solidFill>
                <a:latin typeface="Calibri"/>
              </a:rPr>
              <a:t>raw · citizen · models · serving</a:t>
            </a:r>
          </a:p>
        </p:txBody>
      </p:sp>
      <p:sp>
        <p:nvSpPr>
          <p:cNvPr id="20" name="Rounded Rectangle 19"/>
          <p:cNvSpPr/>
          <p:nvPr/>
        </p:nvSpPr>
        <p:spPr>
          <a:xfrm>
            <a:off x="6080760" y="4069080"/>
            <a:ext cx="1783080" cy="868680"/>
          </a:xfrm>
          <a:prstGeom prst="roundRect">
            <a:avLst>
              <a:gd name="adj" fmla="val 12631"/>
            </a:avLst>
          </a:prstGeom>
          <a:solidFill>
            <a:srgbClr val="D1FAE5"/>
          </a:solidFill>
          <a:ln w="12700">
            <a:solidFill>
              <a:srgbClr val="047857"/>
            </a:solidFill>
          </a:ln>
          <a:effectLst/>
        </p:spPr>
        <p:txBody>
          <a:bodyPr wrap="square" lIns="45720" rIns="45720" rtlCol="0" anchor="ctr"/>
          <a:lstStyle/>
          <a:p>
            <a:pPr algn="ctr">
              <a:spcAft>
                <a:spcPts val="100"/>
              </a:spcAft>
            </a:pPr>
            <a:r>
              <a:rPr sz="1150" b="1" i="0">
                <a:solidFill>
                  <a:srgbClr val="047857"/>
                </a:solidFill>
                <a:latin typeface="Calibri"/>
              </a:rPr>
              <a:t>aeropulse-train</a:t>
            </a:r>
          </a:p>
          <a:p>
            <a:pPr algn="ctr">
              <a:spcAft>
                <a:spcPts val="0"/>
              </a:spcAft>
            </a:pPr>
            <a:r>
              <a:rPr sz="900" b="0" i="0">
                <a:solidFill>
                  <a:srgbClr val="1F2937"/>
                </a:solidFill>
                <a:latin typeface="Calibri"/>
              </a:rPr>
              <a:t>Cloud Run job (optional)</a:t>
            </a:r>
          </a:p>
        </p:txBody>
      </p:sp>
      <p:sp>
        <p:nvSpPr>
          <p:cNvPr id="21" name="Can 20"/>
          <p:cNvSpPr/>
          <p:nvPr/>
        </p:nvSpPr>
        <p:spPr>
          <a:xfrm>
            <a:off x="8092440" y="2788920"/>
            <a:ext cx="1783080" cy="86868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50" b="1" i="0">
                <a:solidFill>
                  <a:srgbClr val="1F2937"/>
                </a:solidFill>
                <a:latin typeface="Calibri"/>
              </a:rPr>
              <a:t>BigQuery</a:t>
            </a:r>
          </a:p>
          <a:p>
            <a:pPr algn="ctr">
              <a:spcAft>
                <a:spcPts val="0"/>
              </a:spcAft>
            </a:pPr>
            <a:r>
              <a:rPr sz="850" b="0" i="0">
                <a:solidFill>
                  <a:srgbClr val="1F2937"/>
                </a:solidFill>
                <a:latin typeface="Calibri"/>
              </a:rPr>
              <a:t>raw · predictions · eval · graph · citizen · ops</a:t>
            </a:r>
          </a:p>
        </p:txBody>
      </p:sp>
      <p:sp>
        <p:nvSpPr>
          <p:cNvPr id="22" name="Rounded Rectangle 21"/>
          <p:cNvSpPr/>
          <p:nvPr/>
        </p:nvSpPr>
        <p:spPr>
          <a:xfrm>
            <a:off x="8092440" y="4069080"/>
            <a:ext cx="1783080" cy="868680"/>
          </a:xfrm>
          <a:prstGeom prst="roundRect">
            <a:avLst>
              <a:gd name="adj" fmla="val 12631"/>
            </a:avLst>
          </a:prstGeom>
          <a:solidFill>
            <a:srgbClr val="FEF3C7"/>
          </a:solidFill>
          <a:ln w="12700">
            <a:solidFill>
              <a:srgbClr val="B45309"/>
            </a:solidFill>
          </a:ln>
          <a:effectLst/>
        </p:spPr>
        <p:txBody>
          <a:bodyPr wrap="square" lIns="45720" rIns="45720" rtlCol="0" anchor="ctr"/>
          <a:lstStyle/>
          <a:p>
            <a:pPr algn="ctr">
              <a:spcAft>
                <a:spcPts val="100"/>
              </a:spcAft>
            </a:pPr>
            <a:r>
              <a:rPr sz="1150" b="1" i="0">
                <a:solidFill>
                  <a:srgbClr val="B45309"/>
                </a:solidFill>
                <a:latin typeface="Calibri"/>
              </a:rPr>
              <a:t>Secret Manager</a:t>
            </a:r>
          </a:p>
          <a:p>
            <a:pPr algn="ctr">
              <a:spcAft>
                <a:spcPts val="0"/>
              </a:spcAft>
            </a:pPr>
            <a:r>
              <a:rPr sz="900" b="0" i="0">
                <a:solidFill>
                  <a:srgbClr val="1F2937"/>
                </a:solidFill>
                <a:latin typeface="Calibri"/>
              </a:rPr>
              <a:t>OpenAQ · FIRMS · JWT · salt</a:t>
            </a:r>
          </a:p>
        </p:txBody>
      </p:sp>
      <p:sp>
        <p:nvSpPr>
          <p:cNvPr id="23" name="Rounded Rectangle 22"/>
          <p:cNvSpPr/>
          <p:nvPr/>
        </p:nvSpPr>
        <p:spPr>
          <a:xfrm>
            <a:off x="1920240" y="5138928"/>
            <a:ext cx="7955279" cy="457200"/>
          </a:xfrm>
          <a:prstGeom prst="roundRect">
            <a:avLst>
              <a:gd name="adj" fmla="val 12000"/>
            </a:avLst>
          </a:prstGeom>
          <a:solidFill>
            <a:srgbClr val="F2F5F8"/>
          </a:solidFill>
          <a:ln w="12700">
            <a:solidFill>
              <a:srgbClr val="6B7280"/>
            </a:solidFill>
          </a:ln>
          <a:effectLst/>
        </p:spPr>
        <p:txBody>
          <a:bodyPr wrap="square" lIns="54864" tIns="54864" rIns="54864" bIns="54864" rtlCol="0" anchor="ctr"/>
          <a:lstStyle/>
          <a:p>
            <a:pPr algn="ctr">
              <a:spcAft>
                <a:spcPts val="400"/>
              </a:spcAft>
            </a:pPr>
            <a:r>
              <a:rPr sz="1050" b="0" i="0">
                <a:solidFill>
                  <a:srgbClr val="1F2937"/>
                </a:solidFill>
                <a:latin typeface="Calibri"/>
              </a:rPr>
              <a:t>Artifact Registry: app image + web image, built by Cloud Build — every service and job pulls from here</a:t>
            </a:r>
          </a:p>
        </p:txBody>
      </p:sp>
      <p:cxnSp>
        <p:nvCxnSpPr>
          <p:cNvPr id="24" name="Connector 23"/>
          <p:cNvCxnSpPr/>
          <p:nvPr/>
        </p:nvCxnSpPr>
        <p:spPr>
          <a:xfrm flipV="1">
            <a:off x="1600200" y="1988819"/>
            <a:ext cx="301752" cy="1028701"/>
          </a:xfrm>
          <a:prstGeom prst="line">
            <a:avLst/>
          </a:prstGeom>
          <a:ln w="15875">
            <a:solidFill>
              <a:srgbClr val="002855"/>
            </a:solidFill>
            <a:tailEnd type="triangle" w="med" len="med"/>
          </a:ln>
        </p:spPr>
      </p:cxnSp>
      <p:cxnSp>
        <p:nvCxnSpPr>
          <p:cNvPr id="25" name="Connector 24"/>
          <p:cNvCxnSpPr/>
          <p:nvPr/>
        </p:nvCxnSpPr>
        <p:spPr>
          <a:xfrm flipV="1">
            <a:off x="1600200" y="3223260"/>
            <a:ext cx="301752" cy="205740"/>
          </a:xfrm>
          <a:prstGeom prst="line">
            <a:avLst/>
          </a:prstGeom>
          <a:ln w="15875">
            <a:solidFill>
              <a:srgbClr val="002855"/>
            </a:solidFill>
            <a:tailEnd type="triangle" w="med" len="med"/>
          </a:ln>
        </p:spPr>
      </p:cxnSp>
      <p:cxnSp>
        <p:nvCxnSpPr>
          <p:cNvPr id="26" name="Connector 25"/>
          <p:cNvCxnSpPr/>
          <p:nvPr/>
        </p:nvCxnSpPr>
        <p:spPr>
          <a:xfrm>
            <a:off x="5760720" y="1988819"/>
            <a:ext cx="301752" cy="0"/>
          </a:xfrm>
          <a:prstGeom prst="line">
            <a:avLst/>
          </a:prstGeom>
          <a:ln w="15875">
            <a:solidFill>
              <a:srgbClr val="B45309"/>
            </a:solidFill>
            <a:tailEnd type="triangle" w="med" len="med"/>
          </a:ln>
        </p:spPr>
      </p:cxnSp>
      <p:cxnSp>
        <p:nvCxnSpPr>
          <p:cNvPr id="27" name="Connector 26"/>
          <p:cNvCxnSpPr/>
          <p:nvPr/>
        </p:nvCxnSpPr>
        <p:spPr>
          <a:xfrm>
            <a:off x="7863840" y="1988819"/>
            <a:ext cx="2313432" cy="0"/>
          </a:xfrm>
          <a:prstGeom prst="line">
            <a:avLst/>
          </a:prstGeom>
          <a:ln w="15875">
            <a:solidFill>
              <a:srgbClr val="6B7280"/>
            </a:solidFill>
            <a:tailEnd type="triangle" w="med" len="med"/>
          </a:ln>
        </p:spPr>
      </p:cxnSp>
      <p:sp>
        <p:nvSpPr>
          <p:cNvPr id="28" name="TextBox 27"/>
          <p:cNvSpPr txBox="1"/>
          <p:nvPr/>
        </p:nvSpPr>
        <p:spPr>
          <a:xfrm>
            <a:off x="8046719" y="1696211"/>
            <a:ext cx="1920240" cy="256032"/>
          </a:xfrm>
          <a:prstGeom prst="rect">
            <a:avLst/>
          </a:prstGeom>
          <a:noFill/>
        </p:spPr>
        <p:txBody>
          <a:bodyPr wrap="square" lIns="0" tIns="0" rIns="0" bIns="0" anchor="t">
            <a:spAutoFit/>
          </a:bodyPr>
          <a:lstStyle/>
          <a:p>
            <a:pPr algn="ctr">
              <a:spcAft>
                <a:spcPts val="400"/>
              </a:spcAft>
            </a:pPr>
            <a:r>
              <a:rPr sz="900" b="0" i="1">
                <a:solidFill>
                  <a:srgbClr val="6B7280"/>
                </a:solidFill>
                <a:latin typeface="Calibri"/>
              </a:rPr>
              <a:t>HTTPS pulls</a:t>
            </a:r>
          </a:p>
        </p:txBody>
      </p:sp>
      <p:cxnSp>
        <p:nvCxnSpPr>
          <p:cNvPr id="29" name="Connector 28"/>
          <p:cNvCxnSpPr/>
          <p:nvPr/>
        </p:nvCxnSpPr>
        <p:spPr>
          <a:xfrm>
            <a:off x="6972300" y="2423160"/>
            <a:ext cx="0" cy="347472"/>
          </a:xfrm>
          <a:prstGeom prst="line">
            <a:avLst/>
          </a:prstGeom>
          <a:ln w="15875">
            <a:solidFill>
              <a:srgbClr val="6B7280"/>
            </a:solidFill>
            <a:tailEnd type="triangle" w="med" len="med"/>
          </a:ln>
        </p:spPr>
      </p:cxnSp>
      <p:cxnSp>
        <p:nvCxnSpPr>
          <p:cNvPr id="30" name="Connector 29"/>
          <p:cNvCxnSpPr/>
          <p:nvPr/>
        </p:nvCxnSpPr>
        <p:spPr>
          <a:xfrm>
            <a:off x="7680960" y="2423160"/>
            <a:ext cx="685800" cy="347472"/>
          </a:xfrm>
          <a:prstGeom prst="line">
            <a:avLst/>
          </a:prstGeom>
          <a:ln w="15875">
            <a:solidFill>
              <a:srgbClr val="6B7280"/>
            </a:solidFill>
            <a:tailEnd type="triangle" w="med" len="med"/>
          </a:ln>
        </p:spPr>
      </p:cxnSp>
      <p:cxnSp>
        <p:nvCxnSpPr>
          <p:cNvPr id="31" name="Connector 30"/>
          <p:cNvCxnSpPr/>
          <p:nvPr/>
        </p:nvCxnSpPr>
        <p:spPr>
          <a:xfrm>
            <a:off x="3703320" y="3223260"/>
            <a:ext cx="256032" cy="0"/>
          </a:xfrm>
          <a:prstGeom prst="line">
            <a:avLst/>
          </a:prstGeom>
          <a:ln w="15875">
            <a:solidFill>
              <a:srgbClr val="6D28D9"/>
            </a:solidFill>
            <a:tailEnd type="triangle" w="med" len="med"/>
          </a:ln>
        </p:spPr>
      </p:cxnSp>
      <p:cxnSp>
        <p:nvCxnSpPr>
          <p:cNvPr id="32" name="Connector 31"/>
          <p:cNvCxnSpPr/>
          <p:nvPr/>
        </p:nvCxnSpPr>
        <p:spPr>
          <a:xfrm flipH="1">
            <a:off x="5532120" y="3657600"/>
            <a:ext cx="777240" cy="393192"/>
          </a:xfrm>
          <a:prstGeom prst="line">
            <a:avLst/>
          </a:prstGeom>
          <a:ln w="15875">
            <a:solidFill>
              <a:srgbClr val="6B7280"/>
            </a:solidFill>
            <a:tailEnd type="triangle" w="med" len="med"/>
          </a:ln>
        </p:spPr>
      </p:cxnSp>
      <p:sp>
        <p:nvSpPr>
          <p:cNvPr id="33" name="TextBox 32"/>
          <p:cNvSpPr txBox="1"/>
          <p:nvPr/>
        </p:nvSpPr>
        <p:spPr>
          <a:xfrm>
            <a:off x="6373368" y="3712463"/>
            <a:ext cx="1097280" cy="329184"/>
          </a:xfrm>
          <a:prstGeom prst="rect">
            <a:avLst/>
          </a:prstGeom>
          <a:noFill/>
        </p:spPr>
        <p:txBody>
          <a:bodyPr wrap="square" lIns="0" tIns="0" rIns="0" bIns="0" anchor="t">
            <a:spAutoFit/>
          </a:bodyPr>
          <a:lstStyle/>
          <a:p>
            <a:pPr algn="l">
              <a:spcAft>
                <a:spcPts val="400"/>
              </a:spcAft>
            </a:pPr>
            <a:r>
              <a:rPr sz="800" b="0" i="1">
                <a:solidFill>
                  <a:srgbClr val="6B7280"/>
                </a:solidFill>
                <a:latin typeface="Calibri"/>
              </a:rPr>
              <a:t>OBJECT_FINALIZE
incoming/</a:t>
            </a:r>
          </a:p>
        </p:txBody>
      </p:sp>
      <p:cxnSp>
        <p:nvCxnSpPr>
          <p:cNvPr id="34" name="Connector 33"/>
          <p:cNvCxnSpPr/>
          <p:nvPr/>
        </p:nvCxnSpPr>
        <p:spPr>
          <a:xfrm flipH="1">
            <a:off x="3721607" y="4503420"/>
            <a:ext cx="256032" cy="0"/>
          </a:xfrm>
          <a:prstGeom prst="line">
            <a:avLst/>
          </a:prstGeom>
          <a:ln w="15875">
            <a:solidFill>
              <a:srgbClr val="6B7280"/>
            </a:solidFill>
            <a:tailEnd type="triangle" w="med" len="med"/>
          </a:ln>
        </p:spPr>
      </p:cxnSp>
      <p:cxnSp>
        <p:nvCxnSpPr>
          <p:cNvPr id="35" name="Connector 34"/>
          <p:cNvCxnSpPr/>
          <p:nvPr/>
        </p:nvCxnSpPr>
        <p:spPr>
          <a:xfrm flipV="1">
            <a:off x="3611879" y="3675887"/>
            <a:ext cx="548641" cy="393193"/>
          </a:xfrm>
          <a:prstGeom prst="line">
            <a:avLst/>
          </a:prstGeom>
          <a:ln w="15875">
            <a:solidFill>
              <a:srgbClr val="6D28D9"/>
            </a:solidFill>
            <a:tailEnd type="triangle" w="med" len="med"/>
          </a:ln>
        </p:spPr>
      </p:cxnSp>
      <p:cxnSp>
        <p:nvCxnSpPr>
          <p:cNvPr id="36" name="Connector 35"/>
          <p:cNvCxnSpPr/>
          <p:nvPr/>
        </p:nvCxnSpPr>
        <p:spPr>
          <a:xfrm flipV="1">
            <a:off x="7635240" y="3675887"/>
            <a:ext cx="0" cy="393193"/>
          </a:xfrm>
          <a:prstGeom prst="line">
            <a:avLst/>
          </a:prstGeom>
          <a:ln w="15875">
            <a:solidFill>
              <a:srgbClr val="047857"/>
            </a:solidFill>
            <a:tailEnd type="triangle" w="med" len="med"/>
          </a:ln>
        </p:spPr>
      </p:cxnSp>
      <p:sp>
        <p:nvSpPr>
          <p:cNvPr id="37" name="TextBox 36"/>
          <p:cNvSpPr txBox="1"/>
          <p:nvPr/>
        </p:nvSpPr>
        <p:spPr>
          <a:xfrm>
            <a:off x="502920" y="5806440"/>
            <a:ext cx="11185855" cy="292608"/>
          </a:xfrm>
          <a:prstGeom prst="rect">
            <a:avLst/>
          </a:prstGeom>
          <a:noFill/>
        </p:spPr>
        <p:txBody>
          <a:bodyPr wrap="square" lIns="0" tIns="0" rIns="0" bIns="0" anchor="t">
            <a:spAutoFit/>
          </a:bodyPr>
          <a:lstStyle/>
          <a:p>
            <a:pPr algn="ctr">
              <a:spcAft>
                <a:spcPts val="400"/>
              </a:spcAft>
            </a:pPr>
            <a:r>
              <a:rPr sz="1000" b="1" i="0">
                <a:solidFill>
                  <a:srgbClr val="1F2937"/>
                </a:solidFill>
                <a:latin typeface="Calibri"/>
              </a:rPr>
              <a:t>Fig. 9.  </a:t>
            </a:r>
            <a:r>
              <a:rPr sz="1000" b="0" i="0">
                <a:solidFill>
                  <a:srgbClr val="1F2937"/>
                </a:solidFill>
                <a:latin typeface="Calibri"/>
              </a:rPr>
              <a:t>Google Cloud deployment. Public: web and API. Private: citizen analyzer (invokers: sa-push, sa-api).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V-B. CI/CD AND SECURITY</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Build, Deploy and Security</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14 / 18</a:t>
            </a:r>
          </a:p>
        </p:txBody>
      </p:sp>
      <p:sp>
        <p:nvSpPr>
          <p:cNvPr id="8" name="Rounded Rectangle 7"/>
          <p:cNvSpPr/>
          <p:nvPr/>
        </p:nvSpPr>
        <p:spPr>
          <a:xfrm>
            <a:off x="502920" y="1325880"/>
            <a:ext cx="1734769" cy="960120"/>
          </a:xfrm>
          <a:prstGeom prst="roundRect">
            <a:avLst>
              <a:gd name="adj" fmla="val 11428"/>
            </a:avLst>
          </a:prstGeom>
          <a:solidFill>
            <a:srgbClr val="FFFFFF"/>
          </a:solidFill>
          <a:ln w="12700">
            <a:solidFill>
              <a:srgbClr val="6B7280"/>
            </a:solidFill>
          </a:ln>
          <a:effectLst/>
        </p:spPr>
        <p:txBody>
          <a:bodyPr wrap="square" lIns="45720" rIns="45720" rtlCol="0" anchor="ctr"/>
          <a:lstStyle/>
          <a:p>
            <a:pPr algn="ctr">
              <a:spcAft>
                <a:spcPts val="100"/>
              </a:spcAft>
            </a:pPr>
            <a:r>
              <a:rPr sz="1100" b="1" i="0">
                <a:solidFill>
                  <a:srgbClr val="1F2937"/>
                </a:solidFill>
                <a:latin typeface="Calibri"/>
              </a:rPr>
              <a:t>gcloud builds submit</a:t>
            </a:r>
          </a:p>
          <a:p>
            <a:pPr algn="ctr">
              <a:spcAft>
                <a:spcPts val="0"/>
              </a:spcAft>
            </a:pPr>
            <a:r>
              <a:rPr sz="950" b="0" i="0">
                <a:solidFill>
                  <a:srgbClr val="1F2937"/>
                </a:solidFill>
                <a:latin typeface="Calibri"/>
              </a:rPr>
              <a:t>.gcloudignore drops .env and tfvars</a:t>
            </a:r>
          </a:p>
        </p:txBody>
      </p:sp>
      <p:sp>
        <p:nvSpPr>
          <p:cNvPr id="9" name="Rounded Rectangle 8"/>
          <p:cNvSpPr/>
          <p:nvPr/>
        </p:nvSpPr>
        <p:spPr>
          <a:xfrm>
            <a:off x="2393137" y="1325880"/>
            <a:ext cx="1734769" cy="960120"/>
          </a:xfrm>
          <a:prstGeom prst="roundRect">
            <a:avLst>
              <a:gd name="adj" fmla="val 11428"/>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Cloud Build (sa-build)</a:t>
            </a:r>
          </a:p>
          <a:p>
            <a:pPr algn="ctr">
              <a:spcAft>
                <a:spcPts val="0"/>
              </a:spcAft>
            </a:pPr>
            <a:r>
              <a:rPr sz="950" b="0" i="0">
                <a:solidFill>
                  <a:srgbClr val="1F2937"/>
                </a:solidFill>
                <a:latin typeface="Calibri"/>
              </a:rPr>
              <a:t>app image: uv --extra gcp</a:t>
            </a:r>
          </a:p>
        </p:txBody>
      </p:sp>
      <p:cxnSp>
        <p:nvCxnSpPr>
          <p:cNvPr id="10" name="Connector 9"/>
          <p:cNvCxnSpPr/>
          <p:nvPr/>
        </p:nvCxnSpPr>
        <p:spPr>
          <a:xfrm>
            <a:off x="2237689" y="1805940"/>
            <a:ext cx="146304" cy="0"/>
          </a:xfrm>
          <a:prstGeom prst="line">
            <a:avLst/>
          </a:prstGeom>
          <a:ln w="19050">
            <a:solidFill>
              <a:srgbClr val="002855"/>
            </a:solidFill>
            <a:tailEnd type="triangle" w="med" len="med"/>
          </a:ln>
        </p:spPr>
      </p:cxnSp>
      <p:sp>
        <p:nvSpPr>
          <p:cNvPr id="11" name="Rounded Rectangle 10"/>
          <p:cNvSpPr/>
          <p:nvPr/>
        </p:nvSpPr>
        <p:spPr>
          <a:xfrm>
            <a:off x="4283354" y="1325880"/>
            <a:ext cx="1734769" cy="960120"/>
          </a:xfrm>
          <a:prstGeom prst="roundRect">
            <a:avLst>
              <a:gd name="adj" fmla="val 11428"/>
            </a:avLst>
          </a:prstGeom>
          <a:solidFill>
            <a:srgbClr val="E0EEF6"/>
          </a:solidFill>
          <a:ln w="12700">
            <a:solidFill>
              <a:srgbClr val="00629B"/>
            </a:solidFill>
          </a:ln>
          <a:effectLst/>
        </p:spPr>
        <p:txBody>
          <a:bodyPr wrap="square" lIns="45720" rIns="45720" rtlCol="0" anchor="ctr"/>
          <a:lstStyle/>
          <a:p>
            <a:pPr algn="ctr">
              <a:spcAft>
                <a:spcPts val="100"/>
              </a:spcAft>
            </a:pPr>
            <a:r>
              <a:rPr sz="1100" b="1" i="0">
                <a:solidFill>
                  <a:srgbClr val="002855"/>
                </a:solidFill>
                <a:latin typeface="Calibri"/>
              </a:rPr>
              <a:t>Web build</a:t>
            </a:r>
          </a:p>
          <a:p>
            <a:pPr algn="ctr">
              <a:spcAft>
                <a:spcPts val="0"/>
              </a:spcAft>
            </a:pPr>
            <a:r>
              <a:rPr sz="950" b="0" i="0">
                <a:solidFill>
                  <a:srgbClr val="1F2937"/>
                </a:solidFill>
                <a:latin typeface="Calibri"/>
              </a:rPr>
              <a:t>Vite → nginx; mints read-only viewer token</a:t>
            </a:r>
          </a:p>
        </p:txBody>
      </p:sp>
      <p:cxnSp>
        <p:nvCxnSpPr>
          <p:cNvPr id="12" name="Connector 11"/>
          <p:cNvCxnSpPr/>
          <p:nvPr/>
        </p:nvCxnSpPr>
        <p:spPr>
          <a:xfrm>
            <a:off x="4127906" y="1805940"/>
            <a:ext cx="146304" cy="0"/>
          </a:xfrm>
          <a:prstGeom prst="line">
            <a:avLst/>
          </a:prstGeom>
          <a:ln w="19050">
            <a:solidFill>
              <a:srgbClr val="002855"/>
            </a:solidFill>
            <a:tailEnd type="triangle" w="med" len="med"/>
          </a:ln>
        </p:spPr>
      </p:cxnSp>
      <p:sp>
        <p:nvSpPr>
          <p:cNvPr id="13" name="Can 12"/>
          <p:cNvSpPr/>
          <p:nvPr/>
        </p:nvSpPr>
        <p:spPr>
          <a:xfrm>
            <a:off x="6173571" y="1325880"/>
            <a:ext cx="1734769" cy="960120"/>
          </a:xfrm>
          <a:prstGeom prst="can">
            <a:avLst>
              <a:gd name="adj" fmla="val 12000"/>
            </a:avLst>
          </a:prstGeom>
          <a:solidFill>
            <a:srgbClr val="F2F5F8"/>
          </a:solidFill>
          <a:ln w="12700">
            <a:solidFill>
              <a:srgbClr val="6B7280"/>
            </a:solidFill>
          </a:ln>
          <a:effectLst/>
        </p:spPr>
        <p:txBody>
          <a:bodyPr wrap="square" lIns="45720" rIns="45720" rtlCol="0" anchor="ctr"/>
          <a:lstStyle/>
          <a:p>
            <a:pPr algn="ctr">
              <a:spcAft>
                <a:spcPts val="100"/>
              </a:spcAft>
            </a:pPr>
            <a:r>
              <a:rPr sz="1100" b="1" i="0">
                <a:solidFill>
                  <a:srgbClr val="1F2937"/>
                </a:solidFill>
                <a:latin typeface="Calibri"/>
              </a:rPr>
              <a:t>Artifact Registry</a:t>
            </a:r>
          </a:p>
          <a:p>
            <a:pPr algn="ctr">
              <a:spcAft>
                <a:spcPts val="0"/>
              </a:spcAft>
            </a:pPr>
            <a:r>
              <a:rPr sz="950" b="0" i="0">
                <a:solidFill>
                  <a:srgbClr val="1F2937"/>
                </a:solidFill>
                <a:latin typeface="Calibri"/>
              </a:rPr>
              <a:t>app:&lt;tag&gt; · web:&lt;tag&gt;</a:t>
            </a:r>
          </a:p>
        </p:txBody>
      </p:sp>
      <p:cxnSp>
        <p:nvCxnSpPr>
          <p:cNvPr id="14" name="Connector 13"/>
          <p:cNvCxnSpPr/>
          <p:nvPr/>
        </p:nvCxnSpPr>
        <p:spPr>
          <a:xfrm>
            <a:off x="6018123" y="1805940"/>
            <a:ext cx="146304" cy="0"/>
          </a:xfrm>
          <a:prstGeom prst="line">
            <a:avLst/>
          </a:prstGeom>
          <a:ln w="19050">
            <a:solidFill>
              <a:srgbClr val="002855"/>
            </a:solidFill>
            <a:tailEnd type="triangle" w="med" len="med"/>
          </a:ln>
        </p:spPr>
      </p:cxnSp>
      <p:sp>
        <p:nvSpPr>
          <p:cNvPr id="15" name="Rounded Rectangle 14"/>
          <p:cNvSpPr/>
          <p:nvPr/>
        </p:nvSpPr>
        <p:spPr>
          <a:xfrm>
            <a:off x="8063788" y="1325880"/>
            <a:ext cx="1734769" cy="960120"/>
          </a:xfrm>
          <a:prstGeom prst="roundRect">
            <a:avLst>
              <a:gd name="adj" fmla="val 11428"/>
            </a:avLst>
          </a:prstGeom>
          <a:solidFill>
            <a:srgbClr val="FEF3C7"/>
          </a:solidFill>
          <a:ln w="12700">
            <a:solidFill>
              <a:srgbClr val="B45309"/>
            </a:solidFill>
          </a:ln>
          <a:effectLst/>
        </p:spPr>
        <p:txBody>
          <a:bodyPr wrap="square" lIns="45720" rIns="45720" rtlCol="0" anchor="ctr"/>
          <a:lstStyle/>
          <a:p>
            <a:pPr algn="ctr">
              <a:spcAft>
                <a:spcPts val="100"/>
              </a:spcAft>
            </a:pPr>
            <a:r>
              <a:rPr sz="1100" b="1" i="0">
                <a:solidFill>
                  <a:srgbClr val="B45309"/>
                </a:solidFill>
                <a:latin typeface="Calibri"/>
              </a:rPr>
              <a:t>terraform apply</a:t>
            </a:r>
          </a:p>
          <a:p>
            <a:pPr algn="ctr">
              <a:spcAft>
                <a:spcPts val="0"/>
              </a:spcAft>
            </a:pPr>
            <a:r>
              <a:rPr sz="950" b="0" i="0">
                <a:solidFill>
                  <a:srgbClr val="1F2937"/>
                </a:solidFill>
                <a:latin typeface="Calibri"/>
              </a:rPr>
              <a:t>services · jobs · scheduler · IAM</a:t>
            </a:r>
          </a:p>
        </p:txBody>
      </p:sp>
      <p:cxnSp>
        <p:nvCxnSpPr>
          <p:cNvPr id="16" name="Connector 15"/>
          <p:cNvCxnSpPr/>
          <p:nvPr/>
        </p:nvCxnSpPr>
        <p:spPr>
          <a:xfrm>
            <a:off x="7908340" y="1805940"/>
            <a:ext cx="146304" cy="0"/>
          </a:xfrm>
          <a:prstGeom prst="line">
            <a:avLst/>
          </a:prstGeom>
          <a:ln w="19050">
            <a:solidFill>
              <a:srgbClr val="002855"/>
            </a:solidFill>
            <a:tailEnd type="triangle" w="med" len="med"/>
          </a:ln>
        </p:spPr>
      </p:cxnSp>
      <p:sp>
        <p:nvSpPr>
          <p:cNvPr id="17" name="Rounded Rectangle 16"/>
          <p:cNvSpPr/>
          <p:nvPr/>
        </p:nvSpPr>
        <p:spPr>
          <a:xfrm>
            <a:off x="9954006" y="1325880"/>
            <a:ext cx="1734769" cy="960120"/>
          </a:xfrm>
          <a:prstGeom prst="roundRect">
            <a:avLst>
              <a:gd name="adj" fmla="val 11428"/>
            </a:avLst>
          </a:prstGeom>
          <a:solidFill>
            <a:srgbClr val="CFFAFE"/>
          </a:solidFill>
          <a:ln w="12700">
            <a:solidFill>
              <a:srgbClr val="0E7490"/>
            </a:solidFill>
          </a:ln>
          <a:effectLst/>
        </p:spPr>
        <p:txBody>
          <a:bodyPr wrap="square" lIns="45720" rIns="45720" rtlCol="0" anchor="ctr"/>
          <a:lstStyle/>
          <a:p>
            <a:pPr algn="ctr">
              <a:spcAft>
                <a:spcPts val="100"/>
              </a:spcAft>
            </a:pPr>
            <a:r>
              <a:rPr sz="1100" b="1" i="0">
                <a:solidFill>
                  <a:srgbClr val="0E7490"/>
                </a:solidFill>
                <a:latin typeface="Calibri"/>
              </a:rPr>
              <a:t>Public URL</a:t>
            </a:r>
          </a:p>
          <a:p>
            <a:pPr algn="ctr">
              <a:spcAft>
                <a:spcPts val="0"/>
              </a:spcAft>
            </a:pPr>
            <a:r>
              <a:rPr sz="950" b="0" i="0">
                <a:solidFill>
                  <a:srgbClr val="1F2937"/>
                </a:solidFill>
                <a:latin typeface="Calibri"/>
              </a:rPr>
              <a:t>aeropulse-web on Cloud Run</a:t>
            </a:r>
          </a:p>
        </p:txBody>
      </p:sp>
      <p:cxnSp>
        <p:nvCxnSpPr>
          <p:cNvPr id="18" name="Connector 17"/>
          <p:cNvCxnSpPr/>
          <p:nvPr/>
        </p:nvCxnSpPr>
        <p:spPr>
          <a:xfrm>
            <a:off x="9798558" y="1805940"/>
            <a:ext cx="146304" cy="0"/>
          </a:xfrm>
          <a:prstGeom prst="line">
            <a:avLst/>
          </a:prstGeom>
          <a:ln w="19050">
            <a:solidFill>
              <a:srgbClr val="002855"/>
            </a:solidFill>
            <a:tailEnd type="triangle" w="med" len="med"/>
          </a:ln>
        </p:spPr>
      </p:cxnSp>
      <p:sp>
        <p:nvSpPr>
          <p:cNvPr id="19" name="TextBox 18"/>
          <p:cNvSpPr txBox="1"/>
          <p:nvPr/>
        </p:nvSpPr>
        <p:spPr>
          <a:xfrm>
            <a:off x="502920" y="2359152"/>
            <a:ext cx="11185855" cy="292608"/>
          </a:xfrm>
          <a:prstGeom prst="rect">
            <a:avLst/>
          </a:prstGeom>
          <a:noFill/>
        </p:spPr>
        <p:txBody>
          <a:bodyPr wrap="square" lIns="0" tIns="0" rIns="0" bIns="0" anchor="t">
            <a:spAutoFit/>
          </a:bodyPr>
          <a:lstStyle/>
          <a:p>
            <a:pPr algn="ctr">
              <a:spcAft>
                <a:spcPts val="400"/>
              </a:spcAft>
            </a:pPr>
            <a:r>
              <a:rPr sz="1050" b="1" i="0">
                <a:solidFill>
                  <a:srgbClr val="1F2937"/>
                </a:solidFill>
                <a:latin typeface="Calibri"/>
              </a:rPr>
              <a:t>Fig. 10.  </a:t>
            </a:r>
            <a:r>
              <a:rPr sz="1050" b="0" i="0">
                <a:solidFill>
                  <a:srgbClr val="1F2937"/>
                </a:solidFill>
                <a:latin typeface="Calibri"/>
              </a:rPr>
              <a:t>Build and deploy pipeline (infrastructure/gcp/cloudbuild/app.yaml, web.yaml).</a:t>
            </a:r>
          </a:p>
        </p:txBody>
      </p:sp>
      <p:sp>
        <p:nvSpPr>
          <p:cNvPr id="20" name="TextBox 19"/>
          <p:cNvSpPr txBox="1"/>
          <p:nvPr/>
        </p:nvSpPr>
        <p:spPr>
          <a:xfrm>
            <a:off x="502920" y="2743200"/>
            <a:ext cx="1118585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V</a:t>
            </a:r>
          </a:p>
          <a:p>
            <a:pPr algn="ctr">
              <a:spcAft>
                <a:spcPts val="0"/>
              </a:spcAft>
            </a:pPr>
            <a:r>
              <a:rPr sz="900" b="0" i="0">
                <a:solidFill>
                  <a:srgbClr val="1F2937"/>
                </a:solidFill>
                <a:latin typeface="Calibri"/>
              </a:rPr>
              <a:t>SECURITY CONTROLS</a:t>
            </a:r>
          </a:p>
        </p:txBody>
      </p:sp>
      <p:graphicFrame>
        <p:nvGraphicFramePr>
          <p:cNvPr id="21" name="Table 20"/>
          <p:cNvGraphicFramePr>
            <a:graphicFrameLocks noGrp="1"/>
          </p:cNvGraphicFramePr>
          <p:nvPr/>
        </p:nvGraphicFramePr>
        <p:xfrm>
          <a:off x="502920" y="3200400"/>
          <a:ext cx="11185854" cy="2560320"/>
        </p:xfrm>
        <a:graphic>
          <a:graphicData uri="http://schemas.openxmlformats.org/drawingml/2006/table">
            <a:tbl>
              <a:tblPr firstRow="1" bandRow="1">
                <a:tableStyleId>{5940675A-B579-460E-94D1-54222C63F5DA}</a:tableStyleId>
              </a:tblPr>
              <a:tblGrid>
                <a:gridCol w="1754643">
                  <a:extLst>
                    <a:ext uri="{9D8B030D-6E8A-4147-A177-3AD203B41FA5}">
                      <a16:colId xmlns:a16="http://schemas.microsoft.com/office/drawing/2014/main" val="20000"/>
                    </a:ext>
                  </a:extLst>
                </a:gridCol>
                <a:gridCol w="9431211">
                  <a:extLst>
                    <a:ext uri="{9D8B030D-6E8A-4147-A177-3AD203B41FA5}">
                      <a16:colId xmlns:a16="http://schemas.microsoft.com/office/drawing/2014/main" val="20001"/>
                    </a:ext>
                  </a:extLst>
                </a:gridCol>
              </a:tblGrid>
              <a:tr h="365760">
                <a:tc>
                  <a:txBody>
                    <a:bodyPr/>
                    <a:lstStyle/>
                    <a:p>
                      <a:pPr algn="l">
                        <a:spcAft>
                          <a:spcPts val="0"/>
                        </a:spcAft>
                      </a:pPr>
                      <a:r>
                        <a:rPr sz="1150" b="1" i="0">
                          <a:solidFill>
                            <a:srgbClr val="FFFFFF"/>
                          </a:solidFill>
                          <a:latin typeface="Calibri"/>
                        </a:rPr>
                        <a:t>Control</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l">
                        <a:spcAft>
                          <a:spcPts val="0"/>
                        </a:spcAft>
                      </a:pPr>
                      <a:r>
                        <a:rPr sz="1150" b="1" i="0">
                          <a:solidFill>
                            <a:srgbClr val="FFFFFF"/>
                          </a:solidFill>
                          <a:latin typeface="Calibri"/>
                        </a:rPr>
                        <a:t>Implementation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365760">
                <a:tc>
                  <a:txBody>
                    <a:bodyPr/>
                    <a:lstStyle/>
                    <a:p>
                      <a:pPr algn="l">
                        <a:spcAft>
                          <a:spcPts val="0"/>
                        </a:spcAft>
                      </a:pPr>
                      <a:r>
                        <a:rPr sz="1100" b="1" i="0">
                          <a:solidFill>
                            <a:srgbClr val="1F2937"/>
                          </a:solidFill>
                          <a:latin typeface="Calibri"/>
                        </a:rPr>
                        <a:t>Workload identity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One service account per workload: sa-cycle, sa-citizen, sa-api, sa-train, sa-push (+ sa-build); grants on the specific bucket, dataset, topic or secret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365760">
                <a:tc>
                  <a:txBody>
                    <a:bodyPr/>
                    <a:lstStyle/>
                    <a:p>
                      <a:pPr algn="l">
                        <a:spcAft>
                          <a:spcPts val="0"/>
                        </a:spcAft>
                      </a:pPr>
                      <a:r>
                        <a:rPr sz="1100" b="1" i="0">
                          <a:solidFill>
                            <a:srgbClr val="1F2937"/>
                          </a:solidFill>
                          <a:latin typeface="Calibri"/>
                        </a:rPr>
                        <a:t>Secrets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Secret Manager (OpenAQ, FIRMS, JWT signing key, reporter salt); never in images or git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365760">
                <a:tc>
                  <a:txBody>
                    <a:bodyPr/>
                    <a:lstStyle/>
                    <a:p>
                      <a:pPr algn="l">
                        <a:spcAft>
                          <a:spcPts val="0"/>
                        </a:spcAft>
                      </a:pPr>
                      <a:r>
                        <a:rPr sz="1100" b="1" i="0">
                          <a:solidFill>
                            <a:srgbClr val="1F2937"/>
                          </a:solidFill>
                          <a:latin typeface="Calibri"/>
                        </a:rPr>
                        <a:t>API access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HS256 JWT on every /api/v1 route; public site holds a viewer-role, read-only token with an expiry (14 days by default); OIDC is planned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r h="365760">
                <a:tc>
                  <a:txBody>
                    <a:bodyPr/>
                    <a:lstStyle/>
                    <a:p>
                      <a:pPr algn="l">
                        <a:spcAft>
                          <a:spcPts val="0"/>
                        </a:spcAft>
                      </a:pPr>
                      <a:r>
                        <a:rPr sz="1100" b="1" i="0">
                          <a:solidFill>
                            <a:srgbClr val="1F2937"/>
                          </a:solidFill>
                          <a:latin typeface="Calibri"/>
                        </a:rPr>
                        <a:t>Private analyzer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No public invoker; Pub/Sub push with an OIDC token from sa-push; dead-letter topic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4"/>
                  </a:ext>
                </a:extLst>
              </a:tr>
              <a:tr h="365760">
                <a:tc>
                  <a:txBody>
                    <a:bodyPr/>
                    <a:lstStyle/>
                    <a:p>
                      <a:pPr algn="l">
                        <a:spcAft>
                          <a:spcPts val="0"/>
                        </a:spcAft>
                      </a:pPr>
                      <a:r>
                        <a:rPr sz="1100" b="1" i="0">
                          <a:solidFill>
                            <a:srgbClr val="1F2937"/>
                          </a:solidFill>
                          <a:latin typeface="Calibri"/>
                        </a:rPr>
                        <a:t>Gemini access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l">
                        <a:spcAft>
                          <a:spcPts val="0"/>
                        </a:spcAft>
                      </a:pPr>
                      <a:r>
                        <a:rPr sz="1100" b="0" i="0">
                          <a:solidFill>
                            <a:srgbClr val="1F2937"/>
                          </a:solidFill>
                          <a:latin typeface="Calibri"/>
                        </a:rPr>
                        <a:t>Vertex AI through the service account — no API key to leak</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5"/>
                  </a:ext>
                </a:extLst>
              </a:tr>
              <a:tr h="365760">
                <a:tc>
                  <a:txBody>
                    <a:bodyPr/>
                    <a:lstStyle/>
                    <a:p>
                      <a:pPr algn="l">
                        <a:spcAft>
                          <a:spcPts val="0"/>
                        </a:spcAft>
                      </a:pPr>
                      <a:r>
                        <a:rPr sz="1100" b="1" i="0">
                          <a:solidFill>
                            <a:srgbClr val="1F2937"/>
                          </a:solidFill>
                          <a:latin typeface="Calibri"/>
                        </a:rPr>
                        <a:t>Citizen privacy</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l">
                        <a:spcAft>
                          <a:spcPts val="0"/>
                        </a:spcAft>
                      </a:pPr>
                      <a:r>
                        <a:rPr sz="1100" b="0" i="0">
                          <a:solidFill>
                            <a:srgbClr val="1F2937"/>
                          </a:solidFill>
                          <a:latin typeface="Calibri"/>
                        </a:rPr>
                        <a:t>EXIF stripped before analysis; reporter identity salted; moderation before anything is public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VI. RESULTS</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Evaluation Results from the Gate Reports</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15 / 18</a:t>
            </a:r>
          </a:p>
        </p:txBody>
      </p:sp>
      <p:graphicFrame>
        <p:nvGraphicFramePr>
          <p:cNvPr id="8" name="Chart 7"/>
          <p:cNvGraphicFramePr>
            <a:graphicFrameLocks noGrp="1"/>
          </p:cNvGraphicFramePr>
          <p:nvPr/>
        </p:nvGraphicFramePr>
        <p:xfrm>
          <a:off x="502920" y="1234440"/>
          <a:ext cx="51206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2920" y="4507992"/>
            <a:ext cx="5120640" cy="292608"/>
          </a:xfrm>
          <a:prstGeom prst="rect">
            <a:avLst/>
          </a:prstGeom>
          <a:noFill/>
        </p:spPr>
        <p:txBody>
          <a:bodyPr wrap="square" lIns="0" tIns="0" rIns="0" bIns="0" anchor="t">
            <a:spAutoFit/>
          </a:bodyPr>
          <a:lstStyle/>
          <a:p>
            <a:pPr algn="ctr">
              <a:spcAft>
                <a:spcPts val="400"/>
              </a:spcAft>
            </a:pPr>
            <a:r>
              <a:rPr sz="1000" b="1" i="0">
                <a:solidFill>
                  <a:srgbClr val="1F2937"/>
                </a:solidFill>
                <a:latin typeface="Calibri"/>
              </a:rPr>
              <a:t>Fig. 11.  </a:t>
            </a:r>
            <a:r>
              <a:rPr sz="1000" b="0" i="0">
                <a:solidFill>
                  <a:srgbClr val="1F2937"/>
                </a:solidFill>
                <a:latin typeface="Calibri"/>
              </a:rPr>
              <a:t>PM2.5 forecast skill, purged rolling-origin mean of 5 folds.</a:t>
            </a:r>
          </a:p>
        </p:txBody>
      </p:sp>
      <p:sp>
        <p:nvSpPr>
          <p:cNvPr id="10" name="TextBox 9"/>
          <p:cNvSpPr txBox="1"/>
          <p:nvPr/>
        </p:nvSpPr>
        <p:spPr>
          <a:xfrm>
            <a:off x="5852159" y="1188720"/>
            <a:ext cx="583661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VI</a:t>
            </a:r>
          </a:p>
          <a:p>
            <a:pPr algn="ctr">
              <a:spcAft>
                <a:spcPts val="0"/>
              </a:spcAft>
            </a:pPr>
            <a:r>
              <a:rPr sz="900" b="0" i="0">
                <a:solidFill>
                  <a:srgbClr val="1F2937"/>
                </a:solidFill>
                <a:latin typeface="Calibri"/>
              </a:rPr>
              <a:t>FORECAST RMSE SKILL VS PERSISTENCE</a:t>
            </a:r>
          </a:p>
        </p:txBody>
      </p:sp>
      <p:graphicFrame>
        <p:nvGraphicFramePr>
          <p:cNvPr id="11" name="Table 10"/>
          <p:cNvGraphicFramePr>
            <a:graphicFrameLocks noGrp="1"/>
          </p:cNvGraphicFramePr>
          <p:nvPr/>
        </p:nvGraphicFramePr>
        <p:xfrm>
          <a:off x="5852159" y="1645920"/>
          <a:ext cx="5836612" cy="1517904"/>
        </p:xfrm>
        <a:graphic>
          <a:graphicData uri="http://schemas.openxmlformats.org/drawingml/2006/table">
            <a:tbl>
              <a:tblPr firstRow="1" bandRow="1">
                <a:tableStyleId>{5940675A-B579-460E-94D1-54222C63F5DA}</a:tableStyleId>
              </a:tblPr>
              <a:tblGrid>
                <a:gridCol w="1655777">
                  <a:extLst>
                    <a:ext uri="{9D8B030D-6E8A-4147-A177-3AD203B41FA5}">
                      <a16:colId xmlns:a16="http://schemas.microsoft.com/office/drawing/2014/main" val="20000"/>
                    </a:ext>
                  </a:extLst>
                </a:gridCol>
                <a:gridCol w="703705">
                  <a:extLst>
                    <a:ext uri="{9D8B030D-6E8A-4147-A177-3AD203B41FA5}">
                      <a16:colId xmlns:a16="http://schemas.microsoft.com/office/drawing/2014/main" val="20001"/>
                    </a:ext>
                  </a:extLst>
                </a:gridCol>
                <a:gridCol w="703705">
                  <a:extLst>
                    <a:ext uri="{9D8B030D-6E8A-4147-A177-3AD203B41FA5}">
                      <a16:colId xmlns:a16="http://schemas.microsoft.com/office/drawing/2014/main" val="20002"/>
                    </a:ext>
                  </a:extLst>
                </a:gridCol>
                <a:gridCol w="703705">
                  <a:extLst>
                    <a:ext uri="{9D8B030D-6E8A-4147-A177-3AD203B41FA5}">
                      <a16:colId xmlns:a16="http://schemas.microsoft.com/office/drawing/2014/main" val="20003"/>
                    </a:ext>
                  </a:extLst>
                </a:gridCol>
                <a:gridCol w="703705">
                  <a:extLst>
                    <a:ext uri="{9D8B030D-6E8A-4147-A177-3AD203B41FA5}">
                      <a16:colId xmlns:a16="http://schemas.microsoft.com/office/drawing/2014/main" val="20004"/>
                    </a:ext>
                  </a:extLst>
                </a:gridCol>
                <a:gridCol w="703705">
                  <a:extLst>
                    <a:ext uri="{9D8B030D-6E8A-4147-A177-3AD203B41FA5}">
                      <a16:colId xmlns:a16="http://schemas.microsoft.com/office/drawing/2014/main" val="20005"/>
                    </a:ext>
                  </a:extLst>
                </a:gridCol>
                <a:gridCol w="662310">
                  <a:extLst>
                    <a:ext uri="{9D8B030D-6E8A-4147-A177-3AD203B41FA5}">
                      <a16:colId xmlns:a16="http://schemas.microsoft.com/office/drawing/2014/main" val="20006"/>
                    </a:ext>
                  </a:extLst>
                </a:gridCol>
              </a:tblGrid>
              <a:tr h="292608">
                <a:tc>
                  <a:txBody>
                    <a:bodyPr/>
                    <a:lstStyle/>
                    <a:p>
                      <a:pPr algn="l">
                        <a:spcAft>
                          <a:spcPts val="0"/>
                        </a:spcAft>
                      </a:pPr>
                      <a:r>
                        <a:rPr sz="1050" b="1" i="0">
                          <a:solidFill>
                            <a:srgbClr val="FFFFFF"/>
                          </a:solidFill>
                          <a:latin typeface="Calibri"/>
                        </a:rPr>
                        <a:t>Region / split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1 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3 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6 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12 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24 h</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Gate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292608">
                <a:tc>
                  <a:txBody>
                    <a:bodyPr/>
                    <a:lstStyle/>
                    <a:p>
                      <a:pPr algn="l">
                        <a:spcAft>
                          <a:spcPts val="0"/>
                        </a:spcAft>
                      </a:pPr>
                      <a:r>
                        <a:rPr sz="1050" b="0" i="0">
                          <a:solidFill>
                            <a:srgbClr val="1F2937"/>
                          </a:solidFill>
                          <a:latin typeface="Calibri"/>
                        </a:rPr>
                        <a:t>North India · rolling</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+0.037</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+0.120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+0.151</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+0.169</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+0.108</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PASS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292608">
                <a:tc>
                  <a:txBody>
                    <a:bodyPr/>
                    <a:lstStyle/>
                    <a:p>
                      <a:pPr algn="l">
                        <a:spcAft>
                          <a:spcPts val="0"/>
                        </a:spcAft>
                      </a:pPr>
                      <a:r>
                        <a:rPr sz="1050" b="0" i="0">
                          <a:solidFill>
                            <a:srgbClr val="1F2937"/>
                          </a:solidFill>
                          <a:latin typeface="Calibri"/>
                        </a:rPr>
                        <a:t>North India · season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+0.035</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+0.140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+0.187</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+0.240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+0.050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endParaRP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292608">
                <a:tc>
                  <a:txBody>
                    <a:bodyPr/>
                    <a:lstStyle/>
                    <a:p>
                      <a:pPr algn="l">
                        <a:spcAft>
                          <a:spcPts val="0"/>
                        </a:spcAft>
                      </a:pPr>
                      <a:r>
                        <a:rPr sz="1050" b="0" i="0">
                          <a:solidFill>
                            <a:srgbClr val="1F2937"/>
                          </a:solidFill>
                          <a:latin typeface="Calibri"/>
                        </a:rPr>
                        <a:t>Singapore · rolling</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+0.021</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+0.101</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+0.130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+0.143</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+0.122</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PASS</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r h="292608">
                <a:tc>
                  <a:txBody>
                    <a:bodyPr/>
                    <a:lstStyle/>
                    <a:p>
                      <a:pPr algn="l">
                        <a:spcAft>
                          <a:spcPts val="0"/>
                        </a:spcAft>
                      </a:pPr>
                      <a:r>
                        <a:rPr sz="1050" b="0" i="0">
                          <a:solidFill>
                            <a:srgbClr val="1F2937"/>
                          </a:solidFill>
                          <a:latin typeface="Calibri"/>
                        </a:rPr>
                        <a:t>Singapore · season</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+0.058</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+0.147</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+0.196</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+0.203</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+0.177</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endParaRP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5852159" y="3246120"/>
            <a:ext cx="5836615" cy="457200"/>
          </a:xfrm>
          <a:prstGeom prst="rect">
            <a:avLst/>
          </a:prstGeom>
          <a:noFill/>
        </p:spPr>
        <p:txBody>
          <a:bodyPr wrap="square" lIns="0" tIns="0" rIns="0" bIns="0" anchor="t">
            <a:spAutoFit/>
          </a:bodyPr>
          <a:lstStyle/>
          <a:p>
            <a:pPr algn="ctr">
              <a:spcAft>
                <a:spcPts val="0"/>
              </a:spcAft>
            </a:pPr>
            <a:r>
              <a:rPr sz="1050" b="1" i="0">
                <a:solidFill>
                  <a:srgbClr val="1F2937"/>
                </a:solidFill>
                <a:latin typeface="Calibri"/>
              </a:rPr>
              <a:t>TABLE VII</a:t>
            </a:r>
          </a:p>
          <a:p>
            <a:pPr algn="ctr">
              <a:spcAft>
                <a:spcPts val="0"/>
              </a:spcAft>
            </a:pPr>
            <a:r>
              <a:rPr sz="900" b="0" i="0">
                <a:solidFill>
                  <a:srgbClr val="1F2937"/>
                </a:solidFill>
                <a:latin typeface="Calibri"/>
              </a:rPr>
              <a:t>NORTH INDIA 24 H HAZARD, ROLLING-ORIGIN MEAN OF 5 FOLDS</a:t>
            </a:r>
          </a:p>
        </p:txBody>
      </p:sp>
      <p:graphicFrame>
        <p:nvGraphicFramePr>
          <p:cNvPr id="13" name="Table 12"/>
          <p:cNvGraphicFramePr>
            <a:graphicFrameLocks noGrp="1"/>
          </p:cNvGraphicFramePr>
          <p:nvPr/>
        </p:nvGraphicFramePr>
        <p:xfrm>
          <a:off x="5852159" y="3703320"/>
          <a:ext cx="5836612" cy="1170432"/>
        </p:xfrm>
        <a:graphic>
          <a:graphicData uri="http://schemas.openxmlformats.org/drawingml/2006/table">
            <a:tbl>
              <a:tblPr firstRow="1" bandRow="1">
                <a:tableStyleId>{5940675A-B579-460E-94D1-54222C63F5DA}</a:tableStyleId>
              </a:tblPr>
              <a:tblGrid>
                <a:gridCol w="2526296">
                  <a:extLst>
                    <a:ext uri="{9D8B030D-6E8A-4147-A177-3AD203B41FA5}">
                      <a16:colId xmlns:a16="http://schemas.microsoft.com/office/drawing/2014/main" val="20000"/>
                    </a:ext>
                  </a:extLst>
                </a:gridCol>
                <a:gridCol w="871136">
                  <a:extLst>
                    <a:ext uri="{9D8B030D-6E8A-4147-A177-3AD203B41FA5}">
                      <a16:colId xmlns:a16="http://schemas.microsoft.com/office/drawing/2014/main" val="20001"/>
                    </a:ext>
                  </a:extLst>
                </a:gridCol>
                <a:gridCol w="871136">
                  <a:extLst>
                    <a:ext uri="{9D8B030D-6E8A-4147-A177-3AD203B41FA5}">
                      <a16:colId xmlns:a16="http://schemas.microsoft.com/office/drawing/2014/main" val="20002"/>
                    </a:ext>
                  </a:extLst>
                </a:gridCol>
                <a:gridCol w="784022">
                  <a:extLst>
                    <a:ext uri="{9D8B030D-6E8A-4147-A177-3AD203B41FA5}">
                      <a16:colId xmlns:a16="http://schemas.microsoft.com/office/drawing/2014/main" val="20003"/>
                    </a:ext>
                  </a:extLst>
                </a:gridCol>
                <a:gridCol w="784022">
                  <a:extLst>
                    <a:ext uri="{9D8B030D-6E8A-4147-A177-3AD203B41FA5}">
                      <a16:colId xmlns:a16="http://schemas.microsoft.com/office/drawing/2014/main" val="20004"/>
                    </a:ext>
                  </a:extLst>
                </a:gridCol>
              </a:tblGrid>
              <a:tr h="292608">
                <a:tc>
                  <a:txBody>
                    <a:bodyPr/>
                    <a:lstStyle/>
                    <a:p>
                      <a:pPr algn="l">
                        <a:spcAft>
                          <a:spcPts val="0"/>
                        </a:spcAft>
                      </a:pPr>
                      <a:r>
                        <a:rPr sz="1050" b="1" i="0">
                          <a:solidFill>
                            <a:srgbClr val="FFFFFF"/>
                          </a:solidFill>
                          <a:latin typeface="Calibri"/>
                        </a:rPr>
                        <a:t>Predictor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PR-AUC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ROC-AUC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Brier</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tc>
                  <a:txBody>
                    <a:bodyPr/>
                    <a:lstStyle/>
                    <a:p>
                      <a:pPr algn="ctr">
                        <a:spcAft>
                          <a:spcPts val="0"/>
                        </a:spcAft>
                      </a:pPr>
                      <a:r>
                        <a:rPr sz="1050" b="1" i="0">
                          <a:solidFill>
                            <a:srgbClr val="FFFFFF"/>
                          </a:solidFill>
                          <a:latin typeface="Calibri"/>
                        </a:rPr>
                        <a:t>ECE</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002855"/>
                    </a:solidFill>
                  </a:tcPr>
                </a:tc>
                <a:extLst>
                  <a:ext uri="{0D108BD9-81ED-4DB2-BD59-A6C34878D82A}">
                    <a16:rowId xmlns:a16="http://schemas.microsoft.com/office/drawing/2014/main" val="10000"/>
                  </a:ext>
                </a:extLst>
              </a:tr>
              <a:tr h="292608">
                <a:tc>
                  <a:txBody>
                    <a:bodyPr/>
                    <a:lstStyle/>
                    <a:p>
                      <a:pPr algn="l">
                        <a:spcAft>
                          <a:spcPts val="0"/>
                        </a:spcAft>
                      </a:pPr>
                      <a:r>
                        <a:rPr sz="1050" b="0" i="0">
                          <a:solidFill>
                            <a:srgbClr val="1F2937"/>
                          </a:solidFill>
                          <a:latin typeface="Calibri"/>
                        </a:rPr>
                        <a:t>Model (HGB + isotonic)</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0.690</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0.943</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0.033</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0.028</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1"/>
                  </a:ext>
                </a:extLst>
              </a:tr>
              <a:tr h="292608">
                <a:tc>
                  <a:txBody>
                    <a:bodyPr/>
                    <a:lstStyle/>
                    <a:p>
                      <a:pPr algn="l">
                        <a:spcAft>
                          <a:spcPts val="0"/>
                        </a:spcAft>
                      </a:pPr>
                      <a:r>
                        <a:rPr sz="1050" b="0" i="0">
                          <a:solidFill>
                            <a:srgbClr val="1F2937"/>
                          </a:solidFill>
                          <a:latin typeface="Calibri"/>
                        </a:rPr>
                        <a:t>Baseline: current PM2.5</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0.515</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0.854</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tc>
                  <a:txBody>
                    <a:bodyPr/>
                    <a:lstStyle/>
                    <a:p>
                      <a:pPr algn="ctr">
                        <a:spcAft>
                          <a:spcPts val="0"/>
                        </a:spcAft>
                      </a:pPr>
                      <a:r>
                        <a:rPr sz="1050" b="0" i="0">
                          <a:solidFill>
                            <a:srgbClr val="1F2937"/>
                          </a:solidFill>
                          <a:latin typeface="Calibri"/>
                        </a:rPr>
                        <a: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2F5F8"/>
                    </a:solidFill>
                  </a:tcPr>
                </a:tc>
                <a:extLst>
                  <a:ext uri="{0D108BD9-81ED-4DB2-BD59-A6C34878D82A}">
                    <a16:rowId xmlns:a16="http://schemas.microsoft.com/office/drawing/2014/main" val="10002"/>
                  </a:ext>
                </a:extLst>
              </a:tr>
              <a:tr h="292608">
                <a:tc>
                  <a:txBody>
                    <a:bodyPr/>
                    <a:lstStyle/>
                    <a:p>
                      <a:pPr algn="l">
                        <a:spcAft>
                          <a:spcPts val="0"/>
                        </a:spcAft>
                      </a:pPr>
                      <a:r>
                        <a:rPr sz="1050" b="0" i="0">
                          <a:solidFill>
                            <a:srgbClr val="1F2937"/>
                          </a:solidFill>
                          <a:latin typeface="Calibri"/>
                        </a:rPr>
                        <a:t>Baseline: already above threshold</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0.575</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0.788</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tc>
                  <a:txBody>
                    <a:bodyPr/>
                    <a:lstStyle/>
                    <a:p>
                      <a:pPr algn="ctr">
                        <a:spcAft>
                          <a:spcPts val="0"/>
                        </a:spcAft>
                      </a:pPr>
                      <a:r>
                        <a:rPr sz="1050" b="0" i="0">
                          <a:solidFill>
                            <a:srgbClr val="1F2937"/>
                          </a:solidFill>
                          <a:latin typeface="Calibri"/>
                        </a:rPr>
                        <a:t>—</a:t>
                      </a:r>
                    </a:p>
                  </a:txBody>
                  <a:tcPr marL="54864" marR="54864" marT="22860" marB="22860" anchor="ctr">
                    <a:lnL w="6350">
                      <a:solidFill>
                        <a:srgbClr val="E5E7EB"/>
                      </a:solidFill>
                    </a:lnL>
                    <a:lnR w="6350">
                      <a:solidFill>
                        <a:srgbClr val="E5E7EB"/>
                      </a:solidFill>
                    </a:lnR>
                    <a:lnT w="6350">
                      <a:solidFill>
                        <a:srgbClr val="E5E7EB"/>
                      </a:solidFill>
                    </a:lnT>
                    <a:lnB w="6350">
                      <a:solidFill>
                        <a:srgbClr val="E5E7EB"/>
                      </a:solidFill>
                    </a:lnB>
                    <a:solidFill>
                      <a:srgbClr val="FFFFFF"/>
                    </a:solidFill>
                  </a:tcPr>
                </a:tc>
                <a:extLst>
                  <a:ext uri="{0D108BD9-81ED-4DB2-BD59-A6C34878D82A}">
                    <a16:rowId xmlns:a16="http://schemas.microsoft.com/office/drawing/2014/main" val="10003"/>
                  </a:ext>
                </a:extLst>
              </a:tr>
            </a:tbl>
          </a:graphicData>
        </a:graphic>
      </p:graphicFrame>
      <p:sp>
        <p:nvSpPr>
          <p:cNvPr id="14" name="Rounded Rectangle 13"/>
          <p:cNvSpPr/>
          <p:nvPr/>
        </p:nvSpPr>
        <p:spPr>
          <a:xfrm>
            <a:off x="502920" y="4956048"/>
            <a:ext cx="11185855" cy="914400"/>
          </a:xfrm>
          <a:prstGeom prst="roundRect">
            <a:avLst>
              <a:gd name="adj" fmla="val 12000"/>
            </a:avLst>
          </a:prstGeom>
          <a:solidFill>
            <a:srgbClr val="F2F5F8"/>
          </a:solidFill>
          <a:ln w="12700">
            <a:solidFill>
              <a:srgbClr val="E5E7EB"/>
            </a:solidFill>
          </a:ln>
          <a:effectLst/>
        </p:spPr>
        <p:txBody>
          <a:bodyPr wrap="square" tIns="91440" bIns="91440" rtlCol="0" anchor="t"/>
          <a:lstStyle/>
          <a:p>
            <a:pPr algn="l">
              <a:spcAft>
                <a:spcPts val="200"/>
              </a:spcAft>
            </a:pPr>
            <a:r>
              <a:rPr sz="1000" b="0" i="0">
                <a:solidFill>
                  <a:srgbClr val="1F2937"/>
                </a:solidFill>
                <a:latin typeface="Calibri"/>
              </a:rPr>
              <a:t>Skill = 1 − RMSE(model) / RMSE(persistence); positive means the model beats persistence. Values are read from config/models/&lt;region&gt;/&lt;run&gt;/gate.json.</a:t>
            </a:r>
          </a:p>
          <a:p>
            <a:pPr algn="l">
              <a:spcAft>
                <a:spcPts val="200"/>
              </a:spcAft>
            </a:pPr>
            <a:r>
              <a:rPr sz="1000" b="0" i="0">
                <a:solidFill>
                  <a:srgbClr val="1F2937"/>
                </a:solidFill>
                <a:latin typeface="Calibri"/>
              </a:rPr>
              <a:t>Data: North India forecast: 624,105 labelled rows, 2026-08-13 to 2026-10-11; Singapore forecast: 407,131 labelled rows, 2022-10-22 to 2025-01-07; North India hazard: 897,900 rows, 2025-10-01 to 2026-10-11.</a:t>
            </a:r>
          </a:p>
          <a:p>
            <a:pPr algn="l">
              <a:spcAft>
                <a:spcPts val="200"/>
              </a:spcAft>
            </a:pPr>
            <a:r>
              <a:rPr sz="1000" b="0" i="1">
                <a:solidFill>
                  <a:srgbClr val="6B7280"/>
                </a:solidFill>
                <a:latin typeface="Calibri"/>
              </a:rPr>
              <a:t>Caveats: station history was loaded from provider archives (live lags may differ); leave-region-out unavailable; NSW serves rules marked degraded; not station-certified accuracy.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VII. PROTOTYPE</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Product Walkthrough</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16 / 18</a:t>
            </a:r>
          </a:p>
        </p:txBody>
      </p:sp>
      <p:pic>
        <p:nvPicPr>
          <p:cNvPr id="8" name="Picture 7" descr="shot-command-centre.png"/>
          <p:cNvPicPr>
            <a:picLocks noChangeAspect="1"/>
          </p:cNvPicPr>
          <p:nvPr/>
        </p:nvPicPr>
        <p:blipFill>
          <a:blip r:embed="rId3"/>
          <a:srcRect t="3351" b="3351"/>
          <a:stretch>
            <a:fillRect/>
          </a:stretch>
        </p:blipFill>
        <p:spPr>
          <a:xfrm>
            <a:off x="502920" y="1188720"/>
            <a:ext cx="3606698" cy="2103120"/>
          </a:xfrm>
          <a:prstGeom prst="rect">
            <a:avLst/>
          </a:prstGeom>
          <a:ln w="9525">
            <a:solidFill>
              <a:srgbClr val="E5E7EB"/>
            </a:solidFill>
          </a:ln>
        </p:spPr>
      </p:pic>
      <p:sp>
        <p:nvSpPr>
          <p:cNvPr id="9" name="TextBox 8"/>
          <p:cNvSpPr txBox="1"/>
          <p:nvPr/>
        </p:nvSpPr>
        <p:spPr>
          <a:xfrm>
            <a:off x="502920" y="3319271"/>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(a) Command centre, North India</a:t>
            </a:r>
          </a:p>
        </p:txBody>
      </p:sp>
      <p:pic>
        <p:nvPicPr>
          <p:cNvPr id="10" name="Picture 9" descr="shot-singapore.png"/>
          <p:cNvPicPr>
            <a:picLocks noChangeAspect="1"/>
          </p:cNvPicPr>
          <p:nvPr/>
        </p:nvPicPr>
        <p:blipFill>
          <a:blip r:embed="rId4"/>
          <a:srcRect t="3351" b="3351"/>
          <a:stretch>
            <a:fillRect/>
          </a:stretch>
        </p:blipFill>
        <p:spPr>
          <a:xfrm>
            <a:off x="4292498" y="1188720"/>
            <a:ext cx="3606698" cy="2103120"/>
          </a:xfrm>
          <a:prstGeom prst="rect">
            <a:avLst/>
          </a:prstGeom>
          <a:ln w="9525">
            <a:solidFill>
              <a:srgbClr val="E5E7EB"/>
            </a:solidFill>
          </a:ln>
        </p:spPr>
      </p:pic>
      <p:sp>
        <p:nvSpPr>
          <p:cNvPr id="11" name="TextBox 10"/>
          <p:cNvSpPr txBox="1"/>
          <p:nvPr/>
        </p:nvSpPr>
        <p:spPr>
          <a:xfrm>
            <a:off x="4292498" y="3319271"/>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(b) Command centre, Singapore</a:t>
            </a:r>
          </a:p>
        </p:txBody>
      </p:sp>
      <p:pic>
        <p:nvPicPr>
          <p:cNvPr id="12" name="Picture 11" descr="shot-forecast.png"/>
          <p:cNvPicPr>
            <a:picLocks noChangeAspect="1"/>
          </p:cNvPicPr>
          <p:nvPr/>
        </p:nvPicPr>
        <p:blipFill>
          <a:blip r:embed="rId5"/>
          <a:srcRect t="3351" b="3351"/>
          <a:stretch>
            <a:fillRect/>
          </a:stretch>
        </p:blipFill>
        <p:spPr>
          <a:xfrm>
            <a:off x="8082076" y="1188720"/>
            <a:ext cx="3606698" cy="2103120"/>
          </a:xfrm>
          <a:prstGeom prst="rect">
            <a:avLst/>
          </a:prstGeom>
          <a:ln w="9525">
            <a:solidFill>
              <a:srgbClr val="E5E7EB"/>
            </a:solidFill>
          </a:ln>
        </p:spPr>
      </p:pic>
      <p:sp>
        <p:nvSpPr>
          <p:cNvPr id="13" name="TextBox 12"/>
          <p:cNvSpPr txBox="1"/>
          <p:nvPr/>
        </p:nvSpPr>
        <p:spPr>
          <a:xfrm>
            <a:off x="8082076" y="3319271"/>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(c) Forecast with served model version</a:t>
            </a:r>
          </a:p>
        </p:txBody>
      </p:sp>
      <p:pic>
        <p:nvPicPr>
          <p:cNvPr id="14" name="Picture 13" descr="shot-evidence.png"/>
          <p:cNvPicPr>
            <a:picLocks noChangeAspect="1"/>
          </p:cNvPicPr>
          <p:nvPr/>
        </p:nvPicPr>
        <p:blipFill>
          <a:blip r:embed="rId6"/>
          <a:srcRect t="3351" b="3351"/>
          <a:stretch>
            <a:fillRect/>
          </a:stretch>
        </p:blipFill>
        <p:spPr>
          <a:xfrm>
            <a:off x="502920" y="3602735"/>
            <a:ext cx="3606698" cy="2103120"/>
          </a:xfrm>
          <a:prstGeom prst="rect">
            <a:avLst/>
          </a:prstGeom>
          <a:ln w="9525">
            <a:solidFill>
              <a:srgbClr val="E5E7EB"/>
            </a:solidFill>
          </a:ln>
        </p:spPr>
      </p:pic>
      <p:sp>
        <p:nvSpPr>
          <p:cNvPr id="15" name="TextBox 14"/>
          <p:cNvSpPr txBox="1"/>
          <p:nvPr/>
        </p:nvSpPr>
        <p:spPr>
          <a:xfrm>
            <a:off x="502920" y="5733288"/>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(d) Evidence graph with provenance</a:t>
            </a:r>
          </a:p>
        </p:txBody>
      </p:sp>
      <p:pic>
        <p:nvPicPr>
          <p:cNvPr id="16" name="Picture 15" descr="shot-citizen.png"/>
          <p:cNvPicPr>
            <a:picLocks noChangeAspect="1"/>
          </p:cNvPicPr>
          <p:nvPr/>
        </p:nvPicPr>
        <p:blipFill>
          <a:blip r:embed="rId7"/>
          <a:srcRect t="3351" b="3351"/>
          <a:stretch>
            <a:fillRect/>
          </a:stretch>
        </p:blipFill>
        <p:spPr>
          <a:xfrm>
            <a:off x="4292498" y="3602735"/>
            <a:ext cx="3606698" cy="2103120"/>
          </a:xfrm>
          <a:prstGeom prst="rect">
            <a:avLst/>
          </a:prstGeom>
          <a:ln w="9525">
            <a:solidFill>
              <a:srgbClr val="E5E7EB"/>
            </a:solidFill>
          </a:ln>
        </p:spPr>
      </p:pic>
      <p:sp>
        <p:nvSpPr>
          <p:cNvPr id="17" name="TextBox 16"/>
          <p:cNvSpPr txBox="1"/>
          <p:nvPr/>
        </p:nvSpPr>
        <p:spPr>
          <a:xfrm>
            <a:off x="4292498" y="5733288"/>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(e) Citizen report corroboration</a:t>
            </a:r>
          </a:p>
        </p:txBody>
      </p:sp>
      <p:pic>
        <p:nvPicPr>
          <p:cNvPr id="18" name="Picture 17" descr="shot-models.png"/>
          <p:cNvPicPr>
            <a:picLocks noChangeAspect="1"/>
          </p:cNvPicPr>
          <p:nvPr/>
        </p:nvPicPr>
        <p:blipFill>
          <a:blip r:embed="rId8"/>
          <a:srcRect t="3351" b="3351"/>
          <a:stretch>
            <a:fillRect/>
          </a:stretch>
        </p:blipFill>
        <p:spPr>
          <a:xfrm>
            <a:off x="8082076" y="3602735"/>
            <a:ext cx="3606698" cy="2103120"/>
          </a:xfrm>
          <a:prstGeom prst="rect">
            <a:avLst/>
          </a:prstGeom>
          <a:ln w="9525">
            <a:solidFill>
              <a:srgbClr val="E5E7EB"/>
            </a:solidFill>
          </a:ln>
        </p:spPr>
      </p:pic>
      <p:sp>
        <p:nvSpPr>
          <p:cNvPr id="19" name="TextBox 18"/>
          <p:cNvSpPr txBox="1"/>
          <p:nvPr/>
        </p:nvSpPr>
        <p:spPr>
          <a:xfrm>
            <a:off x="8082076" y="5733288"/>
            <a:ext cx="3606698" cy="237744"/>
          </a:xfrm>
          <a:prstGeom prst="rect">
            <a:avLst/>
          </a:prstGeom>
          <a:noFill/>
        </p:spPr>
        <p:txBody>
          <a:bodyPr wrap="square" lIns="0" tIns="0" rIns="0" bIns="0" anchor="t">
            <a:spAutoFit/>
          </a:bodyPr>
          <a:lstStyle/>
          <a:p>
            <a:pPr algn="ctr">
              <a:spcAft>
                <a:spcPts val="400"/>
              </a:spcAft>
            </a:pPr>
            <a:r>
              <a:rPr sz="1050" b="0" i="0">
                <a:solidFill>
                  <a:srgbClr val="1F2937"/>
                </a:solidFill>
                <a:latin typeface="Calibri"/>
              </a:rPr>
              <a:t>(f) Served models and status</a:t>
            </a:r>
          </a:p>
        </p:txBody>
      </p:sp>
      <p:sp>
        <p:nvSpPr>
          <p:cNvPr id="20" name="TextBox 19"/>
          <p:cNvSpPr txBox="1"/>
          <p:nvPr/>
        </p:nvSpPr>
        <p:spPr>
          <a:xfrm>
            <a:off x="502920" y="6035039"/>
            <a:ext cx="11185855" cy="292608"/>
          </a:xfrm>
          <a:prstGeom prst="rect">
            <a:avLst/>
          </a:prstGeom>
          <a:noFill/>
        </p:spPr>
        <p:txBody>
          <a:bodyPr wrap="square" lIns="0" tIns="0" rIns="0" bIns="0" anchor="t">
            <a:spAutoFit/>
          </a:bodyPr>
          <a:lstStyle/>
          <a:p>
            <a:pPr algn="ctr">
              <a:spcAft>
                <a:spcPts val="400"/>
              </a:spcAft>
            </a:pPr>
            <a:r>
              <a:rPr sz="1000" b="1" i="0">
                <a:solidFill>
                  <a:srgbClr val="1F2937"/>
                </a:solidFill>
                <a:latin typeface="Calibri"/>
              </a:rPr>
              <a:t>Fig. 12.  </a:t>
            </a:r>
            <a:r>
              <a:rPr sz="1000" b="0" i="0">
                <a:solidFill>
                  <a:srgbClr val="1F2937"/>
                </a:solidFill>
                <a:latin typeface="Calibri"/>
              </a:rPr>
              <a:t>AeroPulse console in Demo mode (a recorded cycle of the real API; no backend needed).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VIII. DISCUSSION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Limitations and Future Work</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17 / 18</a:t>
            </a:r>
          </a:p>
        </p:txBody>
      </p:sp>
      <p:sp>
        <p:nvSpPr>
          <p:cNvPr id="8" name="Rectangle 7"/>
          <p:cNvSpPr/>
          <p:nvPr/>
        </p:nvSpPr>
        <p:spPr>
          <a:xfrm>
            <a:off x="502920" y="1280160"/>
            <a:ext cx="5455767" cy="457200"/>
          </a:xfrm>
          <a:prstGeom prst="rect">
            <a:avLst/>
          </a:prstGeom>
          <a:solidFill>
            <a:srgbClr val="BE123C"/>
          </a:solidFill>
          <a:ln>
            <a:noFill/>
          </a:ln>
          <a:effectLst/>
        </p:spPr>
        <p:txBody>
          <a:bodyPr wrap="square" lIns="54864" tIns="54864" rIns="54864" bIns="54864" rtlCol="0" anchor="ctr"/>
          <a:lstStyle/>
          <a:p>
            <a:pPr algn="ctr">
              <a:spcAft>
                <a:spcPts val="400"/>
              </a:spcAft>
            </a:pPr>
            <a:r>
              <a:rPr sz="1500" b="1" i="0">
                <a:solidFill>
                  <a:srgbClr val="FFFFFF"/>
                </a:solidFill>
                <a:latin typeface="Times New Roman"/>
              </a:rPr>
              <a:t>Current limitations</a:t>
            </a:r>
          </a:p>
        </p:txBody>
      </p:sp>
      <p:sp>
        <p:nvSpPr>
          <p:cNvPr id="9" name="Rectangle 8"/>
          <p:cNvSpPr/>
          <p:nvPr/>
        </p:nvSpPr>
        <p:spPr>
          <a:xfrm>
            <a:off x="502920" y="1737360"/>
            <a:ext cx="5455767" cy="4114800"/>
          </a:xfrm>
          <a:prstGeom prst="rect">
            <a:avLst/>
          </a:prstGeom>
          <a:solidFill>
            <a:srgbClr val="FFE4E6"/>
          </a:solidFill>
          <a:ln>
            <a:noFill/>
          </a:ln>
          <a:effectLst/>
        </p:spPr>
        <p:txBody>
          <a:bodyPr wrap="square" lIns="54864" tIns="54864" rIns="54864" bIns="54864" rtlCol="0" anchor="ctr"/>
          <a:lstStyle/>
          <a:p>
            <a:pPr algn="ctr"/>
            <a:endParaRPr/>
          </a:p>
        </p:txBody>
      </p:sp>
      <p:sp>
        <p:nvSpPr>
          <p:cNvPr id="10" name="TextBox 9"/>
          <p:cNvSpPr txBox="1"/>
          <p:nvPr/>
        </p:nvSpPr>
        <p:spPr>
          <a:xfrm>
            <a:off x="640080" y="1847088"/>
            <a:ext cx="5181447" cy="3931920"/>
          </a:xfrm>
          <a:prstGeom prst="rect">
            <a:avLst/>
          </a:prstGeom>
          <a:noFill/>
        </p:spPr>
        <p:txBody>
          <a:bodyPr wrap="square" lIns="36576" tIns="36576" rIns="36576" bIns="36576" anchor="t">
            <a:spAutoFit/>
          </a:bodyPr>
          <a:lstStyle/>
          <a:p>
            <a:pPr marL="195580" indent="-195580" algn="l">
              <a:spcAft>
                <a:spcPts val="1000"/>
              </a:spcAft>
              <a:buClr>
                <a:srgbClr val="BE123C"/>
              </a:buClr>
              <a:buFont typeface="Arial"/>
              <a:buChar char="•"/>
            </a:pPr>
            <a:r>
              <a:rPr sz="1400" b="0" i="0">
                <a:solidFill>
                  <a:srgbClr val="1F2937"/>
                </a:solidFill>
                <a:latin typeface="Calibri"/>
              </a:rPr>
              <a:t>NSW serves rules marked degraded — no gated model yet</a:t>
            </a:r>
          </a:p>
          <a:p>
            <a:pPr marL="195580" indent="-195580" algn="l">
              <a:spcAft>
                <a:spcPts val="1000"/>
              </a:spcAft>
              <a:buClr>
                <a:srgbClr val="BE123C"/>
              </a:buClr>
              <a:buFont typeface="Arial"/>
              <a:buChar char="•"/>
            </a:pPr>
            <a:r>
              <a:rPr sz="1400" b="0" i="0">
                <a:solidFill>
                  <a:srgbClr val="1F2937"/>
                </a:solidFill>
                <a:latin typeface="Calibri"/>
              </a:rPr>
              <a:t>CPCB connector is replay-only; live CPCB access is pending</a:t>
            </a:r>
          </a:p>
          <a:p>
            <a:pPr marL="195580" indent="-195580" algn="l">
              <a:spcAft>
                <a:spcPts val="1000"/>
              </a:spcAft>
              <a:buClr>
                <a:srgbClr val="BE123C"/>
              </a:buClr>
              <a:buFont typeface="Arial"/>
              <a:buChar char="•"/>
            </a:pPr>
            <a:r>
              <a:rPr sz="1400" b="0" i="0">
                <a:solidFill>
                  <a:srgbClr val="1F2937"/>
                </a:solidFill>
                <a:latin typeface="Calibri"/>
              </a:rPr>
              <a:t>Forecast P10/P90 quantiles are not yet calibrated (only the North India hazard is)</a:t>
            </a:r>
          </a:p>
          <a:p>
            <a:pPr marL="195580" indent="-195580" algn="l">
              <a:spcAft>
                <a:spcPts val="1000"/>
              </a:spcAft>
              <a:buClr>
                <a:srgbClr val="BE123C"/>
              </a:buClr>
              <a:buFont typeface="Arial"/>
              <a:buChar char="•"/>
            </a:pPr>
            <a:r>
              <a:rPr sz="1400" b="0" i="0">
                <a:solidFill>
                  <a:srgbClr val="1F2937"/>
                </a:solidFill>
                <a:latin typeface="Calibri"/>
              </a:rPr>
              <a:t>Source likelihood is a heuristic ranking until a gold set exists</a:t>
            </a:r>
          </a:p>
          <a:p>
            <a:pPr marL="195580" indent="-195580" algn="l">
              <a:spcAft>
                <a:spcPts val="1000"/>
              </a:spcAft>
              <a:buClr>
                <a:srgbClr val="BE123C"/>
              </a:buClr>
              <a:buFont typeface="Arial"/>
              <a:buChar char="•"/>
            </a:pPr>
            <a:r>
              <a:rPr sz="1400" b="0" i="0">
                <a:solidFill>
                  <a:srgbClr val="1F2937"/>
                </a:solidFill>
                <a:latin typeface="Calibri"/>
              </a:rPr>
              <a:t>Plume transport is labelled experimental</a:t>
            </a:r>
          </a:p>
          <a:p>
            <a:pPr marL="195580" indent="-195580" algn="l">
              <a:spcAft>
                <a:spcPts val="1000"/>
              </a:spcAft>
              <a:buClr>
                <a:srgbClr val="BE123C"/>
              </a:buClr>
              <a:buFont typeface="Arial"/>
              <a:buChar char="•"/>
            </a:pPr>
            <a:r>
              <a:rPr sz="1400" b="0" i="0">
                <a:solidFill>
                  <a:srgbClr val="1F2937"/>
                </a:solidFill>
                <a:latin typeface="Calibri"/>
              </a:rPr>
              <a:t>Leave-region-out evaluation unavailable with one ground-truth region per run</a:t>
            </a:r>
          </a:p>
          <a:p>
            <a:pPr marL="195580" indent="-195580" algn="l">
              <a:spcAft>
                <a:spcPts val="1000"/>
              </a:spcAft>
              <a:buClr>
                <a:srgbClr val="BE123C"/>
              </a:buClr>
              <a:buFont typeface="Arial"/>
              <a:buChar char="•"/>
            </a:pPr>
            <a:r>
              <a:rPr sz="1400" b="0" i="0">
                <a:solidFill>
                  <a:srgbClr val="1F2937"/>
                </a:solidFill>
                <a:latin typeface="Calibri"/>
              </a:rPr>
              <a:t>Alerts go to a pluggable sink — no push or SMS yet</a:t>
            </a:r>
          </a:p>
          <a:p>
            <a:pPr marL="195580" indent="-195580" algn="l">
              <a:spcAft>
                <a:spcPts val="1000"/>
              </a:spcAft>
              <a:buClr>
                <a:srgbClr val="BE123C"/>
              </a:buClr>
              <a:buFont typeface="Arial"/>
              <a:buChar char="•"/>
            </a:pPr>
            <a:r>
              <a:rPr sz="1400" b="0" i="0">
                <a:solidFill>
                  <a:srgbClr val="1F2937"/>
                </a:solidFill>
                <a:latin typeface="Calibri"/>
              </a:rPr>
              <a:t>Singapore and NSW AQI band tables await confirmation from the official source</a:t>
            </a:r>
          </a:p>
        </p:txBody>
      </p:sp>
      <p:sp>
        <p:nvSpPr>
          <p:cNvPr id="11" name="Rectangle 10"/>
          <p:cNvSpPr/>
          <p:nvPr/>
        </p:nvSpPr>
        <p:spPr>
          <a:xfrm>
            <a:off x="6233007" y="1280160"/>
            <a:ext cx="5455767" cy="457200"/>
          </a:xfrm>
          <a:prstGeom prst="rect">
            <a:avLst/>
          </a:prstGeom>
          <a:solidFill>
            <a:srgbClr val="047857"/>
          </a:solidFill>
          <a:ln>
            <a:noFill/>
          </a:ln>
          <a:effectLst/>
        </p:spPr>
        <p:txBody>
          <a:bodyPr wrap="square" lIns="54864" tIns="54864" rIns="54864" bIns="54864" rtlCol="0" anchor="ctr"/>
          <a:lstStyle/>
          <a:p>
            <a:pPr algn="ctr">
              <a:spcAft>
                <a:spcPts val="400"/>
              </a:spcAft>
            </a:pPr>
            <a:r>
              <a:rPr sz="1500" b="1" i="0">
                <a:solidFill>
                  <a:srgbClr val="FFFFFF"/>
                </a:solidFill>
                <a:latin typeface="Times New Roman"/>
              </a:rPr>
              <a:t>Future work</a:t>
            </a:r>
          </a:p>
        </p:txBody>
      </p:sp>
      <p:sp>
        <p:nvSpPr>
          <p:cNvPr id="12" name="Rectangle 11"/>
          <p:cNvSpPr/>
          <p:nvPr/>
        </p:nvSpPr>
        <p:spPr>
          <a:xfrm>
            <a:off x="6233007" y="1737360"/>
            <a:ext cx="5455767" cy="4114800"/>
          </a:xfrm>
          <a:prstGeom prst="rect">
            <a:avLst/>
          </a:prstGeom>
          <a:solidFill>
            <a:srgbClr val="D1FAE5"/>
          </a:solidFill>
          <a:ln>
            <a:noFill/>
          </a:ln>
          <a:effectLst/>
        </p:spPr>
        <p:txBody>
          <a:bodyPr wrap="square" lIns="54864" tIns="54864" rIns="54864" bIns="54864" rtlCol="0" anchor="ctr"/>
          <a:lstStyle/>
          <a:p>
            <a:pPr algn="ctr"/>
            <a:endParaRPr/>
          </a:p>
        </p:txBody>
      </p:sp>
      <p:sp>
        <p:nvSpPr>
          <p:cNvPr id="13" name="TextBox 12"/>
          <p:cNvSpPr txBox="1"/>
          <p:nvPr/>
        </p:nvSpPr>
        <p:spPr>
          <a:xfrm>
            <a:off x="6370167" y="1847088"/>
            <a:ext cx="5181447" cy="3931920"/>
          </a:xfrm>
          <a:prstGeom prst="rect">
            <a:avLst/>
          </a:prstGeom>
          <a:noFill/>
        </p:spPr>
        <p:txBody>
          <a:bodyPr wrap="square" lIns="36576" tIns="36576" rIns="36576" bIns="36576" anchor="t">
            <a:spAutoFit/>
          </a:bodyPr>
          <a:lstStyle/>
          <a:p>
            <a:pPr marL="195580" indent="-195580" algn="l">
              <a:spcAft>
                <a:spcPts val="1000"/>
              </a:spcAft>
              <a:buClr>
                <a:srgbClr val="047857"/>
              </a:buClr>
              <a:buFont typeface="Arial"/>
              <a:buChar char="•"/>
            </a:pPr>
            <a:r>
              <a:rPr sz="1400" b="0" i="0">
                <a:solidFill>
                  <a:srgbClr val="1F2937"/>
                </a:solidFill>
                <a:latin typeface="Calibri"/>
              </a:rPr>
              <a:t>Calibrated quantile forecasts and hazard calibration in every region</a:t>
            </a:r>
          </a:p>
          <a:p>
            <a:pPr marL="195580" indent="-195580" algn="l">
              <a:spcAft>
                <a:spcPts val="1000"/>
              </a:spcAft>
              <a:buClr>
                <a:srgbClr val="047857"/>
              </a:buClr>
              <a:buFont typeface="Arial"/>
              <a:buChar char="•"/>
            </a:pPr>
            <a:r>
              <a:rPr sz="1400" b="0" i="0">
                <a:solidFill>
                  <a:srgbClr val="1F2937"/>
                </a:solidFill>
                <a:latin typeface="Calibri"/>
              </a:rPr>
              <a:t>Gated models for NSW once station history is sufficient</a:t>
            </a:r>
          </a:p>
          <a:p>
            <a:pPr marL="195580" indent="-195580" algn="l">
              <a:spcAft>
                <a:spcPts val="1000"/>
              </a:spcAft>
              <a:buClr>
                <a:srgbClr val="047857"/>
              </a:buClr>
              <a:buFont typeface="Arial"/>
              <a:buChar char="•"/>
            </a:pPr>
            <a:r>
              <a:rPr sz="1400" b="0" i="0">
                <a:solidFill>
                  <a:srgbClr val="1F2937"/>
                </a:solidFill>
                <a:latin typeface="Calibri"/>
              </a:rPr>
              <a:t>Live CPCB connector to strengthen North India ground truth</a:t>
            </a:r>
          </a:p>
          <a:p>
            <a:pPr marL="195580" indent="-195580" algn="l">
              <a:spcAft>
                <a:spcPts val="1000"/>
              </a:spcAft>
              <a:buClr>
                <a:srgbClr val="047857"/>
              </a:buClr>
              <a:buFont typeface="Arial"/>
              <a:buChar char="•"/>
            </a:pPr>
            <a:r>
              <a:rPr sz="1400" b="0" i="0">
                <a:solidFill>
                  <a:srgbClr val="1F2937"/>
                </a:solidFill>
                <a:latin typeface="Calibri"/>
              </a:rPr>
              <a:t>A labelled gold set so source attribution can move beyond heuristics</a:t>
            </a:r>
          </a:p>
          <a:p>
            <a:pPr marL="195580" indent="-195580" algn="l">
              <a:spcAft>
                <a:spcPts val="1000"/>
              </a:spcAft>
              <a:buClr>
                <a:srgbClr val="047857"/>
              </a:buClr>
              <a:buFont typeface="Arial"/>
              <a:buChar char="•"/>
            </a:pPr>
            <a:r>
              <a:rPr sz="1400" b="0" i="0">
                <a:solidFill>
                  <a:srgbClr val="1F2937"/>
                </a:solidFill>
                <a:latin typeface="Calibri"/>
              </a:rPr>
              <a:t>Volcanic-ash hazard profile (e.g., Indonesia) as a new region pack</a:t>
            </a:r>
          </a:p>
          <a:p>
            <a:pPr marL="195580" indent="-195580" algn="l">
              <a:spcAft>
                <a:spcPts val="1000"/>
              </a:spcAft>
              <a:buClr>
                <a:srgbClr val="047857"/>
              </a:buClr>
              <a:buFont typeface="Arial"/>
              <a:buChar char="•"/>
            </a:pPr>
            <a:r>
              <a:rPr sz="1400" b="0" i="0">
                <a:solidFill>
                  <a:srgbClr val="1F2937"/>
                </a:solidFill>
                <a:latin typeface="Calibri"/>
              </a:rPr>
              <a:t>Licensed population data for exposure estimates</a:t>
            </a:r>
          </a:p>
          <a:p>
            <a:pPr marL="195580" indent="-195580" algn="l">
              <a:spcAft>
                <a:spcPts val="1000"/>
              </a:spcAft>
              <a:buClr>
                <a:srgbClr val="047857"/>
              </a:buClr>
              <a:buFont typeface="Arial"/>
              <a:buChar char="•"/>
            </a:pPr>
            <a:r>
              <a:rPr sz="1400" b="0" i="0">
                <a:solidFill>
                  <a:srgbClr val="1F2937"/>
                </a:solidFill>
                <a:latin typeface="Calibri"/>
              </a:rPr>
              <a:t>Push / SMS alert sinks and OIDC sign-in</a:t>
            </a:r>
          </a:p>
          <a:p>
            <a:pPr marL="195580" indent="-195580" algn="l">
              <a:spcAft>
                <a:spcPts val="1000"/>
              </a:spcAft>
              <a:buClr>
                <a:srgbClr val="047857"/>
              </a:buClr>
              <a:buFont typeface="Arial"/>
              <a:buChar char="•"/>
            </a:pPr>
            <a:r>
              <a:rPr sz="1400" b="0" i="0">
                <a:solidFill>
                  <a:srgbClr val="1F2937"/>
                </a:solidFill>
                <a:latin typeface="Calibri"/>
              </a:rPr>
              <a:t>Live Sentinel / MODIS / CAMS ingestion; trace export and load tests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8229600" cy="274320"/>
          </a:xfrm>
          <a:prstGeom prst="rect">
            <a:avLst/>
          </a:prstGeom>
          <a:noFill/>
        </p:spPr>
        <p:txBody>
          <a:bodyPr wrap="square" lIns="0" tIns="0" rIns="0" bIns="0" anchor="t">
            <a:spAutoFit/>
          </a:bodyPr>
          <a:lstStyle/>
          <a:p>
            <a:pPr algn="l">
              <a:spcAft>
                <a:spcPts val="400"/>
              </a:spcAft>
            </a:pPr>
            <a:r>
              <a:rPr sz="1050" b="1" i="0">
                <a:solidFill>
                  <a:srgbClr val="00629B"/>
                </a:solidFill>
                <a:latin typeface="Calibri"/>
              </a:rPr>
              <a:t>IX. CONCLUSION</a:t>
            </a:r>
          </a:p>
        </p:txBody>
      </p:sp>
      <p:sp>
        <p:nvSpPr>
          <p:cNvPr id="3" name="TextBox 2"/>
          <p:cNvSpPr txBox="1"/>
          <p:nvPr/>
        </p:nvSpPr>
        <p:spPr>
          <a:xfrm>
            <a:off x="502920" y="457200"/>
            <a:ext cx="11185855" cy="566928"/>
          </a:xfrm>
          <a:prstGeom prst="rect">
            <a:avLst/>
          </a:prstGeom>
          <a:noFill/>
        </p:spPr>
        <p:txBody>
          <a:bodyPr wrap="square" lIns="0" tIns="0" rIns="0" bIns="0" anchor="ctr">
            <a:spAutoFit/>
          </a:bodyPr>
          <a:lstStyle/>
          <a:p>
            <a:pPr algn="l">
              <a:spcAft>
                <a:spcPts val="400"/>
              </a:spcAft>
            </a:pPr>
            <a:r>
              <a:rPr sz="2700" b="1" i="0">
                <a:solidFill>
                  <a:srgbClr val="002855"/>
                </a:solidFill>
                <a:latin typeface="Times New Roman"/>
              </a:rPr>
              <a:t>Conclusion and References</a:t>
            </a:r>
          </a:p>
        </p:txBody>
      </p:sp>
      <p:sp>
        <p:nvSpPr>
          <p:cNvPr id="4" name="Rectangle 3"/>
          <p:cNvSpPr/>
          <p:nvPr/>
        </p:nvSpPr>
        <p:spPr>
          <a:xfrm>
            <a:off x="502920" y="1042415"/>
            <a:ext cx="11185855" cy="32004"/>
          </a:xfrm>
          <a:prstGeom prst="rect">
            <a:avLst/>
          </a:prstGeom>
          <a:solidFill>
            <a:srgbClr val="00629B"/>
          </a:solidFill>
          <a:ln>
            <a:noFill/>
          </a:ln>
          <a:effectLst/>
        </p:spPr>
        <p:txBody>
          <a:bodyPr rtlCol="0" anchor="ctr"/>
          <a:lstStyle/>
          <a:p>
            <a:pPr algn="ctr"/>
            <a:endParaRPr/>
          </a:p>
        </p:txBody>
      </p:sp>
      <p:cxnSp>
        <p:nvCxnSpPr>
          <p:cNvPr id="5" name="Connector 4"/>
          <p:cNvCxnSpPr/>
          <p:nvPr/>
        </p:nvCxnSpPr>
        <p:spPr>
          <a:xfrm>
            <a:off x="502920" y="6473952"/>
            <a:ext cx="11185855" cy="0"/>
          </a:xfrm>
          <a:prstGeom prst="line">
            <a:avLst/>
          </a:prstGeom>
          <a:ln w="9525">
            <a:solidFill>
              <a:srgbClr val="E5E7E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6519672"/>
            <a:ext cx="8229600" cy="274320"/>
          </a:xfrm>
          <a:prstGeom prst="rect">
            <a:avLst/>
          </a:prstGeom>
          <a:noFill/>
        </p:spPr>
        <p:txBody>
          <a:bodyPr wrap="square" lIns="0" tIns="0" rIns="0" bIns="0" anchor="t">
            <a:spAutoFit/>
          </a:bodyPr>
          <a:lstStyle/>
          <a:p>
            <a:pPr algn="l">
              <a:spcAft>
                <a:spcPts val="400"/>
              </a:spcAft>
            </a:pPr>
            <a:r>
              <a:rPr sz="900" b="0" i="0">
                <a:solidFill>
                  <a:srgbClr val="6B7280"/>
                </a:solidFill>
                <a:latin typeface="Calibri"/>
              </a:rPr>
              <a:t>AeroPulse — Source-to-People Air-Quality Intelligence  ·  Hackathon 2026</a:t>
            </a:r>
          </a:p>
        </p:txBody>
      </p:sp>
      <p:sp>
        <p:nvSpPr>
          <p:cNvPr id="7" name="TextBox 6"/>
          <p:cNvSpPr txBox="1"/>
          <p:nvPr/>
        </p:nvSpPr>
        <p:spPr>
          <a:xfrm>
            <a:off x="9859975" y="6519672"/>
            <a:ext cx="1828800" cy="274320"/>
          </a:xfrm>
          <a:prstGeom prst="rect">
            <a:avLst/>
          </a:prstGeom>
          <a:noFill/>
        </p:spPr>
        <p:txBody>
          <a:bodyPr wrap="square" lIns="0" tIns="0" rIns="0" bIns="0" anchor="t">
            <a:spAutoFit/>
          </a:bodyPr>
          <a:lstStyle/>
          <a:p>
            <a:pPr algn="r">
              <a:spcAft>
                <a:spcPts val="400"/>
              </a:spcAft>
            </a:pPr>
            <a:r>
              <a:rPr sz="900" b="0" i="0">
                <a:solidFill>
                  <a:srgbClr val="6B7280"/>
                </a:solidFill>
                <a:latin typeface="Calibri"/>
              </a:rPr>
              <a:t>18 / 18</a:t>
            </a:r>
          </a:p>
        </p:txBody>
      </p:sp>
      <p:sp>
        <p:nvSpPr>
          <p:cNvPr id="8" name="TextBox 7"/>
          <p:cNvSpPr txBox="1"/>
          <p:nvPr/>
        </p:nvSpPr>
        <p:spPr>
          <a:xfrm>
            <a:off x="502920" y="1280160"/>
            <a:ext cx="4572000" cy="3840480"/>
          </a:xfrm>
          <a:prstGeom prst="rect">
            <a:avLst/>
          </a:prstGeom>
          <a:noFill/>
        </p:spPr>
        <p:txBody>
          <a:bodyPr wrap="square" lIns="36576" tIns="36576" rIns="36576" bIns="36576" anchor="t">
            <a:spAutoFit/>
          </a:bodyPr>
          <a:lstStyle/>
          <a:p>
            <a:pPr marL="195580" indent="-195580" algn="l">
              <a:spcAft>
                <a:spcPts val="900"/>
              </a:spcAft>
              <a:buClr>
                <a:srgbClr val="00629B"/>
              </a:buClr>
              <a:buFont typeface="Arial"/>
              <a:buChar char="•"/>
            </a:pPr>
            <a:r>
              <a:rPr sz="1400" b="0" i="0">
                <a:solidFill>
                  <a:srgbClr val="1F2937"/>
                </a:solidFill>
                <a:latin typeface="Calibri"/>
              </a:rPr>
              <a:t>AeroPulse links </a:t>
            </a:r>
            <a:r>
              <a:rPr sz="1400" b="1" i="0">
                <a:solidFill>
                  <a:srgbClr val="1F2937"/>
                </a:solidFill>
                <a:latin typeface="Calibri"/>
              </a:rPr>
              <a:t>source → wind → people</a:t>
            </a:r>
            <a:r>
              <a:rPr sz="1400" b="0" i="0">
                <a:solidFill>
                  <a:srgbClr val="1F2937"/>
                </a:solidFill>
                <a:latin typeface="Calibri"/>
              </a:rPr>
              <a:t> on a ~1 km grid, every 15 minutes</a:t>
            </a:r>
          </a:p>
          <a:p>
            <a:pPr marL="195580" indent="-195580" algn="l">
              <a:spcAft>
                <a:spcPts val="900"/>
              </a:spcAft>
              <a:buClr>
                <a:srgbClr val="00629B"/>
              </a:buClr>
              <a:buFont typeface="Arial"/>
              <a:buChar char="•"/>
            </a:pPr>
            <a:r>
              <a:rPr sz="1400" b="0" i="0">
                <a:solidFill>
                  <a:srgbClr val="1F2937"/>
                </a:solidFill>
                <a:latin typeface="Calibri"/>
              </a:rPr>
              <a:t>Region packs make a new geography a configuration change</a:t>
            </a:r>
          </a:p>
          <a:p>
            <a:pPr marL="195580" indent="-195580" algn="l">
              <a:spcAft>
                <a:spcPts val="900"/>
              </a:spcAft>
              <a:buClr>
                <a:srgbClr val="00629B"/>
              </a:buClr>
              <a:buFont typeface="Arial"/>
              <a:buChar char="•"/>
            </a:pPr>
            <a:r>
              <a:rPr sz="1400" b="0" i="0">
                <a:solidFill>
                  <a:srgbClr val="1F2937"/>
                </a:solidFill>
                <a:latin typeface="Calibri"/>
              </a:rPr>
              <a:t>Per-region forecasts are served only after beating persistence; NSW honestly serves rules</a:t>
            </a:r>
          </a:p>
          <a:p>
            <a:pPr marL="195580" indent="-195580" algn="l">
              <a:spcAft>
                <a:spcPts val="900"/>
              </a:spcAft>
              <a:buClr>
                <a:srgbClr val="00629B"/>
              </a:buClr>
              <a:buFont typeface="Arial"/>
              <a:buChar char="•"/>
            </a:pPr>
            <a:r>
              <a:rPr sz="1400" b="0" i="0">
                <a:solidFill>
                  <a:srgbClr val="1F2937"/>
                </a:solidFill>
                <a:latin typeface="Calibri"/>
              </a:rPr>
              <a:t>Gemini is confined to grounded Q&amp;A and corroborated citizen photos</a:t>
            </a:r>
          </a:p>
          <a:p>
            <a:pPr marL="195580" indent="-195580" algn="l">
              <a:spcAft>
                <a:spcPts val="900"/>
              </a:spcAft>
              <a:buClr>
                <a:srgbClr val="00629B"/>
              </a:buClr>
              <a:buFont typeface="Arial"/>
              <a:buChar char="•"/>
            </a:pPr>
            <a:r>
              <a:rPr sz="1400" b="0" i="0">
                <a:solidFill>
                  <a:srgbClr val="1F2937"/>
                </a:solidFill>
                <a:latin typeface="Calibri"/>
              </a:rPr>
              <a:t>Serverless on Google Cloud: Cloud Run, Scheduler, BigQuery, Cloud Storage, Pub/Sub, Vertex AI</a:t>
            </a:r>
          </a:p>
        </p:txBody>
      </p:sp>
      <p:sp>
        <p:nvSpPr>
          <p:cNvPr id="9" name="Rounded Rectangle 8"/>
          <p:cNvSpPr/>
          <p:nvPr/>
        </p:nvSpPr>
        <p:spPr>
          <a:xfrm>
            <a:off x="502920" y="5074920"/>
            <a:ext cx="4572000" cy="777240"/>
          </a:xfrm>
          <a:prstGeom prst="roundRect">
            <a:avLst>
              <a:gd name="adj" fmla="val 14117"/>
            </a:avLst>
          </a:prstGeom>
          <a:solidFill>
            <a:srgbClr val="00629B"/>
          </a:solidFill>
          <a:ln>
            <a:noFill/>
          </a:ln>
          <a:effectLst/>
        </p:spPr>
        <p:txBody>
          <a:bodyPr wrap="square" lIns="54864" tIns="54864" rIns="54864" bIns="54864" rtlCol="0" anchor="ctr"/>
          <a:lstStyle/>
          <a:p>
            <a:pPr algn="ctr">
              <a:spcAft>
                <a:spcPts val="400"/>
              </a:spcAft>
            </a:pPr>
            <a:r>
              <a:rPr sz="1600" b="1" i="0">
                <a:solidFill>
                  <a:srgbClr val="FFFFFF"/>
                </a:solidFill>
                <a:latin typeface="Times New Roman"/>
              </a:rPr>
              <a:t>Next: live demo of the AeroPulse console</a:t>
            </a:r>
          </a:p>
        </p:txBody>
      </p:sp>
      <p:sp>
        <p:nvSpPr>
          <p:cNvPr id="10" name="TextBox 9"/>
          <p:cNvSpPr txBox="1"/>
          <p:nvPr/>
        </p:nvSpPr>
        <p:spPr>
          <a:xfrm>
            <a:off x="5394959" y="1188720"/>
            <a:ext cx="6293815" cy="320040"/>
          </a:xfrm>
          <a:prstGeom prst="rect">
            <a:avLst/>
          </a:prstGeom>
          <a:noFill/>
        </p:spPr>
        <p:txBody>
          <a:bodyPr wrap="square" lIns="36576" tIns="36576" rIns="36576" bIns="36576" anchor="t">
            <a:spAutoFit/>
          </a:bodyPr>
          <a:lstStyle/>
          <a:p>
            <a:pPr algn="l">
              <a:spcAft>
                <a:spcPts val="400"/>
              </a:spcAft>
            </a:pPr>
            <a:r>
              <a:rPr sz="1400" b="1" i="0">
                <a:solidFill>
                  <a:srgbClr val="002855"/>
                </a:solidFill>
                <a:latin typeface="Times New Roman"/>
              </a:rPr>
              <a:t>References</a:t>
            </a:r>
          </a:p>
        </p:txBody>
      </p:sp>
      <p:sp>
        <p:nvSpPr>
          <p:cNvPr id="11" name="TextBox 10"/>
          <p:cNvSpPr txBox="1"/>
          <p:nvPr/>
        </p:nvSpPr>
        <p:spPr>
          <a:xfrm>
            <a:off x="5394959" y="1508760"/>
            <a:ext cx="6293815" cy="4389120"/>
          </a:xfrm>
          <a:prstGeom prst="rect">
            <a:avLst/>
          </a:prstGeom>
          <a:noFill/>
        </p:spPr>
        <p:txBody>
          <a:bodyPr wrap="square" lIns="36576" tIns="36576" rIns="36576" bIns="36576" anchor="t">
            <a:spAutoFit/>
          </a:bodyPr>
          <a:lstStyle/>
          <a:p>
            <a:pPr algn="l">
              <a:spcAft>
                <a:spcPts val="250"/>
              </a:spcAft>
            </a:pPr>
            <a:r>
              <a:rPr sz="900" b="0" i="0">
                <a:solidFill>
                  <a:srgbClr val="1F2937"/>
                </a:solidFill>
                <a:latin typeface="Times New Roman"/>
              </a:rPr>
              <a:t>[1]  World Health Organization, “WHO global air quality guidelines: particulate matter (PM2.5 and PM10), ozone, nitrogen dioxide, sulfur dioxide and carbon monoxide,” WHO, Geneva, 2021.</a:t>
            </a:r>
          </a:p>
          <a:p>
            <a:pPr algn="l">
              <a:spcAft>
                <a:spcPts val="250"/>
              </a:spcAft>
            </a:pPr>
            <a:r>
              <a:rPr sz="900" b="0" i="0">
                <a:solidFill>
                  <a:srgbClr val="1F2937"/>
                </a:solidFill>
                <a:latin typeface="Times New Roman"/>
              </a:rPr>
              <a:t>[2]  OpenAQ, “OpenAQ API documentation.” [Online]. Available: https://docs.openaq.org</a:t>
            </a:r>
          </a:p>
          <a:p>
            <a:pPr algn="l">
              <a:spcAft>
                <a:spcPts val="250"/>
              </a:spcAft>
            </a:pPr>
            <a:r>
              <a:rPr sz="900" b="0" i="0">
                <a:solidFill>
                  <a:srgbClr val="1F2937"/>
                </a:solidFill>
                <a:latin typeface="Times New Roman"/>
              </a:rPr>
              <a:t>[3]  NASA LANCE, “FIRMS: Fire Information for Resource Management System (VIIRS active fires).” [Online]. Available: https://firms.modaps.eosdis.nasa.gov</a:t>
            </a:r>
          </a:p>
          <a:p>
            <a:pPr algn="l">
              <a:spcAft>
                <a:spcPts val="250"/>
              </a:spcAft>
            </a:pPr>
            <a:r>
              <a:rPr sz="900" b="0" i="0">
                <a:solidFill>
                  <a:srgbClr val="1F2937"/>
                </a:solidFill>
                <a:latin typeface="Times New Roman"/>
              </a:rPr>
              <a:t>[4]  Open-Meteo, “Weather forecast and air quality APIs.” [Online]. Available: https://open-meteo.com</a:t>
            </a:r>
          </a:p>
          <a:p>
            <a:pPr algn="l">
              <a:spcAft>
                <a:spcPts val="250"/>
              </a:spcAft>
            </a:pPr>
            <a:r>
              <a:rPr sz="900" b="0" i="0">
                <a:solidFill>
                  <a:srgbClr val="1F2937"/>
                </a:solidFill>
                <a:latin typeface="Times New Roman"/>
              </a:rPr>
              <a:t>[5]  Copernicus Atmosphere Monitoring Service, “Global atmospheric composition forecasts,” ECMWF. [Online]. Available: https://atmosphere.copernicus.eu</a:t>
            </a:r>
          </a:p>
          <a:p>
            <a:pPr algn="l">
              <a:spcAft>
                <a:spcPts val="250"/>
              </a:spcAft>
            </a:pPr>
            <a:r>
              <a:rPr sz="900" b="0" i="0">
                <a:solidFill>
                  <a:srgbClr val="1F2937"/>
                </a:solidFill>
                <a:latin typeface="Times New Roman"/>
              </a:rPr>
              <a:t>[6]  N. Gorelick, M. Hancher, M. Dixon, S. Ilyushchenko, D. Thau, and R. Moore, “Google Earth Engine: Planetary-scale geospatial analysis for everyone,” Remote Sens. Environ., vol. 202, pp. 18–27, 2017.</a:t>
            </a:r>
          </a:p>
          <a:p>
            <a:pPr algn="l">
              <a:spcAft>
                <a:spcPts val="250"/>
              </a:spcAft>
            </a:pPr>
            <a:r>
              <a:rPr sz="900" b="0" i="0">
                <a:solidFill>
                  <a:srgbClr val="1F2937"/>
                </a:solidFill>
                <a:latin typeface="Times New Roman"/>
              </a:rPr>
              <a:t>[7]  European Space Agency, “Sentinel-5P TROPOMI UV aerosol index, NRTI L3 (COPERNICUS/S5P/NRTI/L3_AER_AI),” Earth Engine Data Catalog. [Online].</a:t>
            </a:r>
          </a:p>
          <a:p>
            <a:pPr algn="l">
              <a:spcAft>
                <a:spcPts val="250"/>
              </a:spcAft>
            </a:pPr>
            <a:r>
              <a:rPr sz="900" b="0" i="0">
                <a:solidFill>
                  <a:srgbClr val="1F2937"/>
                </a:solidFill>
                <a:latin typeface="Times New Roman"/>
              </a:rPr>
              <a:t>[8]  Central Pollution Control Board, “National Air Quality Index,” Govt. of India, New Delhi, 2014.</a:t>
            </a:r>
          </a:p>
          <a:p>
            <a:pPr algn="l">
              <a:spcAft>
                <a:spcPts val="250"/>
              </a:spcAft>
            </a:pPr>
            <a:r>
              <a:rPr sz="900" b="0" i="0">
                <a:solidFill>
                  <a:srgbClr val="1F2937"/>
                </a:solidFill>
                <a:latin typeface="Times New Roman"/>
              </a:rPr>
              <a:t>[9]  National Environment Agency, Singapore, “PM2.5 readings,” data.gov.sg. [Online]. Available: https://data.gov.sg</a:t>
            </a:r>
          </a:p>
          <a:p>
            <a:pPr algn="l">
              <a:spcAft>
                <a:spcPts val="250"/>
              </a:spcAft>
            </a:pPr>
            <a:r>
              <a:rPr sz="900" b="0" i="0">
                <a:solidFill>
                  <a:srgbClr val="1F2937"/>
                </a:solidFill>
                <a:latin typeface="Times New Roman"/>
              </a:rPr>
              <a:t>[10]  NSW Government, “Air quality categories.” [Online]. Available: https://www.airquality.nsw.gov.au</a:t>
            </a:r>
          </a:p>
          <a:p>
            <a:pPr algn="l">
              <a:spcAft>
                <a:spcPts val="250"/>
              </a:spcAft>
            </a:pPr>
            <a:r>
              <a:rPr sz="900" b="0" i="0">
                <a:solidFill>
                  <a:srgbClr val="1F2937"/>
                </a:solidFill>
                <a:latin typeface="Times New Roman"/>
              </a:rPr>
              <a:t>[11]  Uber Technologies, “H3: A hexagonal hierarchical geospatial indexing system.” [Online]. Available: https://h3geo.org</a:t>
            </a:r>
          </a:p>
          <a:p>
            <a:pPr algn="l">
              <a:spcAft>
                <a:spcPts val="250"/>
              </a:spcAft>
            </a:pPr>
            <a:r>
              <a:rPr sz="900" b="0" i="0">
                <a:solidFill>
                  <a:srgbClr val="1F2937"/>
                </a:solidFill>
                <a:latin typeface="Times New Roman"/>
              </a:rPr>
              <a:t>[12]  F. Pedregosa et al., “Scikit-learn: Machine learning in Python,” J. Mach. Learn. Res., vol. 12, pp. 2825–2830, 2011.</a:t>
            </a:r>
          </a:p>
          <a:p>
            <a:pPr algn="l">
              <a:spcAft>
                <a:spcPts val="250"/>
              </a:spcAft>
            </a:pPr>
            <a:r>
              <a:rPr sz="900" b="0" i="0">
                <a:solidFill>
                  <a:srgbClr val="1F2937"/>
                </a:solidFill>
                <a:latin typeface="Times New Roman"/>
              </a:rPr>
              <a:t>[13]  Google Cloud, “Cloud Run” and “Generative AI on Vertex AI” documentation. [Online]. Available: https://cloud.google.com/run, https://cloud.google.com/vertex-ai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c8f49a32-fde3-48a5-9266-b5b0972a22dc}" enabled="1" method="Standard" siteId="{5ae1af62-9505-4097-a69a-c1553ef7840e}" contentBits="2" removed="0"/>
</clbl:labelList>
</file>

<file path=docProps/app.xml><?xml version="1.0" encoding="utf-8"?>
<Properties xmlns="http://schemas.openxmlformats.org/officeDocument/2006/extended-properties" xmlns:vt="http://schemas.openxmlformats.org/officeDocument/2006/docPropsVTypes">
  <TotalTime>2</TotalTime>
  <Words>5386</Words>
  <Application>Microsoft Macintosh PowerPoint</Application>
  <PresentationFormat>Widescreen</PresentationFormat>
  <Paragraphs>612</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Sunil Mohan (sunilmo)</cp:lastModifiedBy>
  <cp:revision>2</cp:revision>
  <dcterms:created xsi:type="dcterms:W3CDTF">2013-01-27T09:14:16Z</dcterms:created>
  <dcterms:modified xsi:type="dcterms:W3CDTF">2026-10-17T10:48:48Z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Cisco Confidential</vt:lpwstr>
  </property>
</Properties>
</file>